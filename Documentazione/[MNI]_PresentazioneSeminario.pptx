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58" r:id="rId4"/>
    <p:sldId id="260" r:id="rId5"/>
    <p:sldId id="261" r:id="rId6"/>
    <p:sldId id="263" r:id="rId7"/>
    <p:sldId id="257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9FC889FD-0FDC-4CFA-99F4-2095199144C1}">
          <p14:sldIdLst>
            <p14:sldId id="256"/>
            <p14:sldId id="259"/>
            <p14:sldId id="258"/>
            <p14:sldId id="260"/>
            <p14:sldId id="261"/>
            <p14:sldId id="263"/>
            <p14:sldId id="257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  <a:srgbClr val="FC993E"/>
    <a:srgbClr val="667C6F"/>
    <a:srgbClr val="7E4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166" autoAdjust="0"/>
  </p:normalViewPr>
  <p:slideViewPr>
    <p:cSldViewPr snapToGrid="0">
      <p:cViewPr>
        <p:scale>
          <a:sx n="33" d="100"/>
          <a:sy n="33" d="100"/>
        </p:scale>
        <p:origin x="2578" y="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39080-8F44-46B6-B27F-2DEAA9A68D0D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66C08-5A08-4C69-AAAE-C19DB0A9B5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60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164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F95A5-D189-2514-06BB-799A6879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FFBC5E-617D-C589-EBFC-7D0EE7BDF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C07BCC2-6C06-CE18-1367-E61566478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98FEF71-A529-8BBE-A7A0-3E581C7C0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13586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5E96-018E-0209-C1F8-13DD56D4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DC890B-982F-73A1-9F6F-8E1FB556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11BE03-78D3-C850-353B-E09C97135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Vantaggio: passare da una matrice enorme (utenti × item) a due matrici molto più piccole (utenti × fattori) e (item × fattori).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89A80D-3187-6AC7-8991-B7D803062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64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19394-FA10-5BC5-DF31-CAAD348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6C1F02C-C9F1-F700-6DE6-D3237172B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720ED-9AA7-CE07-0886-2316189C4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0F49D-8A09-743A-BFF7-C9488E8B6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442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122DD-89AE-5E11-1DA5-9770D399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7713D2-FFE9-EBB3-E391-13B4B552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C77E52-8400-3B03-C3C1-EE353A06B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173D47-3150-AF50-073A-153507852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367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0D96-7AEE-6AC6-D1EF-C8D08DDE9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D812B9D-5312-8E8F-C447-052BCCD44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4F7C88-2F82-AF83-59AB-680C13A78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9E62E9-249B-814F-89D7-8D84F9B0A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42917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7E558-F9A4-27C1-AC78-C867592B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BB809E-BD10-448F-FAA8-F3F4FBA99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5EF4CA4-57DD-D64B-7080-5076FE574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3BD58D-5BF9-FFAA-F112-CFFC3F6EC5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49493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B0B68-8FD7-3DB1-1040-10F58825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49294B-A24E-B761-F92A-8D82ECA50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FE689B9-2E90-A7A4-88AC-B1BC2E1D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Passiamo ora alle principali strategie sviluppate per parallelizzare lo SGD, cominciando con le tecniche di parallelizzazione su CPU.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06A09D-FC81-FAF7-6456-A01A8FF0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110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215E-3389-46E9-ABD7-3E89A61A5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D0F0E0-898F-B4AA-9166-DAFA6AD8D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9F6182-8249-DFB3-11C6-7A4DEFC8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A9FE85-4F56-9D0F-271E-47F52F7FE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55657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5EA6-0542-CB7C-7A57-D02CFDEA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34A0B0-8619-1B2D-B2AE-912BED5A7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75AB50-14E3-5A34-CDB3-980DF5554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secondo metodo è uno dei più noti per la parallelizzazione di SGD: </a:t>
            </a:r>
            <a:r>
              <a:rPr lang="it-IT" dirty="0" err="1"/>
              <a:t>Hogwild</a:t>
            </a:r>
            <a:r>
              <a:rPr lang="it-IT" dirty="0"/>
              <a:t>!. L’idea è radicale ma estremamente efficace in presenza di dataset molto sparsi. Se la matrice dei rating contiene pochi valori rispetto alle dimensioni totali, allora la probabilità che due </a:t>
            </a:r>
            <a:r>
              <a:rPr lang="it-IT" dirty="0" err="1"/>
              <a:t>thread</a:t>
            </a:r>
            <a:r>
              <a:rPr lang="it-IT" dirty="0"/>
              <a:t> accedano simultaneamente allo stesso parametro (una riga di U o una riga di V ) è estremamente bassa. In questo scenario è possibile eliminare completamente i meccanismi di sincronizzazione, permettendo ai </a:t>
            </a:r>
            <a:r>
              <a:rPr lang="it-IT" dirty="0" err="1"/>
              <a:t>thread</a:t>
            </a:r>
            <a:r>
              <a:rPr lang="it-IT" dirty="0"/>
              <a:t> di aggiornare i parametri in maniera asincrona e non protetta. L’assenza di lock riduce drasticamente l’overhead di sincronizzazione, consentendo un notevole aumento delle prestazioni rispetto a DSGD e ad altri metodi più strutturati.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Tuttavia, </a:t>
            </a:r>
            <a:r>
              <a:rPr lang="it-IT" dirty="0" err="1"/>
              <a:t>Hogwild</a:t>
            </a:r>
            <a:r>
              <a:rPr lang="it-IT" dirty="0"/>
              <a:t>! non è adatto a tutti i contesti: se il dataset non è abbastanza sparso, oppure se alcuni item o utenti sono molto popolari, il rischio di conflitti e </a:t>
            </a:r>
            <a:r>
              <a:rPr lang="it-IT" dirty="0" err="1"/>
              <a:t>overwriting</a:t>
            </a:r>
            <a:r>
              <a:rPr lang="it-IT" dirty="0"/>
              <a:t> aumenta, degradando la qualità della soluzione o rallentando la convergenza. Nonostante questi limiti, </a:t>
            </a:r>
            <a:r>
              <a:rPr lang="it-IT" dirty="0" err="1"/>
              <a:t>Hogwild</a:t>
            </a:r>
            <a:r>
              <a:rPr lang="it-IT" dirty="0"/>
              <a:t>! rimane una delle tecniche più utilizzate per implementazioni parallele su CPU multicore, grazie alla sua semplicità e alla sorprendente robustezza empirica in molti scenari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E3903C-456E-07B2-F331-C8879DFD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8507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423F7-39FF-1482-719E-43D0A687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50E97E-1FA8-FFD5-3C39-2E78202E9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165BDD-81F4-81F9-BD4A-B0E047B68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Un terzo approccio alla parallelizzazione di SGD è l’</a:t>
            </a:r>
            <a:r>
              <a:rPr lang="it-IT" dirty="0" err="1"/>
              <a:t>Asynchronous</a:t>
            </a:r>
            <a:r>
              <a:rPr lang="it-IT" dirty="0"/>
              <a:t> SGD (ASGD), molto usato nei sistemi distribuiti su larga scala. In questo modello, il training è suddiviso tra diversi nodi (o worker), ciascuno dei quali mantiene una copia locale dei parametri e calcola autonomamente gli aggiornamenti su una porzione dei dati. Gli aggiornamenti sono poi inviati, in modo asincrono, a un nodo centrale (</a:t>
            </a:r>
            <a:r>
              <a:rPr lang="it-IT" dirty="0" err="1"/>
              <a:t>parameter</a:t>
            </a:r>
            <a:r>
              <a:rPr lang="it-IT" dirty="0"/>
              <a:t> server ), che li aggrega e aggiorna il modello globale.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0589EB7-4FE2-1824-D1FB-63898260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672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C9EF-8B00-5FDA-AF2E-DC640A26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8BE50C-C17E-0FFD-877B-1FDF2DD13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69BCB8-52B6-4BE6-7720-F9A45C8DF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Proseguiamo con le tecniche di parallelizzazione su GPU.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AFAEBE-96B2-D1D6-836B-D538E44B0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37688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688C-4077-FDD3-EF0A-A78E11D8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54BCAC-791E-617C-781A-A11E8198B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894B6D4-F574-B191-7720-5B914EE3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In teoria la GPU è perfetta per questo problema: migliaia di </a:t>
            </a:r>
            <a:r>
              <a:rPr lang="it-IT" dirty="0" err="1"/>
              <a:t>thread</a:t>
            </a:r>
            <a:r>
              <a:rPr lang="it-IT" dirty="0"/>
              <a:t> che eseguono la stessa formula su dati indipendenti. Tuttavia, nella pratica, l’accesso irregolare alla memoria e il gran numero di conflitti generano difficoltà molto più profonde rispetto a ciò che accade su CPU. I problemi principali sono tre: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Accessi non coalescenti: i vettori </a:t>
            </a:r>
            <a:r>
              <a:rPr lang="it-IT" dirty="0" err="1"/>
              <a:t>uk</a:t>
            </a:r>
            <a:r>
              <a:rPr lang="it-IT" dirty="0"/>
              <a:t> e vi risiedono in memoria in posizioni lontane e imprevedibili. I </a:t>
            </a:r>
            <a:r>
              <a:rPr lang="it-IT" dirty="0" err="1"/>
              <a:t>thread</a:t>
            </a:r>
            <a:r>
              <a:rPr lang="it-IT" dirty="0"/>
              <a:t> di uno stesso </a:t>
            </a:r>
            <a:r>
              <a:rPr lang="it-IT" dirty="0" err="1"/>
              <a:t>warp</a:t>
            </a:r>
            <a:r>
              <a:rPr lang="it-IT" dirty="0"/>
              <a:t> accedono quindi a indirizzi distanti, costringendo la GPU a effettuare molteplici transazioni di memoria indipendenti e riducendo drasticamente l’efficienza del kernel;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Race </a:t>
            </a:r>
            <a:r>
              <a:rPr lang="it-IT" dirty="0" err="1"/>
              <a:t>condition</a:t>
            </a:r>
            <a:r>
              <a:rPr lang="it-IT" dirty="0"/>
              <a:t> massivi: centinaia di </a:t>
            </a:r>
            <a:r>
              <a:rPr lang="it-IT" dirty="0" err="1"/>
              <a:t>thread</a:t>
            </a:r>
            <a:r>
              <a:rPr lang="it-IT" dirty="0"/>
              <a:t> possono tentare di aggiornare simultaneamente lo stesso item (specialmente se l’item è molto popolare), causando conflitti di scrittura e comportamenti non deterministici;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Alto costo delle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: per garantire la correttezza degli aggiornamenti concorrenti, è necessario ricorrere a operazioni atomiche (come </a:t>
            </a:r>
            <a:r>
              <a:rPr lang="it-IT" dirty="0" err="1"/>
              <a:t>atomicAdd</a:t>
            </a:r>
            <a:r>
              <a:rPr lang="it-IT" dirty="0"/>
              <a:t>). Queste impongono che un solo </a:t>
            </a:r>
            <a:r>
              <a:rPr lang="it-IT" dirty="0" err="1"/>
              <a:t>thread</a:t>
            </a:r>
            <a:r>
              <a:rPr lang="it-IT" dirty="0"/>
              <a:t> alla volta possa modificare un dato indirizzo di memoria. Quando molti </a:t>
            </a:r>
            <a:r>
              <a:rPr lang="it-IT" dirty="0" err="1"/>
              <a:t>thread</a:t>
            </a:r>
            <a:r>
              <a:rPr lang="it-IT" dirty="0"/>
              <a:t> competono per lo stesso parametro, le </a:t>
            </a:r>
            <a:r>
              <a:rPr lang="it-IT" dirty="0" err="1"/>
              <a:t>atomic</a:t>
            </a:r>
            <a:r>
              <a:rPr lang="it-IT" dirty="0"/>
              <a:t> serializzano gli accessi: i </a:t>
            </a:r>
            <a:r>
              <a:rPr lang="it-IT" dirty="0" err="1"/>
              <a:t>thread</a:t>
            </a:r>
            <a:r>
              <a:rPr lang="it-IT" dirty="0"/>
              <a:t> vengono messi in attesa e l’intero </a:t>
            </a:r>
            <a:r>
              <a:rPr lang="it-IT" dirty="0" err="1"/>
              <a:t>warp</a:t>
            </a:r>
            <a:r>
              <a:rPr lang="it-IT" dirty="0"/>
              <a:t> rimane in stallo finché l’operazione non è completata, compromettendo gran parte del parallelismo disponibile.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51CCCA-06EF-3562-8D92-FBC48BCCC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3944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48E1-E28C-87BB-182A-DCF9EC5C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FF786B-F203-DAF7-221C-3AC15D23B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97BE5E-E14D-AE43-C299-23AEC27C6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85DD0E9-ED67-21D4-A7AE-9678A4A95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0807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F361-A86D-5F4E-1AF7-41F0798C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70AC84-7205-CFD0-B28E-2E28574A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3E5E33-0843-7301-B9BD-CD11E4295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837DA8-1D2E-B4D7-97D8-B453E3223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7120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E0AA-1AE4-B18D-2344-64067956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431B16-55F6-7FCE-CA2E-F6AF7E3E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0D9C9DD-21EC-CB00-CCDA-7685D71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E67AC2-EAB4-D507-7196-DE66A7731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32168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618-CDF4-2ABE-16D8-83E64219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1E960-948D-E6C8-CE0F-6D410121A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A7E6F1-892B-3E48-64BB-DB9D27540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5C74AF6-F849-FA73-0D73-035955D09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6173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0A57-5806-B7F9-B976-D6E0260B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F48A9-8FD7-4BEE-8E77-9EA9EB811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773B4E-7CD1-7739-BEA3-C47765F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Lo </a:t>
            </a:r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Descent</a:t>
            </a:r>
            <a:r>
              <a:rPr lang="it-IT" dirty="0"/>
              <a:t> rimane uno degli algoritmi più efficaci per la fattorizzazione delle matrici di rating, grazie alla sua semplicità, scalabilità teorica e capacità di gestire dataset di dimensioni enormi. Tuttavia, la sua parallelizzazione introduce sfide non banali: i conflitti sugli aggiornamenti, gli accessi irregolari alla memoria e i vincoli imposti dall’hardware rendono necessario ripensare profondamente l’implementazione rispetto alla versione sequenziale. Le tecniche parallele su CPU, come Distributed SGD e </a:t>
            </a:r>
            <a:r>
              <a:rPr lang="it-IT" dirty="0" err="1"/>
              <a:t>Hogwild</a:t>
            </a:r>
            <a:r>
              <a:rPr lang="it-IT" dirty="0"/>
              <a:t>!, mostrano che è possibile ottenere accelerazioni significative aggirando o ignorando i conflitti, purché siano soddisfatte determinate condizioni di indipendenza dei dati o di sufficiente </a:t>
            </a:r>
            <a:r>
              <a:rPr lang="it-IT" dirty="0" err="1"/>
              <a:t>sparsità</a:t>
            </a:r>
            <a:r>
              <a:rPr lang="it-IT" dirty="0"/>
              <a:t>. Nei sistemi distribuiti, l’adozione di modelli asincroni come l’ASGD conferma che la convergenza può essere mantenuta anche in presenza di ritardi e parametri non aggiornati in modo sincrono. Sul fronte GPU, il quadro è più complesso: nonostante il parallelismo massivo offerto dall’hardware, la natura irregolare dell’accesso ai fattori utente e prodotto rende difficile ottenere i guadagni teorici. I metodi più moderni adottano una combinazione di tecniche — partizionamento, caching, batch, ottimizzazioni della memoria — per mitigare i colli di bottiglia legati alla coalescenza degli accessi, ai conflitti e alle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In conclusione, la parallelizzazione dello SGD nei sistemi di raccomandazione non è un problema risolto in modo definitivo: ogni piattaforma (CPU multicore, cluster distribuiti, GPU) richiede strategie differenti, e nessuna soluzione risulta universalmente ottimale.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DC752B-8B1D-727D-F187-E540CF86A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368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957-9F35-C7FD-FDB8-BAAC8EB1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998C9E-541B-3440-5FB5-6BF43F89C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A1F088-3AF1-EC6F-BB89-F2265AC84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824EEE9-2BDA-BF4E-443B-275FAA12C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6653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577C-F6EB-0ED7-69C5-17CF93F8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E13A92-3B48-68B6-3473-82857EBA9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BE294-B9B8-5D16-6A03-8BD6402E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9B1040-3CA1-1512-C6B6-1B83DCB5E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826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4C572-9CD0-7CF3-95B4-FBDE634B9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DC6950-B1A3-B2AA-3B5A-9F93CAD6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F9E243-F12C-4E73-002C-46A57260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CB3B3-47EC-DD4A-DA1A-F49B9E47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CF13E22-B252-5EF6-0BD1-C278EAF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193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D4A34F-3D1E-2F38-0565-21AE9C1E5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AB1DC-A607-71E6-E978-AE730B473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DA4995-16D8-457F-67DD-3C59EE33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5E57E6F-BCD9-BB61-76FC-A42369A4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249D6A-966F-21EB-1257-FB72357B9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1686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A234BC-DCF8-DCBB-721B-0E49BD733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CD0B9A-06C4-B212-CDB6-6BC2413D6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0023F9-714E-A0FF-B455-DCB95EA9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0476D5-EA1D-5530-E660-764E3A111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BB3A69-94F5-0589-8CC4-4D9B2F0C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9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0F14DC-C606-9F4E-F3A4-0A4F920CA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E1816B-637B-287F-6A71-0F08A7E48E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7E7233-8D2B-7E07-598F-F647BF371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E6EDA-27B5-B5F4-FFFE-6A4913337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E6A5A6-062E-1DCE-081B-F5904E18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407356-4431-D486-B7DF-9C1373F5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112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ACED0C-7B02-65AC-6DCA-A7BB25BA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50CC26-610A-B94A-0F29-4824A4CB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132184-FB82-C457-41A0-B9AF003C16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771BD15-627E-F4A8-0313-24AD6406A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E58D40-E00D-7A39-7882-9A0B136F4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7CA0AB4-DDAE-8B54-CEAE-24607F30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5F82F49-4683-9CC4-E6C0-B3AABB0A6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C6664D6-FFDB-FDCD-6D1A-AD51ADFA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256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2C2643-D9E7-DFFB-26A8-461FD529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9C9D6B-B9CA-79D6-96AF-192F23B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D7F4169-9803-902B-E2E0-62087718E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76FD580-BE0B-14D8-E86A-7D6E5EA7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872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853F6DC-F4FC-1B60-248D-B0869A773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F54486E-3461-B79D-A2AF-FE1CFC3A2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43A48B-F4B3-619A-9964-20CE7443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79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A7764-7976-C108-731B-F6FC5360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4471B-CDA3-7294-64DD-B1CF5014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093DE9-54B8-9609-ED1B-9D832FD61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8B89EE-82B6-F61D-3F57-0558FF40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EB17AD-BD75-2373-36D3-F52CADDB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72E404B-AE55-4FDD-08D5-146414F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727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A8CE5-AFFC-A655-72F3-DDB8E226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47EE69C-5E36-4F04-0B7B-25C30B93FB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2DA8DF9-76E2-C3B2-870C-8508D74D5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86AA19-C20B-57B4-744C-95F36557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21E9B8-46B6-FC64-76B2-EB4A11FF1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80E540-D1A1-20EC-1A49-AE6788AB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551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6AAA05-B752-41EA-84BC-0581F8FF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057B3E1-6BBE-EEFE-DAB7-9C39084B6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D247C-A63A-DAF4-DF3B-EC1D4C95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FF4747-5894-4B1C-E016-DD894588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387186-0F31-E7AD-F129-91F655D7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8716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6A93CB3-E305-A2C7-A515-222854DAE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5A7901-9946-297A-0994-D7242E3AD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FDEEB-EA2E-BA6F-5941-CCFDFEF3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3F194C-3685-EDFD-16B0-32CAB124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736BA1-2A59-DA7B-03F2-D7BE0C74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093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10746C0-1CC1-EB8B-0F22-E353EF973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61C8E6-7B88-46D3-FECF-840AD1EE1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40EB66-115E-8E20-7395-5589313C2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9A42AA-A69A-737E-887B-225FB306C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D878D-A127-1606-9C6D-0CE8682C9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44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6C7DE72-04D8-1453-0130-14A141A02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2002BB-75B7-0AB8-857C-D3495BCEC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1000" y="1930400"/>
            <a:ext cx="6926400" cy="2298700"/>
          </a:xfrm>
        </p:spPr>
        <p:txBody>
          <a:bodyPr>
            <a:noAutofit/>
          </a:bodyPr>
          <a:lstStyle/>
          <a:p>
            <a:pPr algn="l"/>
            <a:r>
              <a:rPr lang="it-IT" sz="4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SGD Parallelo per la Fattorizzazione della Matrice dei Rating nei Sistemi di Raccomandazione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B039D4A-BCDA-3FBF-9CC6-875AC7822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1000" y="1495425"/>
            <a:ext cx="6821048" cy="4349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C955DB95-DED4-C588-8F9B-672055689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pic>
        <p:nvPicPr>
          <p:cNvPr id="6" name="Immagine 5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835B0F0C-337E-B302-D138-9440FCF8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461010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56C4583E-AE97-4A3E-1F75-536463A054D9}"/>
              </a:ext>
            </a:extLst>
          </p:cNvPr>
          <p:cNvCxnSpPr>
            <a:cxnSpLocks/>
          </p:cNvCxnSpPr>
          <p:nvPr/>
        </p:nvCxnSpPr>
        <p:spPr>
          <a:xfrm>
            <a:off x="5086352" y="1930399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60834F9B-4183-C80B-0C0D-2CFD0D427154}"/>
              </a:ext>
            </a:extLst>
          </p:cNvPr>
          <p:cNvSpPr txBox="1">
            <a:spLocks/>
          </p:cNvSpPr>
          <p:nvPr/>
        </p:nvSpPr>
        <p:spPr>
          <a:xfrm>
            <a:off x="4981000" y="4682122"/>
            <a:ext cx="4315400" cy="861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Autore:</a:t>
            </a:r>
            <a:b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</a:b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 (0522502038)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82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7B5C-7293-798A-0521-27A7834A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19786BA-3167-EFB4-138F-67A4056DDA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53BA12-FB62-16A2-E515-C2BCC33C8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CBFBE54F-6E3C-EDDB-1702-6BBA7D542886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</p:spTree>
    <p:extLst>
      <p:ext uri="{BB962C8B-B14F-4D97-AF65-F5344CB8AC3E}">
        <p14:creationId xmlns:p14="http://schemas.microsoft.com/office/powerpoint/2010/main" val="2561011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9F3E-0B48-A9B8-2916-ABFE0398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C439B01-8F98-A959-EE47-BE71554E36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7FF5A3-ECA2-A511-2709-E8C05A0B7159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2EF7D4-9006-E178-E036-4EDC956D2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7770272-ECC2-14ED-3119-2FECB823E874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BEA38A4-B975-9AE1-14E0-ECBCD2FCBE10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</p:spTree>
    <p:extLst>
      <p:ext uri="{BB962C8B-B14F-4D97-AF65-F5344CB8AC3E}">
        <p14:creationId xmlns:p14="http://schemas.microsoft.com/office/powerpoint/2010/main" val="2161012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2C9F8-B8C7-03B8-4E65-0ABF38AC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4B6AF44-A6A5-66D0-317F-253CD02C38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11372827-8FBD-0FE7-21CE-370A380877F0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CBF52-8B10-5E45-3047-80E6AEF2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F28B6492-41B9-58A1-EB9F-B975A9E2D393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4016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DD25FA1-3177-6DBD-EC7C-32D10423EA55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9536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E7D4D374-A34B-427E-C503-431F61C14171}"/>
              </a:ext>
            </a:extLst>
          </p:cNvPr>
          <p:cNvSpPr/>
          <p:nvPr/>
        </p:nvSpPr>
        <p:spPr>
          <a:xfrm>
            <a:off x="5847200" y="4260614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A242EAA-0D7E-D189-B81C-770063C8B824}"/>
              </a:ext>
            </a:extLst>
          </p:cNvPr>
          <p:cNvSpPr txBox="1">
            <a:spLocks/>
          </p:cNvSpPr>
          <p:nvPr/>
        </p:nvSpPr>
        <p:spPr>
          <a:xfrm>
            <a:off x="6131800" y="4448877"/>
            <a:ext cx="5775600" cy="1748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Predizione dei rating mancanti tramite i fattori latenti, che rappresentano caratteristiche non osservate direttamente.</a:t>
            </a:r>
          </a:p>
        </p:txBody>
      </p:sp>
    </p:spTree>
    <p:extLst>
      <p:ext uri="{BB962C8B-B14F-4D97-AF65-F5344CB8AC3E}">
        <p14:creationId xmlns:p14="http://schemas.microsoft.com/office/powerpoint/2010/main" val="1891706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6B9-008C-7178-B322-B96CC663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F50C260-BB33-6ED1-ABBF-BBD384B09D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98FD0F2-5BB0-2B0D-B7FF-6E629EDFBB2A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D63DEE-3205-DFBE-1D25-E6235834F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32F9ABA-FCF0-82B9-5368-E216C23A1CC0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</m:acc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5C42988F-BF24-F98C-3705-6ECFD30FBAB6}"/>
              </a:ext>
            </a:extLst>
          </p:cNvPr>
          <p:cNvSpPr/>
          <p:nvPr/>
        </p:nvSpPr>
        <p:spPr>
          <a:xfrm>
            <a:off x="6618514" y="1718599"/>
            <a:ext cx="5288887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578C9E2-3C1F-7E4A-6F5B-9C39DDF87826}"/>
              </a:ext>
            </a:extLst>
          </p:cNvPr>
          <p:cNvSpPr txBox="1">
            <a:spLocks/>
          </p:cNvSpPr>
          <p:nvPr/>
        </p:nvSpPr>
        <p:spPr>
          <a:xfrm>
            <a:off x="7059629" y="2181464"/>
            <a:ext cx="4493742" cy="9681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L’Errore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sul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rating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osservato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pari a:</a:t>
            </a:r>
            <a:endParaRPr lang="it-IT" sz="3200" dirty="0">
              <a:solidFill>
                <a:schemeClr val="bg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072B07B4-430B-0C71-8FA4-42F4AC540EB5}"/>
              </a:ext>
            </a:extLst>
          </p:cNvPr>
          <p:cNvSpPr txBox="1">
            <a:spLocks/>
          </p:cNvSpPr>
          <p:nvPr/>
        </p:nvSpPr>
        <p:spPr>
          <a:xfrm>
            <a:off x="7059629" y="857170"/>
            <a:ext cx="3968086" cy="8614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Errore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−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  <a:p>
                <a:pPr algn="l"/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valutazione dell’utente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sull’item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it-IT" sz="32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  <a:blipFill>
                <a:blip r:embed="rId7"/>
                <a:stretch>
                  <a:fillRect l="-3628" t="-8171" r="-493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4E15-0D8E-1E0C-01C0-DE830896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9B629BE-0975-92E2-01D1-DFA983931A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58F2C53E-A84A-7753-FC9F-07C753CAC051}"/>
              </a:ext>
            </a:extLst>
          </p:cNvPr>
          <p:cNvSpPr/>
          <p:nvPr/>
        </p:nvSpPr>
        <p:spPr>
          <a:xfrm>
            <a:off x="6888597" y="236928"/>
            <a:ext cx="11675173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406CE1-D499-A031-609E-D4F0B463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5885F12-73EC-0D23-5532-09B2E8F58759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magine 17" descr="Immagine che contiene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04FBD03F-EEBD-4821-2E59-BEE8B599CA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036" y="1175658"/>
            <a:ext cx="4757364" cy="3970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54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9F8F-CF8D-560E-894F-63B402CC3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12D45FD-3A74-3B3E-612E-75599B730F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8E80DBE0-C752-7A43-B8CC-5DBAF793BC9D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59C15B2-E705-B391-8CEB-50933C82F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F521E1C0-7D12-99F0-90BD-21DB08BDC691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ottotitolo 2">
            <a:extLst>
              <a:ext uri="{FF2B5EF4-FFF2-40B4-BE49-F238E27FC236}">
                <a16:creationId xmlns:a16="http://schemas.microsoft.com/office/drawing/2014/main" id="{1EEC2D27-D920-CB93-A59F-AE3B110C0CDD}"/>
              </a:ext>
            </a:extLst>
          </p:cNvPr>
          <p:cNvSpPr txBox="1">
            <a:spLocks/>
          </p:cNvSpPr>
          <p:nvPr/>
        </p:nvSpPr>
        <p:spPr>
          <a:xfrm>
            <a:off x="462912" y="5430701"/>
            <a:ext cx="11213830" cy="1427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Nei dataset reali gli item popolari compaiono migliaia di volte, causando potenziali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conflitti continui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 </a:t>
            </a:r>
            <a:endParaRPr lang="it-IT" sz="3200" i="1" dirty="0">
              <a:solidFill>
                <a:schemeClr val="tx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83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6CFE-D05A-6C85-EE48-EA1D6B0E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230460BF-50C8-8DE9-6748-47BBDFAFE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972F4FB1-B425-D2E7-B385-4499ACDC4909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01D9EC6-8DFA-93B9-7DFC-07F44F67824C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857CC4C6-A89E-F93D-9E8F-59F9D9E67340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ED4D9E-54C1-9FA4-D13A-9248DDC61B91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6" name="Immagine 5" descr="Immagine che contiene custodia, elettronica, unità&#10;&#10;Il contenuto generato dall'IA potrebbe non essere corretto.">
            <a:extLst>
              <a:ext uri="{FF2B5EF4-FFF2-40B4-BE49-F238E27FC236}">
                <a16:creationId xmlns:a16="http://schemas.microsoft.com/office/drawing/2014/main" id="{761E3EBA-8F1F-ADD6-9373-5C85B9EA7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188" y="1292639"/>
            <a:ext cx="6861810" cy="385976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48B8113-D879-5686-6362-5528A3151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CPU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480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2475-4ED4-8934-B478-475884C3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2A6E340-9A30-324E-1DFF-83F0D7B369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692ACCA-3B2E-EF59-0B26-A76D52BD34EF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E6C00C-B92F-4CD9-0EBF-4E9CC53C0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29EC1AD-0AD9-A404-1518-DC0D502237C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164DA20-3EAB-AACE-AD7B-0F13C26726E3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40B2992-75B7-5C4F-2B53-F4AA0E8D6B91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1DFA636-36B5-89F5-F82B-B65463A0F4EA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6890588B-0B40-1740-CB3A-823CC99A72FC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1" name="Immagine 10" descr="Immagine che contiene schermata, Carattere, Rettangolo&#10;&#10;Il contenuto generato dall'IA potrebbe non essere corretto.">
            <a:extLst>
              <a:ext uri="{FF2B5EF4-FFF2-40B4-BE49-F238E27FC236}">
                <a16:creationId xmlns:a16="http://schemas.microsoft.com/office/drawing/2014/main" id="{397FA153-B5BD-5C54-CD69-568CEBB051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576" y="4343970"/>
            <a:ext cx="9894847" cy="2011267"/>
          </a:xfrm>
          <a:prstGeom prst="rect">
            <a:avLst/>
          </a:prstGeom>
        </p:spPr>
      </p:pic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E2F21F1-9D03-C045-9457-72BD2CC907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584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75A4E-D3B5-1758-FE9A-2EE52888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9380631-C747-2485-6973-457B4257D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E42225B-52A3-C522-4F66-70DC30E02C92}"/>
              </a:ext>
            </a:extLst>
          </p:cNvPr>
          <p:cNvSpPr/>
          <p:nvPr/>
        </p:nvSpPr>
        <p:spPr>
          <a:xfrm>
            <a:off x="4750357" y="3085708"/>
            <a:ext cx="7157043" cy="466687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35AE39C9-FC11-EC2B-8C51-F31BCE6DBD7F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7F6E57-4A51-70EC-1AE7-206B9D783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96D4837-05A1-9D64-9E3F-F2A528EAC9FE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EE76A0A3-6B82-010A-227D-5ACF51FDBB50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sp>
        <p:nvSpPr>
          <p:cNvPr id="15" name="Sottotitolo 2">
            <a:extLst>
              <a:ext uri="{FF2B5EF4-FFF2-40B4-BE49-F238E27FC236}">
                <a16:creationId xmlns:a16="http://schemas.microsoft.com/office/drawing/2014/main" id="{683382C6-8DCE-3467-1DDE-33E0D11A9341}"/>
              </a:ext>
            </a:extLst>
          </p:cNvPr>
          <p:cNvSpPr txBox="1">
            <a:spLocks/>
          </p:cNvSpPr>
          <p:nvPr/>
        </p:nvSpPr>
        <p:spPr>
          <a:xfrm>
            <a:off x="7243618" y="3429000"/>
            <a:ext cx="4706607" cy="2362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il dataset non è abbastanza sparso, oppure se alcuni item o utenti sono molto popolari, il rischio di conflitti 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overwriting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aumenta.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0F997B6-D251-332E-FF01-4CF0608EA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21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5A8A9-FF48-0DEA-D687-68777A8D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E504B853-9340-EBB4-1548-E2B4C05DF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38F713A-9867-696F-BDD2-080613C6B17C}"/>
              </a:ext>
            </a:extLst>
          </p:cNvPr>
          <p:cNvSpPr/>
          <p:nvPr/>
        </p:nvSpPr>
        <p:spPr>
          <a:xfrm>
            <a:off x="284600" y="2604645"/>
            <a:ext cx="5811400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FB2126-1349-BAA5-94D4-CBD75C328E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B95FAED-02F3-74C6-5302-A8C39A46847B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E18CAC0C-7599-D5E4-4151-D29D387B2BDD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F49417-83BE-6717-1CD8-6BE70E720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9CE78548-AC21-27CF-D994-963FCA574763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CFEE11C-4870-CEAB-92DF-FD33089C1971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</a:t>
            </a:r>
          </a:p>
        </p:txBody>
      </p:sp>
      <p:sp>
        <p:nvSpPr>
          <p:cNvPr id="24" name="Sottotitolo 2">
            <a:extLst>
              <a:ext uri="{FF2B5EF4-FFF2-40B4-BE49-F238E27FC236}">
                <a16:creationId xmlns:a16="http://schemas.microsoft.com/office/drawing/2014/main" id="{51C7A630-23AD-7057-E1A6-C2CDCAC44331}"/>
              </a:ext>
            </a:extLst>
          </p:cNvPr>
          <p:cNvSpPr txBox="1">
            <a:spLocks/>
          </p:cNvSpPr>
          <p:nvPr/>
        </p:nvSpPr>
        <p:spPr>
          <a:xfrm>
            <a:off x="284600" y="4897077"/>
            <a:ext cx="11791286" cy="15693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le sincronizzazioni e consente una scalabilità molto alta. </a:t>
            </a:r>
          </a:p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Mantiene una buona stabilità e converge efficacemente in molti problemi di ottimizzazione nonostante la presenza di ritardi negli aggiornamenti.</a:t>
            </a:r>
          </a:p>
        </p:txBody>
      </p:sp>
    </p:spTree>
    <p:extLst>
      <p:ext uri="{BB962C8B-B14F-4D97-AF65-F5344CB8AC3E}">
        <p14:creationId xmlns:p14="http://schemas.microsoft.com/office/powerpoint/2010/main" val="776665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DEFA-9129-FF40-4B3F-DF047C68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99B24CE-4332-FC39-DA99-A5C5C0A0DD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C32B2A9-2D81-9697-9E5B-74A00BD664D0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1CC4A29-0CA7-D24B-4B7E-06E2D4180455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89F2F01-00DB-09F2-D50F-3B40648A4F23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48F39868-2DB9-F062-0ED6-2C8A8185CCFC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53503C-6735-77C9-9AD4-F12ECF480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ifosi, Elettrodomestico, argento&#10;&#10;Il contenuto generato dall'IA potrebbe non essere corretto.">
            <a:extLst>
              <a:ext uri="{FF2B5EF4-FFF2-40B4-BE49-F238E27FC236}">
                <a16:creationId xmlns:a16="http://schemas.microsoft.com/office/drawing/2014/main" id="{095B1DA8-8071-241A-1C58-8F75B77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097" y="953188"/>
            <a:ext cx="6065331" cy="469155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037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C1548-1A8C-E717-76BC-E0503F2B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AE44A2B-BED4-F51A-5BEB-4D329AB05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BF33F4-9B61-5754-D493-2A7288D7A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3564979-594A-61E7-67F5-840EFFD91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764E368-8707-0E55-6D48-ABB05D3EF547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E87C5FD-C180-B8CB-7996-B717AA2826C2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DAEEAAD-BAB6-EBCD-F596-B51829F97A4A}"/>
              </a:ext>
            </a:extLst>
          </p:cNvPr>
          <p:cNvSpPr/>
          <p:nvPr/>
        </p:nvSpPr>
        <p:spPr>
          <a:xfrm>
            <a:off x="8160820" y="1887586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D1F069F-5EF8-D3D5-635B-293DDB290FF1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9B17E5A-2048-2005-3EB6-16C61B2922AB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  <p:sp>
        <p:nvSpPr>
          <p:cNvPr id="10" name="Sottotitolo 2">
            <a:extLst>
              <a:ext uri="{FF2B5EF4-FFF2-40B4-BE49-F238E27FC236}">
                <a16:creationId xmlns:a16="http://schemas.microsoft.com/office/drawing/2014/main" id="{B1E09023-8BBF-23A6-9A5A-A33FB7AAC8B4}"/>
              </a:ext>
            </a:extLst>
          </p:cNvPr>
          <p:cNvSpPr txBox="1">
            <a:spLocks/>
          </p:cNvSpPr>
          <p:nvPr/>
        </p:nvSpPr>
        <p:spPr>
          <a:xfrm>
            <a:off x="8550781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Alto costo delle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039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EDB8D-BB62-F903-F486-F9818FE6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0154AE-6955-5416-F5F9-2590665ED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25309A8-C70D-AD5D-07E2-A64F946865A5}"/>
              </a:ext>
            </a:extLst>
          </p:cNvPr>
          <p:cNvSpPr/>
          <p:nvPr/>
        </p:nvSpPr>
        <p:spPr>
          <a:xfrm>
            <a:off x="-593558" y="2869202"/>
            <a:ext cx="6689558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589F0-CF1E-2936-1A0E-16473E0F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9246E600-AB6B-C33A-3C3E-93C3FB186A8E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epsliciti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2DEC873-9CB5-C343-3A63-8B9AE1AFEDFD}"/>
              </a:ext>
            </a:extLst>
          </p:cNvPr>
          <p:cNvSpPr/>
          <p:nvPr/>
        </p:nvSpPr>
        <p:spPr>
          <a:xfrm>
            <a:off x="6409439" y="3411188"/>
            <a:ext cx="5497961" cy="434139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A53F3D5-2D2F-7A1F-63E1-FA5156CEDF18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73007FA-0071-849C-F1B5-D35A5ACEE36B}"/>
              </a:ext>
            </a:extLst>
          </p:cNvPr>
          <p:cNvSpPr txBox="1">
            <a:spLocks/>
          </p:cNvSpPr>
          <p:nvPr/>
        </p:nvSpPr>
        <p:spPr>
          <a:xfrm>
            <a:off x="6689558" y="2861897"/>
            <a:ext cx="2453509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Limiti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640EE076-4F78-10AD-9CFC-588A50136574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EDB8292-0DD1-87EB-64A8-CFB9C371E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86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3543-D5A0-D8FE-0D67-BCE14833E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FA7A9FF-9251-D573-EEBF-F4016ED76E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8812DA2-20A6-E91C-3463-7C85D8E7A4BA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7B9BCF-F34A-BC02-8B90-3F6DA1A1E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C919349-5F65-AB60-CE6A-732F1D8C543C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88E5C54-56A1-E2BE-9ECA-65E3A28673F7}"/>
              </a:ext>
            </a:extLst>
          </p:cNvPr>
          <p:cNvSpPr/>
          <p:nvPr/>
        </p:nvSpPr>
        <p:spPr>
          <a:xfrm>
            <a:off x="6538436" y="2869203"/>
            <a:ext cx="6516341" cy="3257895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976E9C0-46FF-269B-1450-102486FB0413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325FAE16-C6C4-8DAF-0905-844F3781375E}"/>
              </a:ext>
            </a:extLst>
          </p:cNvPr>
          <p:cNvSpPr txBox="1">
            <a:spLocks/>
          </p:cNvSpPr>
          <p:nvPr/>
        </p:nvSpPr>
        <p:spPr>
          <a:xfrm>
            <a:off x="7107585" y="3586586"/>
            <a:ext cx="4907018" cy="1823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Migliora la coalescenza degli accessi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187E3A6F-1009-C222-FB4D-D09D3B560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7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DC2-4747-659D-9D20-587D9469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0A5491A-29A4-1798-94E5-AAE7E8B54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1DD914-1770-9676-65A9-E4A9DFC55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F2C65C95-FD39-ADB4-13F1-E6ABFE0A0A8B}"/>
              </a:ext>
            </a:extLst>
          </p:cNvPr>
          <p:cNvSpPr/>
          <p:nvPr/>
        </p:nvSpPr>
        <p:spPr>
          <a:xfrm>
            <a:off x="6538435" y="2069432"/>
            <a:ext cx="7049227" cy="587141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B718851-4A31-5778-0A47-3930BFD7E071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4F2FB26B-409A-A9C0-67F9-7A521B86FC08}"/>
              </a:ext>
            </a:extLst>
          </p:cNvPr>
          <p:cNvSpPr txBox="1">
            <a:spLocks/>
          </p:cNvSpPr>
          <p:nvPr/>
        </p:nvSpPr>
        <p:spPr>
          <a:xfrm>
            <a:off x="7107585" y="2414338"/>
            <a:ext cx="4907018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Elimina i conflitti all’interno dello stesso blocco. 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drasticamente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l’uso di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0C0536C-55B9-A51F-FAB1-CCCA025F9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0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2410-5BE3-5194-E36B-8F20EF06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1EF1F7A-5AD1-1E2D-EB5D-51C5F4FFE3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DB835-E8E7-6D2A-BEE4-0174C8002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643C9554-9452-FCE3-0D9D-1B73D024FD14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305D718F-6930-781D-0299-8616B8CB85B6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B5E3DE7-3357-1EC3-8C80-E74F605F415A}"/>
              </a:ext>
            </a:extLst>
          </p:cNvPr>
          <p:cNvSpPr txBox="1">
            <a:spLocks/>
          </p:cNvSpPr>
          <p:nvPr/>
        </p:nvSpPr>
        <p:spPr>
          <a:xfrm>
            <a:off x="6432884" y="2824017"/>
            <a:ext cx="5629845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Riduzione degli accessi alla memoria globale.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Miglioramento della coalescenza.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73E46F3-5996-470B-76A1-1CCB88C24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443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9A71-5EA3-00B7-E11E-24DBB9A0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B123A2E-BEAF-5536-48B7-E0E833668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3" name="Immagine 2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EE62D464-9707-4099-7545-356E2AD6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503629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81CD1D09-0D3B-816A-ABAC-489DDC38EDFF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it-IT" sz="44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095BCCE-BBDC-BAF5-1007-0FF131B15A27}"/>
              </a:ext>
            </a:extLst>
          </p:cNvPr>
          <p:cNvSpPr txBox="1">
            <a:spLocks/>
          </p:cNvSpPr>
          <p:nvPr/>
        </p:nvSpPr>
        <p:spPr>
          <a:xfrm>
            <a:off x="5213684" y="807720"/>
            <a:ext cx="6578195" cy="5705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DSGD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e </a:t>
            </a:r>
            <a:r>
              <a:rPr lang="it-IT" sz="2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!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possono ottenere prestazioni significative, nel caso siano soddisfatte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alcune condizioni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l’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conferma che la convergenza può essere mantenuta anche in presenza di ritardi e parametri non aggiornati in modo sincrono.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GPU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è possibile adottare una combinazione di tecniche 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mitigare i colli di bottiglia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legati alla coalescenza degli accessi, ai conflitti e alle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D7F2A78-B14B-2C09-AB49-BF0A58E1342A}"/>
              </a:ext>
            </a:extLst>
          </p:cNvPr>
          <p:cNvSpPr/>
          <p:nvPr/>
        </p:nvSpPr>
        <p:spPr>
          <a:xfrm>
            <a:off x="-1426966" y="807720"/>
            <a:ext cx="6075165" cy="120396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1BC6EE-827D-EA55-DE6A-544918784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122" y="980992"/>
            <a:ext cx="4248077" cy="861428"/>
          </a:xfrm>
        </p:spPr>
        <p:txBody>
          <a:bodyPr>
            <a:noAutofit/>
          </a:bodyPr>
          <a:lstStyle/>
          <a:p>
            <a:pPr algn="l"/>
            <a:r>
              <a:rPr lang="it-IT" sz="5400" dirty="0">
                <a:solidFill>
                  <a:schemeClr val="bg1"/>
                </a:solidFill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119326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F9842-1181-34C0-84E5-B6A3058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CD6E05B-8FB2-C925-472A-5D6AE1DC43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25EDB22-8DAB-1556-59DD-48F737EDCB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Bibliografia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B71070C7-6C89-BCD9-8D94-9AE4E5826A12}"/>
              </a:ext>
            </a:extLst>
          </p:cNvPr>
          <p:cNvSpPr txBox="1">
            <a:spLocks/>
          </p:cNvSpPr>
          <p:nvPr/>
        </p:nvSpPr>
        <p:spPr>
          <a:xfrm>
            <a:off x="284600" y="2040753"/>
            <a:ext cx="11602600" cy="45324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Christopher 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Aberger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. «Recommender: An analysis of collaborative filtering techniques». In: Personal and Ubiquitous Computing Journal 5 (2014).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David C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Anastasiu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«Big data and recommender systems». In: (2016).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Rainer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Gemulla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«Large-scale matrix factorization with distributed stochastic gradient descent». In: Proceedings of the 17th ACM SIGKDD international conference on Knowledge discovery and data mining. 2011.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Benjamin Recht et al. «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!: A lock-free approach to parallelizing stochastic gradient descent». In: Advances in neural information processing systems 24 (2011).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Peng Xie, Wang Tan et al. «Parallelized Stochastic Gradient Descent for Matrix Factorization on GPUs». In: Proceedings of the 2017 IEEE International Conference on Big Data. 2017. </a:t>
            </a:r>
            <a:endParaRPr lang="it-IT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F5F6B44-72AD-F1E5-9755-459B3BBC5318}"/>
              </a:ext>
            </a:extLst>
          </p:cNvPr>
          <p:cNvSpPr/>
          <p:nvPr/>
        </p:nvSpPr>
        <p:spPr>
          <a:xfrm>
            <a:off x="10331116" y="-1097461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08C2711-892A-E388-2C0E-E12CD2E01339}"/>
              </a:ext>
            </a:extLst>
          </p:cNvPr>
          <p:cNvSpPr/>
          <p:nvPr/>
        </p:nvSpPr>
        <p:spPr>
          <a:xfrm>
            <a:off x="9481759" y="117017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E18B940-12A0-E940-BDB4-57DBFCDCCF2E}"/>
              </a:ext>
            </a:extLst>
          </p:cNvPr>
          <p:cNvSpPr/>
          <p:nvPr/>
        </p:nvSpPr>
        <p:spPr>
          <a:xfrm>
            <a:off x="8632401" y="-304800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59027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A3A7-7B8C-4ABF-2063-36D2835DD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97D053-FA62-83AE-694C-AF47EEA31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88443-6AD8-D1DA-5804-C321A021B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2800" y="2218322"/>
            <a:ext cx="6926400" cy="2298700"/>
          </a:xfrm>
        </p:spPr>
        <p:txBody>
          <a:bodyPr>
            <a:noAutofit/>
          </a:bodyPr>
          <a:lstStyle/>
          <a:p>
            <a:r>
              <a:rPr lang="it-IT" sz="8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Grazie per l’attenzione!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27189D-998A-E902-796D-67B2D4333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3531" y="1821611"/>
            <a:ext cx="6821048" cy="4349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36DE5F8C-E6F7-EC0B-070F-68AB7EA11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947EA1E6-2BF9-0879-11F4-F8E7CE0F43CD}"/>
              </a:ext>
            </a:extLst>
          </p:cNvPr>
          <p:cNvCxnSpPr>
            <a:cxnSpLocks/>
          </p:cNvCxnSpPr>
          <p:nvPr/>
        </p:nvCxnSpPr>
        <p:spPr>
          <a:xfrm>
            <a:off x="4654386" y="2176375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AA25AA48-D5D8-E947-5A17-606FE3AD3B16}"/>
              </a:ext>
            </a:extLst>
          </p:cNvPr>
          <p:cNvSpPr txBox="1">
            <a:spLocks/>
          </p:cNvSpPr>
          <p:nvPr/>
        </p:nvSpPr>
        <p:spPr>
          <a:xfrm>
            <a:off x="4800480" y="4581943"/>
            <a:ext cx="3267150" cy="43531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</a:t>
            </a:r>
            <a:endParaRPr lang="it-IT" sz="2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0CB2C29-819E-B060-35FF-7B914E331CC1}"/>
              </a:ext>
            </a:extLst>
          </p:cNvPr>
          <p:cNvSpPr/>
          <p:nvPr/>
        </p:nvSpPr>
        <p:spPr>
          <a:xfrm>
            <a:off x="2231371" y="5815894"/>
            <a:ext cx="934083" cy="89139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1AB671AD-883C-2D86-98EE-BA8BF381A208}"/>
              </a:ext>
            </a:extLst>
          </p:cNvPr>
          <p:cNvSpPr/>
          <p:nvPr/>
        </p:nvSpPr>
        <p:spPr>
          <a:xfrm>
            <a:off x="1101851" y="4859796"/>
            <a:ext cx="934083" cy="1349459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C69946FD-B026-0BE0-A44A-577E80D4E04B}"/>
              </a:ext>
            </a:extLst>
          </p:cNvPr>
          <p:cNvSpPr/>
          <p:nvPr/>
        </p:nvSpPr>
        <p:spPr>
          <a:xfrm>
            <a:off x="-818147" y="5087269"/>
            <a:ext cx="1752232" cy="224397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B93D2EC-04C3-68BF-90B4-CFDDC95F159C}"/>
              </a:ext>
            </a:extLst>
          </p:cNvPr>
          <p:cNvSpPr/>
          <p:nvPr/>
        </p:nvSpPr>
        <p:spPr>
          <a:xfrm>
            <a:off x="11221117" y="4601416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945C656-7479-8B07-2348-3178D5F003E1}"/>
              </a:ext>
            </a:extLst>
          </p:cNvPr>
          <p:cNvSpPr/>
          <p:nvPr/>
        </p:nvSpPr>
        <p:spPr>
          <a:xfrm>
            <a:off x="10371760" y="5815894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AC4D041-C919-69D8-5E3A-0C22A6070C0C}"/>
              </a:ext>
            </a:extLst>
          </p:cNvPr>
          <p:cNvSpPr/>
          <p:nvPr/>
        </p:nvSpPr>
        <p:spPr>
          <a:xfrm>
            <a:off x="9522402" y="5394077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2692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2330</Words>
  <Application>Microsoft Office PowerPoint</Application>
  <PresentationFormat>Widescreen</PresentationFormat>
  <Paragraphs>128</Paragraphs>
  <Slides>20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Posterama</vt:lpstr>
      <vt:lpstr>Questrial</vt:lpstr>
      <vt:lpstr>Tema di Office</vt:lpstr>
      <vt:lpstr>SGD Parallelo per la Fattorizzazione della Matrice dei Rating nei Sistemi di Raccomandazione</vt:lpstr>
      <vt:lpstr>Introduzione</vt:lpstr>
      <vt:lpstr>Introduzione</vt:lpstr>
      <vt:lpstr>Introduzione</vt:lpstr>
      <vt:lpstr>Modello</vt:lpstr>
      <vt:lpstr>Stochastic Gradient Descent</vt:lpstr>
      <vt:lpstr>Difficoltà nella parallelizzazione dello SGD</vt:lpstr>
      <vt:lpstr>Tecniche di Parallelizzazione per CPU</vt:lpstr>
      <vt:lpstr>Distributed SGD</vt:lpstr>
      <vt:lpstr>Hogwild!</vt:lpstr>
      <vt:lpstr>Asynchronous SGD</vt:lpstr>
      <vt:lpstr>Tecniche di Parallelizzazione per GPU</vt:lpstr>
      <vt:lpstr>Problemi</vt:lpstr>
      <vt:lpstr>S1: Utilizzare Atomic Add</vt:lpstr>
      <vt:lpstr>S2: Mini-batch SGD</vt:lpstr>
      <vt:lpstr>S3: Partitioning di user e item</vt:lpstr>
      <vt:lpstr>S4: Caching in Shared Memory</vt:lpstr>
      <vt:lpstr>Conclusioni</vt:lpstr>
      <vt:lpstr>Bibliografia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D'ASSISI</dc:creator>
  <cp:lastModifiedBy>Simone D'Assisi</cp:lastModifiedBy>
  <cp:revision>11</cp:revision>
  <dcterms:created xsi:type="dcterms:W3CDTF">2025-12-08T15:02:09Z</dcterms:created>
  <dcterms:modified xsi:type="dcterms:W3CDTF">2025-12-09T11:25:35Z</dcterms:modified>
</cp:coreProperties>
</file>