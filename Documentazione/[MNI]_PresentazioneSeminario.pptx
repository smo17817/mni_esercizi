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"/>
  </p:notesMasterIdLst>
  <p:sldIdLst>
    <p:sldId id="256" r:id="rId2"/>
    <p:sldId id="259" r:id="rId3"/>
    <p:sldId id="258" r:id="rId4"/>
    <p:sldId id="260" r:id="rId5"/>
    <p:sldId id="261" r:id="rId6"/>
    <p:sldId id="263" r:id="rId7"/>
    <p:sldId id="257" r:id="rId8"/>
    <p:sldId id="265" r:id="rId9"/>
    <p:sldId id="266" r:id="rId10"/>
    <p:sldId id="267" r:id="rId11"/>
    <p:sldId id="268" r:id="rId12"/>
    <p:sldId id="269" r:id="rId13"/>
    <p:sldId id="270" r:id="rId14"/>
  </p:sldIdLst>
  <p:sldSz cx="12192000" cy="6858000"/>
  <p:notesSz cx="6858000" cy="9144000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ezione senza titolo" id="{9FC889FD-0FDC-4CFA-99F4-2095199144C1}">
          <p14:sldIdLst>
            <p14:sldId id="256"/>
            <p14:sldId id="259"/>
            <p14:sldId id="258"/>
            <p14:sldId id="260"/>
            <p14:sldId id="261"/>
            <p14:sldId id="263"/>
            <p14:sldId id="257"/>
            <p14:sldId id="265"/>
            <p14:sldId id="266"/>
            <p14:sldId id="267"/>
            <p14:sldId id="268"/>
            <p14:sldId id="269"/>
            <p14:sldId id="270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67C6F"/>
    <a:srgbClr val="FCFCFC"/>
    <a:srgbClr val="7E4C29"/>
    <a:srgbClr val="FC993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71453" autoAdjust="0"/>
  </p:normalViewPr>
  <p:slideViewPr>
    <p:cSldViewPr snapToGrid="0">
      <p:cViewPr>
        <p:scale>
          <a:sx n="66" d="100"/>
          <a:sy n="66" d="100"/>
        </p:scale>
        <p:origin x="648" y="112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3" name="Segnaposto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BB39080-8F44-46B6-B27F-2DEAA9A68D0D}" type="datetimeFigureOut">
              <a:rPr lang="it-IT" smtClean="0"/>
              <a:t>08/12/2025</a:t>
            </a:fld>
            <a:endParaRPr lang="it-IT"/>
          </a:p>
        </p:txBody>
      </p:sp>
      <p:sp>
        <p:nvSpPr>
          <p:cNvPr id="4" name="Segnaposto immagin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it-IT"/>
          </a:p>
        </p:txBody>
      </p:sp>
      <p:sp>
        <p:nvSpPr>
          <p:cNvPr id="5" name="Segnaposto note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DC66C08-5A08-4C69-AAAE-C19DB0A9B5E5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5366015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 dirty="0"/>
              <a:t>Buongiorno a tutti. In questo seminario presenterò una panoramica dei principali metodi </a:t>
            </a:r>
            <a:r>
              <a:rPr lang="it-IT" dirty="0" err="1"/>
              <a:t>gradient-based</a:t>
            </a:r>
            <a:r>
              <a:rPr lang="it-IT" dirty="0"/>
              <a:t> per la fattorizzazione delle matrici di rating nei sistemi di raccomandazione, concentrandomi però non tanto sugli aspetti modellistici, quanto sui problemi e sulle soluzioni legati alla loro parallelizzazione su CPU e GPU.</a:t>
            </a:r>
          </a:p>
          <a:p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DC66C08-5A08-4C69-AAAE-C19DB0A9B5E5}" type="slidenum">
              <a:rPr lang="it-IT" smtClean="0"/>
              <a:t>1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4616467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7F95A5-D189-2514-06BB-799A6879AE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04FFBC5E-617D-C589-EBFC-7D0EE7BDFB9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3C07BCC2-6C06-CE18-1367-E615664787D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E98FEF71-A529-8BBE-A7A0-3E581C7C08C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DC66C08-5A08-4C69-AAAE-C19DB0A9B5E5}" type="slidenum">
              <a:rPr lang="it-IT" smtClean="0"/>
              <a:t>2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23135869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2E5E96-018E-0209-C1F8-13DD56D4B0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E8DC890B-982F-73A1-9F6F-8E1FB556D03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7911BE03-78D3-C850-353B-E09C9713548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it-IT" dirty="0"/>
              <a:t>Vantaggio: passare da una matrice enorme (utenti × item) a due matrici molto più piccole (utenti × fattori) e (item × fattori).</a:t>
            </a:r>
          </a:p>
          <a:p>
            <a:endParaRPr lang="it-IT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9C89A80D-3187-6AC7-8991-B7D8030629F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DC66C08-5A08-4C69-AAAE-C19DB0A9B5E5}" type="slidenum">
              <a:rPr lang="it-IT" smtClean="0"/>
              <a:t>3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12364123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E19394-FA10-5BC5-DF31-CAAD3483A1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76C1F02C-C9F1-F700-6DE6-D3237172BC6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26A720ED-9AA7-CE07-0886-2316189C4BB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3D00F49D-8A09-743A-BFF7-C9488E8B690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DC66C08-5A08-4C69-AAAE-C19DB0A9B5E5}" type="slidenum">
              <a:rPr lang="it-IT" smtClean="0"/>
              <a:t>4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88544297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6122DD-89AE-5E11-1DA5-9770D3990B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FC7713D2-FFE9-EBB3-E391-13B4B55265E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75C77E52-8400-3B03-C3C1-EE353A06B10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23173D47-3150-AF50-073A-153507852C3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DC66C08-5A08-4C69-AAAE-C19DB0A9B5E5}" type="slidenum">
              <a:rPr lang="it-IT" smtClean="0"/>
              <a:t>5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7883677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550D96-7AEE-6AC6-D1EF-C8D08DDE97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9D812B9D-5312-8E8F-C447-052BCCD44DD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634F7C88-2F82-AF83-59AB-680C13A78C9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it-IT" dirty="0"/>
              <a:t>Con η learning rate, che regola l’andamento dell’apprendimento. Questa formula è semplice, ma contiene il primo grande problema dato dalla parallelizzazione: due </a:t>
            </a:r>
            <a:r>
              <a:rPr lang="it-IT" dirty="0" err="1"/>
              <a:t>thread</a:t>
            </a:r>
            <a:r>
              <a:rPr lang="it-IT" dirty="0"/>
              <a:t> diversi che aggiornano lo stesso utente o lo stesso item generano conflitti. Ed è proprio attorno a questi conflitti che si costruiscono tutte le versioni parallele dell’algoritmo.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it-IT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7A9E62E9-249B-814F-89D7-8D84F9B0A76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DC66C08-5A08-4C69-AAAE-C19DB0A9B5E5}" type="slidenum">
              <a:rPr lang="it-IT" smtClean="0"/>
              <a:t>6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79429175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67E558-F9A4-27C1-AC78-C867592BA4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9CBB809E-BD10-448F-FAA8-F3F4FBA9951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05EF4CA4-57DD-D64B-7080-5076FE5747C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 b="0" dirty="0"/>
              <a:t>Una race </a:t>
            </a:r>
            <a:r>
              <a:rPr lang="it-IT" b="0" dirty="0" err="1"/>
              <a:t>condition</a:t>
            </a:r>
            <a:r>
              <a:rPr lang="it-IT" b="0" dirty="0"/>
              <a:t> si verifica quando due o più </a:t>
            </a:r>
            <a:r>
              <a:rPr lang="it-IT" b="0" dirty="0" err="1"/>
              <a:t>thread</a:t>
            </a:r>
            <a:r>
              <a:rPr lang="it-IT" b="0" dirty="0"/>
              <a:t> accedono allo stesso dato contemporaneamente, e almeno uno lo modifica, senza un meccanismo di sincronizzazione. Il risultato finale diventa quindi imprevedibile, perché dipende da </a:t>
            </a:r>
            <a:r>
              <a:rPr lang="it-IT" b="0" i="1" dirty="0"/>
              <a:t>chi arriva per primo</a:t>
            </a:r>
            <a:r>
              <a:rPr lang="it-IT" b="0" dirty="0"/>
              <a:t> a modificare la memoria.</a:t>
            </a:r>
          </a:p>
          <a:p>
            <a:endParaRPr lang="it-IT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3A3BD58D-5BF9-FFAA-F112-CFFC3F6EC5C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DC66C08-5A08-4C69-AAAE-C19DB0A9B5E5}" type="slidenum">
              <a:rPr lang="it-IT" smtClean="0"/>
              <a:t>7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00494934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7B0B68-8FD7-3DB1-1040-10F58825D0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7049294B-A24E-B761-F92A-8D82ECA50A4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6FE689B9-2E90-A7A4-88AC-B1BC2E1DEC2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 dirty="0"/>
              <a:t>Passiamo ora alle principali strategie sviluppate per parallelizzare lo SGD, cominciando con le tecniche di parallelizzazione su CPU.</a:t>
            </a:r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E106A09D-FC81-FAF7-6456-A01A8FF0CF4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DC66C08-5A08-4C69-AAAE-C19DB0A9B5E5}" type="slidenum">
              <a:rPr lang="it-IT" smtClean="0"/>
              <a:t>8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66011005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94215E-3389-46E9-ABD7-3E89A61A50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7BD0F0E0-898F-B4AA-9166-DAFA6AD8DEC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4D9F6182-8249-DFB3-11C6-7A4DEFC8DAF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it-IT" dirty="0"/>
              <a:t>La prima grande idea è il cosiddetto Distributed SGD, o DSGD. Si suddivide la matrice dei rating in blocchi, formando una griglia. Si osserva che è possibile selezionare, in ogni iterazione, una collezione di blocchi che non condividono né utenti né item: questa collezione si chiama </a:t>
            </a:r>
            <a:r>
              <a:rPr lang="it-IT" dirty="0" err="1"/>
              <a:t>strata</a:t>
            </a:r>
            <a:r>
              <a:rPr lang="it-IT" dirty="0"/>
              <a:t>. </a:t>
            </a:r>
            <a:r>
              <a:rPr lang="it-IT" b="1" dirty="0"/>
              <a:t>Ogni </a:t>
            </a:r>
            <a:r>
              <a:rPr lang="it-IT" b="1" dirty="0" err="1"/>
              <a:t>strata</a:t>
            </a:r>
            <a:r>
              <a:rPr lang="it-IT" b="1" dirty="0"/>
              <a:t> può essere processata in parallelo senza conflitti</a:t>
            </a:r>
            <a:r>
              <a:rPr lang="it-IT" dirty="0"/>
              <a:t>. Dopo ogni iterazione si passa alla </a:t>
            </a:r>
            <a:r>
              <a:rPr lang="it-IT" dirty="0" err="1"/>
              <a:t>strata</a:t>
            </a:r>
            <a:r>
              <a:rPr lang="it-IT" dirty="0"/>
              <a:t> successiva, garantendo che tutti i blocchi vengano </a:t>
            </a:r>
            <a:r>
              <a:rPr lang="it-IT" dirty="0" err="1"/>
              <a:t>aggiornati</a:t>
            </a:r>
            <a:r>
              <a:rPr lang="it-IT" dirty="0"/>
              <a:t>.</a:t>
            </a:r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61A9FE85-4F56-9D0F-271E-47F52F7FEB6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DC66C08-5A08-4C69-AAAE-C19DB0A9B5E5}" type="slidenum">
              <a:rPr lang="it-IT" smtClean="0"/>
              <a:t>9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81556572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9E5EA6-0542-CB7C-7A57-D02CFDEA80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CF34A0B0-8619-1B2D-B2AE-912BED5A71E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CD75AB50-14E3-5A34-CDB3-980DF555455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it-IT" dirty="0"/>
              <a:t>Il secondo metodo è uno dei più noti per la parallelizzazione di SGD: </a:t>
            </a:r>
            <a:r>
              <a:rPr lang="it-IT" dirty="0" err="1"/>
              <a:t>Hogwild</a:t>
            </a:r>
            <a:r>
              <a:rPr lang="it-IT" dirty="0"/>
              <a:t>!. L’idea è radicale ma estremamente efficace in presenza di dataset molto sparsi. Se la matrice dei rating contiene pochi valori rispetto alle dimensioni totali, allora la probabilità che due </a:t>
            </a:r>
            <a:r>
              <a:rPr lang="it-IT" dirty="0" err="1"/>
              <a:t>thread</a:t>
            </a:r>
            <a:r>
              <a:rPr lang="it-IT" dirty="0"/>
              <a:t> accedano simultaneamente allo stesso parametro (una riga di U o una riga di V ) è estremamente bassa. In questo scenario è possibile eliminare completamente i meccanismi di sincronizzazione, permettendo ai </a:t>
            </a:r>
            <a:r>
              <a:rPr lang="it-IT" dirty="0" err="1"/>
              <a:t>thread</a:t>
            </a:r>
            <a:r>
              <a:rPr lang="it-IT" dirty="0"/>
              <a:t> di aggiornare i parametri in maniera asincrona e non protetta. L’assenza di lock riduce drasticamente l’overhead di sincronizzazione, consentendo un notevole aumento delle prestazioni rispetto a DSGD e ad altri metodi più strutturati.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it-IT" dirty="0"/>
              <a:t>Tuttavia, </a:t>
            </a:r>
            <a:r>
              <a:rPr lang="it-IT" dirty="0" err="1"/>
              <a:t>Hogwild</a:t>
            </a:r>
            <a:r>
              <a:rPr lang="it-IT" dirty="0"/>
              <a:t>! non è adatto a tutti i contesti: se il dataset non è abbastanza sparso, oppure se alcuni item o utenti sono molto popolari, il rischio di conflitti e </a:t>
            </a:r>
            <a:r>
              <a:rPr lang="it-IT" dirty="0" err="1"/>
              <a:t>overwriting</a:t>
            </a:r>
            <a:r>
              <a:rPr lang="it-IT" dirty="0"/>
              <a:t> aumenta, degradando la qualità della soluzione o rallentando la convergenza. Nonostante questi limiti, </a:t>
            </a:r>
            <a:r>
              <a:rPr lang="it-IT" dirty="0" err="1"/>
              <a:t>Hogwild</a:t>
            </a:r>
            <a:r>
              <a:rPr lang="it-IT" dirty="0"/>
              <a:t>! rimane una delle tecniche più utilizzate per implementazioni parallele su CPU multicore, grazie alla sua semplicità e alla sorprendente robustezza empirica in molti scenari reali.</a:t>
            </a:r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27E3903C-456E-07B2-F331-C8879DFDBF0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DC66C08-5A08-4C69-AAAE-C19DB0A9B5E5}" type="slidenum">
              <a:rPr lang="it-IT" smtClean="0"/>
              <a:t>10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24885079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F423F7-39FF-1482-719E-43D0A68796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FB50E97E-1FA8-FFD5-3C39-2E78202E9F2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0D165BDD-81F4-81F9-BD4A-B0E047B683D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it-IT" dirty="0"/>
              <a:t>Un terzo approccio alla parallelizzazione di SGD è l’</a:t>
            </a:r>
            <a:r>
              <a:rPr lang="it-IT" dirty="0" err="1"/>
              <a:t>Asynchronous</a:t>
            </a:r>
            <a:r>
              <a:rPr lang="it-IT" dirty="0"/>
              <a:t> SGD (ASGD), molto usato nei sistemi distribuiti su larga scala. In questo modello, il training è suddiviso tra diversi nodi (o worker), ciascuno dei quali mantiene una copia locale dei parametri e calcola autonomamente gli aggiornamenti su una porzione dei dati. Gli aggiornamenti sono poi inviati, in modo asincrono, a un nodo centrale (</a:t>
            </a:r>
            <a:r>
              <a:rPr lang="it-IT" dirty="0" err="1"/>
              <a:t>parameter</a:t>
            </a:r>
            <a:r>
              <a:rPr lang="it-IT" dirty="0"/>
              <a:t> server ), che li aggrega e aggiorna il modello globale.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it-IT" dirty="0"/>
              <a:t>I worker non attendono che il server confermi l’avvenuto aggiornamento: continuano a eseguire SGD usando parametri che possono essere leggermente "vecchi", fenomeno noto come </a:t>
            </a:r>
            <a:r>
              <a:rPr lang="it-IT" dirty="0" err="1"/>
              <a:t>staleness</a:t>
            </a:r>
            <a:r>
              <a:rPr lang="it-IT" dirty="0"/>
              <a:t>. Questo schema elimina quasi del tutto le sincronizzazioni  e consente una scalabilità molto alta, fino a decine o centinaia di macchine. Nonostante la presenza di ritardi negli aggiornamenti, diversi lavori mostrano che ASGD mantiene una buona stabilità e converge efficacemente in molti problemi di ottimizzazione su larga scala.</a:t>
            </a:r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80589EB7-4FE2-1824-D1FB-63898260F1F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DC66C08-5A08-4C69-AAAE-C19DB0A9B5E5}" type="slidenum">
              <a:rPr lang="it-IT" smtClean="0"/>
              <a:t>11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61967248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B0C9EF-8B00-5FDA-AF2E-DC640A2653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108BE50C-C17E-0FFD-877B-1FDF2DD13B4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2B69BCB8-52B6-4BE6-7720-F9A45C8DF09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 dirty="0"/>
              <a:t>Proseguiamo con le tecniche di parallelizzazione su GPU.</a:t>
            </a:r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16AFAEBE-96B2-D1D6-836B-D538E44B0EB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DC66C08-5A08-4C69-AAAE-C19DB0A9B5E5}" type="slidenum">
              <a:rPr lang="it-IT" smtClean="0"/>
              <a:t>12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98376887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FA688C-4077-FDD3-EF0A-A78E11D8D4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0254BCAC-791E-617C-781A-A11E8198B92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F894B6D4-F574-B191-7720-5B914EE3468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it-IT" dirty="0"/>
              <a:t>La prima grande idea è il cosiddetto Distributed SGD, o DSGD. Si suddivide la matrice dei rating in blocchi, formando una griglia. Si osserva che è possibile selezionare, in ogni iterazione, una collezione di blocchi che non condividono né utenti né item: questa collezione si chiama </a:t>
            </a:r>
            <a:r>
              <a:rPr lang="it-IT" dirty="0" err="1"/>
              <a:t>strata</a:t>
            </a:r>
            <a:r>
              <a:rPr lang="it-IT" dirty="0"/>
              <a:t>. </a:t>
            </a:r>
            <a:r>
              <a:rPr lang="it-IT" b="1" dirty="0"/>
              <a:t>Ogni </a:t>
            </a:r>
            <a:r>
              <a:rPr lang="it-IT" b="1" dirty="0" err="1"/>
              <a:t>strata</a:t>
            </a:r>
            <a:r>
              <a:rPr lang="it-IT" b="1" dirty="0"/>
              <a:t> può essere processata in parallelo senza conflitti</a:t>
            </a:r>
            <a:r>
              <a:rPr lang="it-IT" dirty="0"/>
              <a:t>. Dopo ogni iterazione si passa alla </a:t>
            </a:r>
            <a:r>
              <a:rPr lang="it-IT" dirty="0" err="1"/>
              <a:t>strata</a:t>
            </a:r>
            <a:r>
              <a:rPr lang="it-IT" dirty="0"/>
              <a:t> successiva, garantendo che tutti i blocchi vengano </a:t>
            </a:r>
            <a:r>
              <a:rPr lang="it-IT" dirty="0" err="1"/>
              <a:t>aggiornati</a:t>
            </a:r>
            <a:r>
              <a:rPr lang="it-IT" dirty="0"/>
              <a:t>.</a:t>
            </a:r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7851CCCA-06EF-3562-8D92-FBC48BCCC29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DC66C08-5A08-4C69-AAAE-C19DB0A9B5E5}" type="slidenum">
              <a:rPr lang="it-IT" smtClean="0"/>
              <a:t>13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99394463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1DA4C572-9CD0-7CF3-95B4-FBDE634B9BF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23DC6950-B1A3-B2AA-3B5A-9F93CAD68AB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it-IT"/>
              <a:t>Fare clic per modificare lo stile del sottotitolo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AFF9E243-F12C-4E73-002C-46A57260F5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4C13E4-AE53-4D7F-831B-9D7C1470C077}" type="datetimeFigureOut">
              <a:rPr lang="it-IT" smtClean="0"/>
              <a:t>08/12/2025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D45CB3B3-47EC-DD4A-DA1A-F49B9E47FA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2CF13E22-B252-5EF6-0BD1-C278EAF479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537EDA-D0FA-4E94-B041-847AB12482DE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3019353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72D4A34F-3D1E-2F38-0565-21AE9C1E5C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E54AB1DC-A607-71E6-E978-AE730B4733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B8DA4995-16D8-457F-67DD-3C59EE335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4C13E4-AE53-4D7F-831B-9D7C1470C077}" type="datetimeFigureOut">
              <a:rPr lang="it-IT" smtClean="0"/>
              <a:t>08/12/2025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55E57E6F-BCD9-BB61-76FC-A42369A457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2D249D6A-966F-21EB-1257-FB72357B9C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537EDA-D0FA-4E94-B041-847AB12482DE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5116860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92A234BC-DCF8-DCBB-721B-0E49BD7335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C0CD0B9A-06C4-B212-CDB6-6BC2413D69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CA0023F9-714E-A0FF-B455-DCB95EA9A6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4C13E4-AE53-4D7F-831B-9D7C1470C077}" type="datetimeFigureOut">
              <a:rPr lang="it-IT" smtClean="0"/>
              <a:t>08/12/2025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910476D5-EA1D-5530-E660-764E3A111B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6DBB3A69-94F5-0589-8CC4-4D9B2F0C66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537EDA-D0FA-4E94-B041-847AB12482DE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0798328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F70F14DC-C606-9F4E-F3A4-0A4F920CA4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74E1816B-637B-287F-6A71-0F08A7E48E6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AF7E7233-8D2B-7E07-598F-F647BF37142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57BE6EDA-27B5-B5F4-FFFE-6A49133373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4C13E4-AE53-4D7F-831B-9D7C1470C077}" type="datetimeFigureOut">
              <a:rPr lang="it-IT" smtClean="0"/>
              <a:t>08/12/2025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40E6A5A6-062E-1DCE-081B-F5904E1859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F6407356-4431-D486-B7DF-9C1373F549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537EDA-D0FA-4E94-B041-847AB12482DE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6571120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5EACED0C-7B02-65AC-6DCA-A7BB25BABE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D950CC26-610A-B94A-0F29-4824A4CBBBF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38132184-FB82-C457-41A0-B9AF003C16B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testo 4">
            <a:extLst>
              <a:ext uri="{FF2B5EF4-FFF2-40B4-BE49-F238E27FC236}">
                <a16:creationId xmlns:a16="http://schemas.microsoft.com/office/drawing/2014/main" id="{4771BD15-627E-F4A8-0313-24AD6406A56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6" name="Segnaposto contenuto 5">
            <a:extLst>
              <a:ext uri="{FF2B5EF4-FFF2-40B4-BE49-F238E27FC236}">
                <a16:creationId xmlns:a16="http://schemas.microsoft.com/office/drawing/2014/main" id="{F3E58D40-E00D-7A39-7882-9A0B136F473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7" name="Segnaposto data 6">
            <a:extLst>
              <a:ext uri="{FF2B5EF4-FFF2-40B4-BE49-F238E27FC236}">
                <a16:creationId xmlns:a16="http://schemas.microsoft.com/office/drawing/2014/main" id="{F7CA0AB4-DDAE-8B54-CEAE-24607F30E5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4C13E4-AE53-4D7F-831B-9D7C1470C077}" type="datetimeFigureOut">
              <a:rPr lang="it-IT" smtClean="0"/>
              <a:t>08/12/2025</a:t>
            </a:fld>
            <a:endParaRPr lang="it-IT"/>
          </a:p>
        </p:txBody>
      </p:sp>
      <p:sp>
        <p:nvSpPr>
          <p:cNvPr id="8" name="Segnaposto piè di pagina 7">
            <a:extLst>
              <a:ext uri="{FF2B5EF4-FFF2-40B4-BE49-F238E27FC236}">
                <a16:creationId xmlns:a16="http://schemas.microsoft.com/office/drawing/2014/main" id="{D5F82F49-4683-9CC4-E6C0-B3AABB0A61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egnaposto numero diapositiva 8">
            <a:extLst>
              <a:ext uri="{FF2B5EF4-FFF2-40B4-BE49-F238E27FC236}">
                <a16:creationId xmlns:a16="http://schemas.microsoft.com/office/drawing/2014/main" id="{3C6664D6-FFDB-FDCD-6D1A-AD51ADFA04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537EDA-D0FA-4E94-B041-847AB12482DE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6972566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F32C2643-D9E7-DFFB-26A8-461FD529DB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089C9D6B-B9CA-79D6-96AF-192F23BD84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4C13E4-AE53-4D7F-831B-9D7C1470C077}" type="datetimeFigureOut">
              <a:rPr lang="it-IT" smtClean="0"/>
              <a:t>08/12/2025</a:t>
            </a:fld>
            <a:endParaRPr lang="it-IT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ED7F4169-9803-902B-E2E0-62087718EF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E76FD580-BE0B-14D8-E86A-7D6E5EA742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537EDA-D0FA-4E94-B041-847AB12482DE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448727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>
            <a:extLst>
              <a:ext uri="{FF2B5EF4-FFF2-40B4-BE49-F238E27FC236}">
                <a16:creationId xmlns:a16="http://schemas.microsoft.com/office/drawing/2014/main" id="{5853F6DC-F4FC-1B60-248D-B0869A7737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4C13E4-AE53-4D7F-831B-9D7C1470C077}" type="datetimeFigureOut">
              <a:rPr lang="it-IT" smtClean="0"/>
              <a:t>08/12/2025</a:t>
            </a:fld>
            <a:endParaRPr lang="it-IT"/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9F54486E-3461-B79D-A2AF-FE1CFC3A23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9543A48B-F4B3-619A-9964-20CE74436D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537EDA-D0FA-4E94-B041-847AB12482DE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0977990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C3A7764-7976-C108-731B-F6FC5360FB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CED4471B-CDA3-7294-64DD-B1CF501444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F0093DE9-54B8-9609-ED1B-9D832FD61C5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008B89EE-82B6-F61D-3F57-0558FF4066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4C13E4-AE53-4D7F-831B-9D7C1470C077}" type="datetimeFigureOut">
              <a:rPr lang="it-IT" smtClean="0"/>
              <a:t>08/12/2025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1FEB17AD-BD75-2373-36D3-F52CADDB82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F72E404B-AE55-4FDD-08D5-146414FBF3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537EDA-D0FA-4E94-B041-847AB12482DE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857278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9FBA8CE5-AFFC-A655-72F3-DDB8E22626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immagine 2">
            <a:extLst>
              <a:ext uri="{FF2B5EF4-FFF2-40B4-BE49-F238E27FC236}">
                <a16:creationId xmlns:a16="http://schemas.microsoft.com/office/drawing/2014/main" id="{C47EE69C-5E36-4F04-0B7B-25C30B93FB7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t-IT"/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82DA8DF9-76E2-C3B2-870C-8508D74D5FF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9B86AA19-C20B-57B4-744C-95F36557E1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4C13E4-AE53-4D7F-831B-9D7C1470C077}" type="datetimeFigureOut">
              <a:rPr lang="it-IT" smtClean="0"/>
              <a:t>08/12/2025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E721E9B8-46B6-FC64-76B2-EB4A11FF1D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7C80E540-D1A1-20EC-1A49-AE6788AB3A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537EDA-D0FA-4E94-B041-847AB12482DE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2255174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986AAA05-B752-41EA-84BC-0581F8FF0C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6057B3E1-6BBE-EEFE-DAB7-9C39084B641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FFDD247C-A63A-DAF4-DF3B-EC1D4C95BA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4C13E4-AE53-4D7F-831B-9D7C1470C077}" type="datetimeFigureOut">
              <a:rPr lang="it-IT" smtClean="0"/>
              <a:t>08/12/2025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D5FF4747-5894-4B1C-E016-DD894588F1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F4387186-0F31-E7AD-F129-91F655D766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537EDA-D0FA-4E94-B041-847AB12482DE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0487169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>
            <a:extLst>
              <a:ext uri="{FF2B5EF4-FFF2-40B4-BE49-F238E27FC236}">
                <a16:creationId xmlns:a16="http://schemas.microsoft.com/office/drawing/2014/main" id="{66A93CB3-E305-A2C7-A515-222854DAE9A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115A7901-9946-297A-0994-D7242E3ADBA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D61FDEEB-EA2E-BA6F-5941-CCFDFEF362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4C13E4-AE53-4D7F-831B-9D7C1470C077}" type="datetimeFigureOut">
              <a:rPr lang="it-IT" smtClean="0"/>
              <a:t>08/12/2025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983F194C-3685-EDFD-16B0-32CAB1246E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D6736BA1-2A59-DA7B-03F2-D7BE0C74E4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537EDA-D0FA-4E94-B041-847AB12482DE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2109334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>
            <a:extLst>
              <a:ext uri="{FF2B5EF4-FFF2-40B4-BE49-F238E27FC236}">
                <a16:creationId xmlns:a16="http://schemas.microsoft.com/office/drawing/2014/main" id="{510746C0-1CC1-EB8B-0F22-E353EF973C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7F61C8E6-7B88-46D3-FECF-840AD1EE18A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2F40EB66-115E-8E20-7395-5589313C2D3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E4C13E4-AE53-4D7F-831B-9D7C1470C077}" type="datetimeFigureOut">
              <a:rPr lang="it-IT" smtClean="0"/>
              <a:t>08/12/2025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E59A42AA-A69A-737E-887B-225FB306C5C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D8FD878D-A127-1606-9C6D-0CE8682C92C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4537EDA-D0FA-4E94-B041-847AB12482DE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1274457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ttangolo 6">
            <a:extLst>
              <a:ext uri="{FF2B5EF4-FFF2-40B4-BE49-F238E27FC236}">
                <a16:creationId xmlns:a16="http://schemas.microsoft.com/office/drawing/2014/main" id="{46C7DE72-04D8-1453-0130-14A141A022E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CFCF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192002BB-75B7-0AB8-857C-D3495BCEC23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981000" y="1930400"/>
            <a:ext cx="6926400" cy="2298700"/>
          </a:xfrm>
        </p:spPr>
        <p:txBody>
          <a:bodyPr>
            <a:noAutofit/>
          </a:bodyPr>
          <a:lstStyle/>
          <a:p>
            <a:pPr algn="l"/>
            <a:r>
              <a:rPr lang="it-IT" sz="4000" b="1" dirty="0">
                <a:latin typeface="Questrial" panose="020F0502020204030204" pitchFamily="2" charset="0"/>
                <a:ea typeface="Questrial" panose="020F0502020204030204" pitchFamily="2" charset="0"/>
                <a:cs typeface="Questrial" panose="020F0502020204030204" pitchFamily="2" charset="0"/>
              </a:rPr>
              <a:t>SGD Parallelo per la Fattorizzazione della Matrice dei Rating nei Sistemi di Raccomandazione</a:t>
            </a:r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BB039D4A-BCDA-3FBF-9CC6-875AC78228E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981000" y="1495425"/>
            <a:ext cx="6821048" cy="434974"/>
          </a:xfrm>
        </p:spPr>
        <p:txBody>
          <a:bodyPr>
            <a:normAutofit/>
          </a:bodyPr>
          <a:lstStyle/>
          <a:p>
            <a:pPr algn="l"/>
            <a:r>
              <a:rPr lang="en-US" sz="1800" b="1" dirty="0">
                <a:latin typeface="Questrial" pitchFamily="2" charset="0"/>
                <a:ea typeface="Questrial" pitchFamily="2" charset="0"/>
                <a:cs typeface="Questrial" pitchFamily="2" charset="0"/>
              </a:rPr>
              <a:t>Metodi </a:t>
            </a:r>
            <a:r>
              <a:rPr lang="en-US" sz="1800" b="1" dirty="0" err="1">
                <a:latin typeface="Questrial" pitchFamily="2" charset="0"/>
                <a:ea typeface="Questrial" pitchFamily="2" charset="0"/>
                <a:cs typeface="Questrial" pitchFamily="2" charset="0"/>
              </a:rPr>
              <a:t>Numerici</a:t>
            </a:r>
            <a:r>
              <a:rPr lang="en-US" sz="1800" b="1" dirty="0">
                <a:latin typeface="Questrial" pitchFamily="2" charset="0"/>
                <a:ea typeface="Questrial" pitchFamily="2" charset="0"/>
                <a:cs typeface="Questrial" pitchFamily="2" charset="0"/>
              </a:rPr>
              <a:t> per </a:t>
            </a:r>
            <a:r>
              <a:rPr lang="en-US" sz="1800" b="1" dirty="0" err="1">
                <a:latin typeface="Questrial" pitchFamily="2" charset="0"/>
                <a:ea typeface="Questrial" pitchFamily="2" charset="0"/>
                <a:cs typeface="Questrial" pitchFamily="2" charset="0"/>
              </a:rPr>
              <a:t>l’Informatica</a:t>
            </a:r>
            <a:endParaRPr lang="it-IT" sz="1800" b="1" dirty="0">
              <a:latin typeface="Questrial" pitchFamily="2" charset="0"/>
              <a:ea typeface="Questrial" pitchFamily="2" charset="0"/>
              <a:cs typeface="Questrial" pitchFamily="2" charset="0"/>
            </a:endParaRPr>
          </a:p>
        </p:txBody>
      </p:sp>
      <p:pic>
        <p:nvPicPr>
          <p:cNvPr id="4" name="Immagine 3" descr="Immagine che contiene emblema, simbolo, vestiti, cresta&#10;&#10;Il contenuto generato dall'IA potrebbe non essere corretto.">
            <a:extLst>
              <a:ext uri="{FF2B5EF4-FFF2-40B4-BE49-F238E27FC236}">
                <a16:creationId xmlns:a16="http://schemas.microsoft.com/office/drawing/2014/main" id="{C955DB95-DED4-C588-8F9B-6720556891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08811" y="186702"/>
            <a:ext cx="1098589" cy="1098589"/>
          </a:xfrm>
          <a:prstGeom prst="rect">
            <a:avLst/>
          </a:prstGeom>
        </p:spPr>
      </p:pic>
      <p:pic>
        <p:nvPicPr>
          <p:cNvPr id="6" name="Immagine 5" descr="Immagine che contiene notte, Policromia, circuito, città&#10;&#10;Il contenuto generato dall'IA potrebbe non essere corretto.">
            <a:extLst>
              <a:ext uri="{FF2B5EF4-FFF2-40B4-BE49-F238E27FC236}">
                <a16:creationId xmlns:a16="http://schemas.microsoft.com/office/drawing/2014/main" id="{835B0F0C-337E-B302-D138-9440FCF82D2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8516" r="1"/>
          <a:stretch>
            <a:fillRect/>
          </a:stretch>
        </p:blipFill>
        <p:spPr>
          <a:xfrm>
            <a:off x="0" y="0"/>
            <a:ext cx="4610100" cy="685800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cxnSp>
        <p:nvCxnSpPr>
          <p:cNvPr id="9" name="Connettore diritto 8">
            <a:extLst>
              <a:ext uri="{FF2B5EF4-FFF2-40B4-BE49-F238E27FC236}">
                <a16:creationId xmlns:a16="http://schemas.microsoft.com/office/drawing/2014/main" id="{56C4583E-AE97-4A3E-1F75-536463A054D9}"/>
              </a:ext>
            </a:extLst>
          </p:cNvPr>
          <p:cNvCxnSpPr>
            <a:cxnSpLocks/>
          </p:cNvCxnSpPr>
          <p:nvPr/>
        </p:nvCxnSpPr>
        <p:spPr>
          <a:xfrm>
            <a:off x="5086352" y="1930399"/>
            <a:ext cx="3625848" cy="0"/>
          </a:xfrm>
          <a:prstGeom prst="line">
            <a:avLst/>
          </a:prstGeom>
          <a:ln>
            <a:solidFill>
              <a:srgbClr val="667C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Sottotitolo 2">
            <a:extLst>
              <a:ext uri="{FF2B5EF4-FFF2-40B4-BE49-F238E27FC236}">
                <a16:creationId xmlns:a16="http://schemas.microsoft.com/office/drawing/2014/main" id="{60834F9B-4183-C80B-0C0D-2CFD0D427154}"/>
              </a:ext>
            </a:extLst>
          </p:cNvPr>
          <p:cNvSpPr txBox="1">
            <a:spLocks/>
          </p:cNvSpPr>
          <p:nvPr/>
        </p:nvSpPr>
        <p:spPr>
          <a:xfrm>
            <a:off x="4981000" y="4682122"/>
            <a:ext cx="4315400" cy="8614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800" b="1" dirty="0">
                <a:solidFill>
                  <a:srgbClr val="667C6F"/>
                </a:solidFill>
                <a:latin typeface="Questrial" pitchFamily="2" charset="0"/>
                <a:ea typeface="Questrial" pitchFamily="2" charset="0"/>
                <a:cs typeface="Questrial" pitchFamily="2" charset="0"/>
              </a:rPr>
              <a:t>Autore:</a:t>
            </a:r>
            <a:br>
              <a:rPr lang="en-US" sz="1800" b="1" dirty="0">
                <a:solidFill>
                  <a:srgbClr val="667C6F"/>
                </a:solidFill>
                <a:latin typeface="Questrial" pitchFamily="2" charset="0"/>
                <a:ea typeface="Questrial" pitchFamily="2" charset="0"/>
                <a:cs typeface="Questrial" pitchFamily="2" charset="0"/>
              </a:rPr>
            </a:br>
            <a:r>
              <a:rPr lang="en-US" sz="1800" b="1" dirty="0">
                <a:latin typeface="Questrial" pitchFamily="2" charset="0"/>
                <a:ea typeface="Questrial" pitchFamily="2" charset="0"/>
                <a:cs typeface="Questrial" pitchFamily="2" charset="0"/>
              </a:rPr>
              <a:t>Simone D’Assisi (0522502038)</a:t>
            </a:r>
            <a:endParaRPr lang="it-IT" sz="1800" b="1" dirty="0">
              <a:latin typeface="Questrial" pitchFamily="2" charset="0"/>
              <a:ea typeface="Questrial" pitchFamily="2" charset="0"/>
              <a:cs typeface="Questrial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86829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5D7B5C-7293-798A-0521-27A7834A9A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ttangolo 6">
            <a:extLst>
              <a:ext uri="{FF2B5EF4-FFF2-40B4-BE49-F238E27FC236}">
                <a16:creationId xmlns:a16="http://schemas.microsoft.com/office/drawing/2014/main" id="{A19786BA-3167-EFB4-138F-67A4056DDAA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CFCF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9C53BA12-FB62-16A2-E515-C2BCC33C877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84600" y="894578"/>
            <a:ext cx="6926400" cy="861428"/>
          </a:xfrm>
        </p:spPr>
        <p:txBody>
          <a:bodyPr>
            <a:noAutofit/>
          </a:bodyPr>
          <a:lstStyle/>
          <a:p>
            <a:pPr algn="l"/>
            <a:r>
              <a:rPr lang="en-US" sz="5400" b="1" dirty="0">
                <a:latin typeface="Questrial" panose="020F0502020204030204" pitchFamily="2" charset="0"/>
                <a:ea typeface="Questrial" panose="020F0502020204030204" pitchFamily="2" charset="0"/>
                <a:cs typeface="Questrial" panose="020F0502020204030204" pitchFamily="2" charset="0"/>
              </a:rPr>
              <a:t>Introduzione</a:t>
            </a:r>
            <a:endParaRPr lang="it-IT" sz="5400" b="1" dirty="0">
              <a:latin typeface="Questrial" panose="020F0502020204030204" pitchFamily="2" charset="0"/>
              <a:ea typeface="Questrial" panose="020F0502020204030204" pitchFamily="2" charset="0"/>
              <a:cs typeface="Questrial" panose="020F0502020204030204" pitchFamily="2" charset="0"/>
            </a:endParaRPr>
          </a:p>
        </p:txBody>
      </p:sp>
      <p:sp>
        <p:nvSpPr>
          <p:cNvPr id="13" name="Sottotitolo 2">
            <a:extLst>
              <a:ext uri="{FF2B5EF4-FFF2-40B4-BE49-F238E27FC236}">
                <a16:creationId xmlns:a16="http://schemas.microsoft.com/office/drawing/2014/main" id="{CBFBE54F-6E3C-EDDB-1702-6BBA7D542886}"/>
              </a:ext>
            </a:extLst>
          </p:cNvPr>
          <p:cNvSpPr txBox="1">
            <a:spLocks/>
          </p:cNvSpPr>
          <p:nvPr/>
        </p:nvSpPr>
        <p:spPr>
          <a:xfrm>
            <a:off x="284600" y="2181465"/>
            <a:ext cx="5278000" cy="302846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it-IT" sz="3200" dirty="0">
                <a:latin typeface="Questrial" pitchFamily="2" charset="0"/>
                <a:ea typeface="Questrial" pitchFamily="2" charset="0"/>
                <a:cs typeface="Questrial" pitchFamily="2" charset="0"/>
              </a:rPr>
              <a:t>I sistemi di raccomandazione moderni si basano spesso sulla </a:t>
            </a:r>
            <a:r>
              <a:rPr lang="it-IT" sz="3200" b="1" dirty="0" err="1">
                <a:latin typeface="Questrial" pitchFamily="2" charset="0"/>
                <a:ea typeface="Questrial" pitchFamily="2" charset="0"/>
                <a:cs typeface="Questrial" pitchFamily="2" charset="0"/>
              </a:rPr>
              <a:t>matrix</a:t>
            </a:r>
            <a:r>
              <a:rPr lang="it-IT" sz="3200" b="1" dirty="0">
                <a:latin typeface="Questrial" pitchFamily="2" charset="0"/>
                <a:ea typeface="Questrial" pitchFamily="2" charset="0"/>
                <a:cs typeface="Questrial" pitchFamily="2" charset="0"/>
              </a:rPr>
              <a:t> </a:t>
            </a:r>
            <a:r>
              <a:rPr lang="it-IT" sz="3200" b="1" dirty="0" err="1">
                <a:latin typeface="Questrial" pitchFamily="2" charset="0"/>
                <a:ea typeface="Questrial" pitchFamily="2" charset="0"/>
                <a:cs typeface="Questrial" pitchFamily="2" charset="0"/>
              </a:rPr>
              <a:t>factorization</a:t>
            </a:r>
            <a:r>
              <a:rPr lang="it-IT" sz="3200" dirty="0">
                <a:latin typeface="Questrial" pitchFamily="2" charset="0"/>
                <a:ea typeface="Questrial" pitchFamily="2" charset="0"/>
                <a:cs typeface="Questrial" pitchFamily="2" charset="0"/>
              </a:rPr>
              <a:t>, cioè sulla decomposizione del rating </a:t>
            </a:r>
            <a:r>
              <a:rPr lang="it-IT" sz="3200" dirty="0" err="1">
                <a:latin typeface="Questrial" pitchFamily="2" charset="0"/>
                <a:ea typeface="Questrial" pitchFamily="2" charset="0"/>
                <a:cs typeface="Questrial" pitchFamily="2" charset="0"/>
              </a:rPr>
              <a:t>matrix</a:t>
            </a:r>
            <a:r>
              <a:rPr lang="it-IT" sz="3200" dirty="0">
                <a:latin typeface="Questrial" pitchFamily="2" charset="0"/>
                <a:ea typeface="Questrial" pitchFamily="2" charset="0"/>
                <a:cs typeface="Questrial" pitchFamily="2" charset="0"/>
              </a:rPr>
              <a:t> </a:t>
            </a:r>
            <a:r>
              <a:rPr lang="it-IT" sz="3200" b="1" dirty="0">
                <a:latin typeface="Questrial" pitchFamily="2" charset="0"/>
                <a:ea typeface="Questrial" pitchFamily="2" charset="0"/>
                <a:cs typeface="Questrial" pitchFamily="2" charset="0"/>
              </a:rPr>
              <a:t>R</a:t>
            </a:r>
            <a:r>
              <a:rPr lang="it-IT" sz="3200" dirty="0">
                <a:latin typeface="Questrial" pitchFamily="2" charset="0"/>
                <a:ea typeface="Questrial" pitchFamily="2" charset="0"/>
                <a:cs typeface="Questrial" pitchFamily="2" charset="0"/>
              </a:rPr>
              <a:t> in due matrici, una matrice </a:t>
            </a:r>
            <a:r>
              <a:rPr lang="it-IT" sz="3200" b="1" dirty="0">
                <a:latin typeface="Questrial" pitchFamily="2" charset="0"/>
                <a:ea typeface="Questrial" pitchFamily="2" charset="0"/>
                <a:cs typeface="Questrial" pitchFamily="2" charset="0"/>
              </a:rPr>
              <a:t>U</a:t>
            </a:r>
            <a:r>
              <a:rPr lang="it-IT" sz="3200" dirty="0">
                <a:latin typeface="Questrial" pitchFamily="2" charset="0"/>
                <a:ea typeface="Questrial" pitchFamily="2" charset="0"/>
                <a:cs typeface="Questrial" pitchFamily="2" charset="0"/>
              </a:rPr>
              <a:t> per gli utenti e una </a:t>
            </a:r>
            <a:r>
              <a:rPr lang="it-IT" sz="3200" b="1" dirty="0">
                <a:latin typeface="Questrial" pitchFamily="2" charset="0"/>
                <a:ea typeface="Questrial" pitchFamily="2" charset="0"/>
                <a:cs typeface="Questrial" pitchFamily="2" charset="0"/>
              </a:rPr>
              <a:t>V</a:t>
            </a:r>
            <a:r>
              <a:rPr lang="it-IT" sz="3200" dirty="0">
                <a:latin typeface="Questrial" pitchFamily="2" charset="0"/>
                <a:ea typeface="Questrial" pitchFamily="2" charset="0"/>
                <a:cs typeface="Questrial" pitchFamily="2" charset="0"/>
              </a:rPr>
              <a:t> per gli item. </a:t>
            </a:r>
          </a:p>
        </p:txBody>
      </p:sp>
    </p:spTree>
    <p:extLst>
      <p:ext uri="{BB962C8B-B14F-4D97-AF65-F5344CB8AC3E}">
        <p14:creationId xmlns:p14="http://schemas.microsoft.com/office/powerpoint/2010/main" val="25610110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419F3E-0B48-A9B8-2916-ABFE0398D8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ttangolo 6">
            <a:extLst>
              <a:ext uri="{FF2B5EF4-FFF2-40B4-BE49-F238E27FC236}">
                <a16:creationId xmlns:a16="http://schemas.microsoft.com/office/drawing/2014/main" id="{9C439B01-8F98-A959-EE47-BE71554E362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CFCF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12" name="Rettangolo con angoli arrotondati 11">
            <a:extLst>
              <a:ext uri="{FF2B5EF4-FFF2-40B4-BE49-F238E27FC236}">
                <a16:creationId xmlns:a16="http://schemas.microsoft.com/office/drawing/2014/main" id="{357FF5A3-ECA2-A511-2709-E8C05A0B7159}"/>
              </a:ext>
            </a:extLst>
          </p:cNvPr>
          <p:cNvSpPr/>
          <p:nvPr/>
        </p:nvSpPr>
        <p:spPr>
          <a:xfrm>
            <a:off x="5847200" y="1921106"/>
            <a:ext cx="7988300" cy="2120900"/>
          </a:xfrm>
          <a:prstGeom prst="roundRect">
            <a:avLst/>
          </a:prstGeom>
          <a:solidFill>
            <a:srgbClr val="FC993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FA2EF7D4-9006-E178-E036-4EDC956D2FB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84600" y="894578"/>
            <a:ext cx="6926400" cy="861428"/>
          </a:xfrm>
        </p:spPr>
        <p:txBody>
          <a:bodyPr>
            <a:noAutofit/>
          </a:bodyPr>
          <a:lstStyle/>
          <a:p>
            <a:pPr algn="l"/>
            <a:r>
              <a:rPr lang="en-US" sz="5400" b="1" dirty="0">
                <a:latin typeface="Questrial" panose="020F0502020204030204" pitchFamily="2" charset="0"/>
                <a:ea typeface="Questrial" panose="020F0502020204030204" pitchFamily="2" charset="0"/>
                <a:cs typeface="Questrial" panose="020F0502020204030204" pitchFamily="2" charset="0"/>
              </a:rPr>
              <a:t>Introduzione</a:t>
            </a:r>
            <a:endParaRPr lang="it-IT" sz="5400" b="1" dirty="0">
              <a:latin typeface="Questrial" panose="020F0502020204030204" pitchFamily="2" charset="0"/>
              <a:ea typeface="Questrial" panose="020F0502020204030204" pitchFamily="2" charset="0"/>
              <a:cs typeface="Questrial" panose="020F0502020204030204" pitchFamily="2" charset="0"/>
            </a:endParaRPr>
          </a:p>
        </p:txBody>
      </p:sp>
      <p:sp>
        <p:nvSpPr>
          <p:cNvPr id="13" name="Sottotitolo 2">
            <a:extLst>
              <a:ext uri="{FF2B5EF4-FFF2-40B4-BE49-F238E27FC236}">
                <a16:creationId xmlns:a16="http://schemas.microsoft.com/office/drawing/2014/main" id="{57770272-ECC2-14ED-3119-2FECB823E874}"/>
              </a:ext>
            </a:extLst>
          </p:cNvPr>
          <p:cNvSpPr txBox="1">
            <a:spLocks/>
          </p:cNvSpPr>
          <p:nvPr/>
        </p:nvSpPr>
        <p:spPr>
          <a:xfrm>
            <a:off x="284600" y="2181465"/>
            <a:ext cx="5278000" cy="302846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it-IT" sz="3200" dirty="0">
                <a:latin typeface="Questrial" pitchFamily="2" charset="0"/>
                <a:ea typeface="Questrial" pitchFamily="2" charset="0"/>
                <a:cs typeface="Questrial" pitchFamily="2" charset="0"/>
              </a:rPr>
              <a:t>I sistemi di raccomandazione moderni si basano spesso sulla </a:t>
            </a:r>
            <a:r>
              <a:rPr lang="it-IT" sz="3200" b="1" dirty="0" err="1">
                <a:latin typeface="Questrial" pitchFamily="2" charset="0"/>
                <a:ea typeface="Questrial" pitchFamily="2" charset="0"/>
                <a:cs typeface="Questrial" pitchFamily="2" charset="0"/>
              </a:rPr>
              <a:t>matrix</a:t>
            </a:r>
            <a:r>
              <a:rPr lang="it-IT" sz="3200" b="1" dirty="0">
                <a:latin typeface="Questrial" pitchFamily="2" charset="0"/>
                <a:ea typeface="Questrial" pitchFamily="2" charset="0"/>
                <a:cs typeface="Questrial" pitchFamily="2" charset="0"/>
              </a:rPr>
              <a:t> </a:t>
            </a:r>
            <a:r>
              <a:rPr lang="it-IT" sz="3200" b="1" dirty="0" err="1">
                <a:latin typeface="Questrial" pitchFamily="2" charset="0"/>
                <a:ea typeface="Questrial" pitchFamily="2" charset="0"/>
                <a:cs typeface="Questrial" pitchFamily="2" charset="0"/>
              </a:rPr>
              <a:t>factorization</a:t>
            </a:r>
            <a:r>
              <a:rPr lang="it-IT" sz="3200" dirty="0">
                <a:latin typeface="Questrial" pitchFamily="2" charset="0"/>
                <a:ea typeface="Questrial" pitchFamily="2" charset="0"/>
                <a:cs typeface="Questrial" pitchFamily="2" charset="0"/>
              </a:rPr>
              <a:t>, cioè sulla decomposizione del rating </a:t>
            </a:r>
            <a:r>
              <a:rPr lang="it-IT" sz="3200" dirty="0" err="1">
                <a:latin typeface="Questrial" pitchFamily="2" charset="0"/>
                <a:ea typeface="Questrial" pitchFamily="2" charset="0"/>
                <a:cs typeface="Questrial" pitchFamily="2" charset="0"/>
              </a:rPr>
              <a:t>matrix</a:t>
            </a:r>
            <a:r>
              <a:rPr lang="it-IT" sz="3200" dirty="0">
                <a:latin typeface="Questrial" pitchFamily="2" charset="0"/>
                <a:ea typeface="Questrial" pitchFamily="2" charset="0"/>
                <a:cs typeface="Questrial" pitchFamily="2" charset="0"/>
              </a:rPr>
              <a:t> </a:t>
            </a:r>
            <a:r>
              <a:rPr lang="it-IT" sz="3200" b="1" dirty="0">
                <a:latin typeface="Questrial" pitchFamily="2" charset="0"/>
                <a:ea typeface="Questrial" pitchFamily="2" charset="0"/>
                <a:cs typeface="Questrial" pitchFamily="2" charset="0"/>
              </a:rPr>
              <a:t>R</a:t>
            </a:r>
            <a:r>
              <a:rPr lang="it-IT" sz="3200" dirty="0">
                <a:latin typeface="Questrial" pitchFamily="2" charset="0"/>
                <a:ea typeface="Questrial" pitchFamily="2" charset="0"/>
                <a:cs typeface="Questrial" pitchFamily="2" charset="0"/>
              </a:rPr>
              <a:t> in due matrici, una matrice </a:t>
            </a:r>
            <a:r>
              <a:rPr lang="it-IT" sz="3200" b="1" dirty="0">
                <a:latin typeface="Questrial" pitchFamily="2" charset="0"/>
                <a:ea typeface="Questrial" pitchFamily="2" charset="0"/>
                <a:cs typeface="Questrial" pitchFamily="2" charset="0"/>
              </a:rPr>
              <a:t>U</a:t>
            </a:r>
            <a:r>
              <a:rPr lang="it-IT" sz="3200" dirty="0">
                <a:latin typeface="Questrial" pitchFamily="2" charset="0"/>
                <a:ea typeface="Questrial" pitchFamily="2" charset="0"/>
                <a:cs typeface="Questrial" pitchFamily="2" charset="0"/>
              </a:rPr>
              <a:t> per gli utenti e una </a:t>
            </a:r>
            <a:r>
              <a:rPr lang="it-IT" sz="3200" b="1" dirty="0">
                <a:latin typeface="Questrial" pitchFamily="2" charset="0"/>
                <a:ea typeface="Questrial" pitchFamily="2" charset="0"/>
                <a:cs typeface="Questrial" pitchFamily="2" charset="0"/>
              </a:rPr>
              <a:t>V</a:t>
            </a:r>
            <a:r>
              <a:rPr lang="it-IT" sz="3200" dirty="0">
                <a:latin typeface="Questrial" pitchFamily="2" charset="0"/>
                <a:ea typeface="Questrial" pitchFamily="2" charset="0"/>
                <a:cs typeface="Questrial" pitchFamily="2" charset="0"/>
              </a:rPr>
              <a:t> per gli item. </a:t>
            </a:r>
          </a:p>
        </p:txBody>
      </p:sp>
      <p:sp>
        <p:nvSpPr>
          <p:cNvPr id="8" name="Sottotitolo 2">
            <a:extLst>
              <a:ext uri="{FF2B5EF4-FFF2-40B4-BE49-F238E27FC236}">
                <a16:creationId xmlns:a16="http://schemas.microsoft.com/office/drawing/2014/main" id="{2BEA38A4-B975-9AE1-14E0-ECBCD2FCBE10}"/>
              </a:ext>
            </a:extLst>
          </p:cNvPr>
          <p:cNvSpPr txBox="1">
            <a:spLocks/>
          </p:cNvSpPr>
          <p:nvPr/>
        </p:nvSpPr>
        <p:spPr>
          <a:xfrm>
            <a:off x="6131800" y="2181465"/>
            <a:ext cx="5775600" cy="302846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it-IT" sz="3200" dirty="0">
                <a:solidFill>
                  <a:srgbClr val="FCFCFC"/>
                </a:solidFill>
                <a:latin typeface="Questrial" pitchFamily="2" charset="0"/>
                <a:ea typeface="Questrial" pitchFamily="2" charset="0"/>
                <a:cs typeface="Questrial" pitchFamily="2" charset="0"/>
              </a:rPr>
              <a:t>1. Riduzione della dimensionalità del problema.</a:t>
            </a:r>
          </a:p>
        </p:txBody>
      </p:sp>
    </p:spTree>
    <p:extLst>
      <p:ext uri="{BB962C8B-B14F-4D97-AF65-F5344CB8AC3E}">
        <p14:creationId xmlns:p14="http://schemas.microsoft.com/office/powerpoint/2010/main" val="216101228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A2C9F8-B8C7-03B8-4E65-0ABF38AC3A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ttangolo 6">
            <a:extLst>
              <a:ext uri="{FF2B5EF4-FFF2-40B4-BE49-F238E27FC236}">
                <a16:creationId xmlns:a16="http://schemas.microsoft.com/office/drawing/2014/main" id="{14B6AF44-A6A5-66D0-317F-253CD02C38B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CFCF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12" name="Rettangolo con angoli arrotondati 11">
            <a:extLst>
              <a:ext uri="{FF2B5EF4-FFF2-40B4-BE49-F238E27FC236}">
                <a16:creationId xmlns:a16="http://schemas.microsoft.com/office/drawing/2014/main" id="{11372827-8FBD-0FE7-21CE-370A380877F0}"/>
              </a:ext>
            </a:extLst>
          </p:cNvPr>
          <p:cNvSpPr/>
          <p:nvPr/>
        </p:nvSpPr>
        <p:spPr>
          <a:xfrm>
            <a:off x="5847200" y="1921106"/>
            <a:ext cx="7988300" cy="2120900"/>
          </a:xfrm>
          <a:prstGeom prst="roundRect">
            <a:avLst/>
          </a:prstGeom>
          <a:solidFill>
            <a:srgbClr val="667C6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B6BCBF52-8B10-5E45-3047-80E6AEF2EE0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84600" y="894578"/>
            <a:ext cx="6926400" cy="861428"/>
          </a:xfrm>
        </p:spPr>
        <p:txBody>
          <a:bodyPr>
            <a:noAutofit/>
          </a:bodyPr>
          <a:lstStyle/>
          <a:p>
            <a:pPr algn="l"/>
            <a:r>
              <a:rPr lang="en-US" sz="5400" b="1" dirty="0">
                <a:latin typeface="Questrial" panose="020F0502020204030204" pitchFamily="2" charset="0"/>
                <a:ea typeface="Questrial" panose="020F0502020204030204" pitchFamily="2" charset="0"/>
                <a:cs typeface="Questrial" panose="020F0502020204030204" pitchFamily="2" charset="0"/>
              </a:rPr>
              <a:t>Introduzione</a:t>
            </a:r>
            <a:endParaRPr lang="it-IT" sz="5400" b="1" dirty="0">
              <a:latin typeface="Questrial" panose="020F0502020204030204" pitchFamily="2" charset="0"/>
              <a:ea typeface="Questrial" panose="020F0502020204030204" pitchFamily="2" charset="0"/>
              <a:cs typeface="Questrial" panose="020F0502020204030204" pitchFamily="2" charset="0"/>
            </a:endParaRPr>
          </a:p>
        </p:txBody>
      </p:sp>
      <p:sp>
        <p:nvSpPr>
          <p:cNvPr id="13" name="Sottotitolo 2">
            <a:extLst>
              <a:ext uri="{FF2B5EF4-FFF2-40B4-BE49-F238E27FC236}">
                <a16:creationId xmlns:a16="http://schemas.microsoft.com/office/drawing/2014/main" id="{F28B6492-41B9-58A1-EB9F-B975A9E2D393}"/>
              </a:ext>
            </a:extLst>
          </p:cNvPr>
          <p:cNvSpPr txBox="1">
            <a:spLocks/>
          </p:cNvSpPr>
          <p:nvPr/>
        </p:nvSpPr>
        <p:spPr>
          <a:xfrm>
            <a:off x="284600" y="2181465"/>
            <a:ext cx="5278000" cy="401613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it-IT" sz="3200" dirty="0">
                <a:latin typeface="Questrial" pitchFamily="2" charset="0"/>
                <a:ea typeface="Questrial" pitchFamily="2" charset="0"/>
                <a:cs typeface="Questrial" pitchFamily="2" charset="0"/>
              </a:rPr>
              <a:t>I sistemi di raccomandazione moderni si basano spesso sulla </a:t>
            </a:r>
            <a:r>
              <a:rPr lang="it-IT" sz="3200" b="1" dirty="0" err="1">
                <a:latin typeface="Questrial" pitchFamily="2" charset="0"/>
                <a:ea typeface="Questrial" pitchFamily="2" charset="0"/>
                <a:cs typeface="Questrial" pitchFamily="2" charset="0"/>
              </a:rPr>
              <a:t>matrix</a:t>
            </a:r>
            <a:r>
              <a:rPr lang="it-IT" sz="3200" b="1" dirty="0">
                <a:latin typeface="Questrial" pitchFamily="2" charset="0"/>
                <a:ea typeface="Questrial" pitchFamily="2" charset="0"/>
                <a:cs typeface="Questrial" pitchFamily="2" charset="0"/>
              </a:rPr>
              <a:t> </a:t>
            </a:r>
            <a:r>
              <a:rPr lang="it-IT" sz="3200" b="1" dirty="0" err="1">
                <a:latin typeface="Questrial" pitchFamily="2" charset="0"/>
                <a:ea typeface="Questrial" pitchFamily="2" charset="0"/>
                <a:cs typeface="Questrial" pitchFamily="2" charset="0"/>
              </a:rPr>
              <a:t>factorization</a:t>
            </a:r>
            <a:r>
              <a:rPr lang="it-IT" sz="3200" dirty="0">
                <a:latin typeface="Questrial" pitchFamily="2" charset="0"/>
                <a:ea typeface="Questrial" pitchFamily="2" charset="0"/>
                <a:cs typeface="Questrial" pitchFamily="2" charset="0"/>
              </a:rPr>
              <a:t>, cioè sulla decomposizione del rating </a:t>
            </a:r>
            <a:r>
              <a:rPr lang="it-IT" sz="3200" dirty="0" err="1">
                <a:latin typeface="Questrial" pitchFamily="2" charset="0"/>
                <a:ea typeface="Questrial" pitchFamily="2" charset="0"/>
                <a:cs typeface="Questrial" pitchFamily="2" charset="0"/>
              </a:rPr>
              <a:t>matrix</a:t>
            </a:r>
            <a:r>
              <a:rPr lang="it-IT" sz="3200" dirty="0">
                <a:latin typeface="Questrial" pitchFamily="2" charset="0"/>
                <a:ea typeface="Questrial" pitchFamily="2" charset="0"/>
                <a:cs typeface="Questrial" pitchFamily="2" charset="0"/>
              </a:rPr>
              <a:t> </a:t>
            </a:r>
            <a:r>
              <a:rPr lang="it-IT" sz="3200" b="1" dirty="0">
                <a:latin typeface="Questrial" pitchFamily="2" charset="0"/>
                <a:ea typeface="Questrial" pitchFamily="2" charset="0"/>
                <a:cs typeface="Questrial" pitchFamily="2" charset="0"/>
              </a:rPr>
              <a:t>R</a:t>
            </a:r>
            <a:r>
              <a:rPr lang="it-IT" sz="3200" dirty="0">
                <a:latin typeface="Questrial" pitchFamily="2" charset="0"/>
                <a:ea typeface="Questrial" pitchFamily="2" charset="0"/>
                <a:cs typeface="Questrial" pitchFamily="2" charset="0"/>
              </a:rPr>
              <a:t> in due matrici, una matrice </a:t>
            </a:r>
            <a:r>
              <a:rPr lang="it-IT" sz="3200" b="1" dirty="0">
                <a:latin typeface="Questrial" pitchFamily="2" charset="0"/>
                <a:ea typeface="Questrial" pitchFamily="2" charset="0"/>
                <a:cs typeface="Questrial" pitchFamily="2" charset="0"/>
              </a:rPr>
              <a:t>U</a:t>
            </a:r>
            <a:r>
              <a:rPr lang="it-IT" sz="3200" dirty="0">
                <a:latin typeface="Questrial" pitchFamily="2" charset="0"/>
                <a:ea typeface="Questrial" pitchFamily="2" charset="0"/>
                <a:cs typeface="Questrial" pitchFamily="2" charset="0"/>
              </a:rPr>
              <a:t> per gli utenti e una </a:t>
            </a:r>
            <a:r>
              <a:rPr lang="it-IT" sz="3200" b="1" dirty="0">
                <a:latin typeface="Questrial" pitchFamily="2" charset="0"/>
                <a:ea typeface="Questrial" pitchFamily="2" charset="0"/>
                <a:cs typeface="Questrial" pitchFamily="2" charset="0"/>
              </a:rPr>
              <a:t>V</a:t>
            </a:r>
            <a:r>
              <a:rPr lang="it-IT" sz="3200" dirty="0">
                <a:latin typeface="Questrial" pitchFamily="2" charset="0"/>
                <a:ea typeface="Questrial" pitchFamily="2" charset="0"/>
                <a:cs typeface="Questrial" pitchFamily="2" charset="0"/>
              </a:rPr>
              <a:t> per gli item. </a:t>
            </a:r>
          </a:p>
        </p:txBody>
      </p:sp>
      <p:sp>
        <p:nvSpPr>
          <p:cNvPr id="8" name="Sottotitolo 2">
            <a:extLst>
              <a:ext uri="{FF2B5EF4-FFF2-40B4-BE49-F238E27FC236}">
                <a16:creationId xmlns:a16="http://schemas.microsoft.com/office/drawing/2014/main" id="{3DD25FA1-3177-6DBD-EC7C-32D10423EA55}"/>
              </a:ext>
            </a:extLst>
          </p:cNvPr>
          <p:cNvSpPr txBox="1">
            <a:spLocks/>
          </p:cNvSpPr>
          <p:nvPr/>
        </p:nvSpPr>
        <p:spPr>
          <a:xfrm>
            <a:off x="6131800" y="2181465"/>
            <a:ext cx="5775600" cy="95362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it-IT" sz="3200" dirty="0">
                <a:solidFill>
                  <a:srgbClr val="FCFCFC"/>
                </a:solidFill>
                <a:latin typeface="Questrial" pitchFamily="2" charset="0"/>
                <a:ea typeface="Questrial" pitchFamily="2" charset="0"/>
                <a:cs typeface="Questrial" pitchFamily="2" charset="0"/>
              </a:rPr>
              <a:t>1. Riduzione della dimensionalità del problema.</a:t>
            </a:r>
          </a:p>
        </p:txBody>
      </p:sp>
      <p:sp>
        <p:nvSpPr>
          <p:cNvPr id="3" name="Rettangolo con angoli arrotondati 2">
            <a:extLst>
              <a:ext uri="{FF2B5EF4-FFF2-40B4-BE49-F238E27FC236}">
                <a16:creationId xmlns:a16="http://schemas.microsoft.com/office/drawing/2014/main" id="{E7D4D374-A34B-427E-C503-431F61C14171}"/>
              </a:ext>
            </a:extLst>
          </p:cNvPr>
          <p:cNvSpPr/>
          <p:nvPr/>
        </p:nvSpPr>
        <p:spPr>
          <a:xfrm>
            <a:off x="5847200" y="4260614"/>
            <a:ext cx="7988300" cy="2120900"/>
          </a:xfrm>
          <a:prstGeom prst="roundRect">
            <a:avLst/>
          </a:prstGeom>
          <a:solidFill>
            <a:srgbClr val="FC993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4" name="Sottotitolo 2">
            <a:extLst>
              <a:ext uri="{FF2B5EF4-FFF2-40B4-BE49-F238E27FC236}">
                <a16:creationId xmlns:a16="http://schemas.microsoft.com/office/drawing/2014/main" id="{CA242EAA-0D7E-D189-B81C-770063C8B824}"/>
              </a:ext>
            </a:extLst>
          </p:cNvPr>
          <p:cNvSpPr txBox="1">
            <a:spLocks/>
          </p:cNvSpPr>
          <p:nvPr/>
        </p:nvSpPr>
        <p:spPr>
          <a:xfrm>
            <a:off x="6131800" y="4448877"/>
            <a:ext cx="5775600" cy="174872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it-IT" sz="2800" dirty="0">
                <a:solidFill>
                  <a:srgbClr val="FCFCFC"/>
                </a:solidFill>
                <a:latin typeface="Questrial" pitchFamily="2" charset="0"/>
                <a:ea typeface="Questrial" pitchFamily="2" charset="0"/>
                <a:cs typeface="Questrial" pitchFamily="2" charset="0"/>
              </a:rPr>
              <a:t>2. Predizione dei rating mancanti tramite i fattori latenti, che rappresentano caratteristiche non osservate direttamente.</a:t>
            </a:r>
          </a:p>
        </p:txBody>
      </p:sp>
    </p:spTree>
    <p:extLst>
      <p:ext uri="{BB962C8B-B14F-4D97-AF65-F5344CB8AC3E}">
        <p14:creationId xmlns:p14="http://schemas.microsoft.com/office/powerpoint/2010/main" val="18917060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F2D6B9-008C-7178-B322-B96CC663F7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ttangolo 6">
            <a:extLst>
              <a:ext uri="{FF2B5EF4-FFF2-40B4-BE49-F238E27FC236}">
                <a16:creationId xmlns:a16="http://schemas.microsoft.com/office/drawing/2014/main" id="{AF50C260-BB33-6ED1-ABBF-BBD384B09D9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CFCF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3" name="Rettangolo con angoli arrotondati 2">
            <a:extLst>
              <a:ext uri="{FF2B5EF4-FFF2-40B4-BE49-F238E27FC236}">
                <a16:creationId xmlns:a16="http://schemas.microsoft.com/office/drawing/2014/main" id="{798FD0F2-5BB0-2B0D-B7FF-6E629EDFBB2A}"/>
              </a:ext>
            </a:extLst>
          </p:cNvPr>
          <p:cNvSpPr/>
          <p:nvPr/>
        </p:nvSpPr>
        <p:spPr>
          <a:xfrm>
            <a:off x="-1422400" y="323849"/>
            <a:ext cx="7683743" cy="7673521"/>
          </a:xfrm>
          <a:prstGeom prst="roundRect">
            <a:avLst/>
          </a:prstGeom>
          <a:solidFill>
            <a:srgbClr val="667C6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E3D63DEE-3205-DFBE-1D25-E6235834FC3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84600" y="894578"/>
            <a:ext cx="3968086" cy="861428"/>
          </a:xfrm>
        </p:spPr>
        <p:txBody>
          <a:bodyPr>
            <a:noAutofit/>
          </a:bodyPr>
          <a:lstStyle/>
          <a:p>
            <a:pPr algn="l"/>
            <a:r>
              <a:rPr lang="en-US" sz="5400" b="1" dirty="0" err="1">
                <a:solidFill>
                  <a:srgbClr val="FCFCFC"/>
                </a:solidFill>
                <a:latin typeface="Questrial" panose="020F0502020204030204" pitchFamily="2" charset="0"/>
                <a:ea typeface="Questrial" panose="020F0502020204030204" pitchFamily="2" charset="0"/>
                <a:cs typeface="Questrial" panose="020F0502020204030204" pitchFamily="2" charset="0"/>
              </a:rPr>
              <a:t>Modello</a:t>
            </a:r>
            <a:endParaRPr lang="it-IT" sz="5400" b="1" dirty="0">
              <a:solidFill>
                <a:srgbClr val="FCFCFC"/>
              </a:solidFill>
              <a:latin typeface="Questrial" panose="020F0502020204030204" pitchFamily="2" charset="0"/>
              <a:ea typeface="Questrial" panose="020F0502020204030204" pitchFamily="2" charset="0"/>
              <a:cs typeface="Questrial" panose="020F0502020204030204" pitchFamily="2" charset="0"/>
            </a:endParaRPr>
          </a:p>
        </p:txBody>
      </p:sp>
      <p:sp>
        <p:nvSpPr>
          <p:cNvPr id="13" name="Sottotitolo 2">
            <a:extLst>
              <a:ext uri="{FF2B5EF4-FFF2-40B4-BE49-F238E27FC236}">
                <a16:creationId xmlns:a16="http://schemas.microsoft.com/office/drawing/2014/main" id="{532F9ABA-FCF0-82B9-5368-E216C23A1CC0}"/>
              </a:ext>
            </a:extLst>
          </p:cNvPr>
          <p:cNvSpPr txBox="1">
            <a:spLocks/>
          </p:cNvSpPr>
          <p:nvPr/>
        </p:nvSpPr>
        <p:spPr>
          <a:xfrm>
            <a:off x="284599" y="2181464"/>
            <a:ext cx="5390487" cy="149064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it-IT" sz="3200" dirty="0">
                <a:solidFill>
                  <a:srgbClr val="FCFCFC"/>
                </a:solidFill>
                <a:latin typeface="Questrial" pitchFamily="2" charset="0"/>
                <a:ea typeface="Questrial" pitchFamily="2" charset="0"/>
                <a:cs typeface="Questrial" pitchFamily="2" charset="0"/>
              </a:rPr>
              <a:t>La predizione del rating di un utente </a:t>
            </a:r>
            <a:r>
              <a:rPr lang="it-IT" sz="3200" i="1" dirty="0">
                <a:solidFill>
                  <a:srgbClr val="FCFCFC"/>
                </a:solidFill>
                <a:latin typeface="Questrial" pitchFamily="2" charset="0"/>
                <a:ea typeface="Questrial" pitchFamily="2" charset="0"/>
                <a:cs typeface="Questrial" pitchFamily="2" charset="0"/>
              </a:rPr>
              <a:t>u </a:t>
            </a:r>
            <a:r>
              <a:rPr lang="it-IT" sz="3200" dirty="0">
                <a:solidFill>
                  <a:srgbClr val="FCFCFC"/>
                </a:solidFill>
                <a:latin typeface="Questrial" pitchFamily="2" charset="0"/>
                <a:ea typeface="Questrial" pitchFamily="2" charset="0"/>
                <a:cs typeface="Questrial" pitchFamily="2" charset="0"/>
              </a:rPr>
              <a:t>su un prodotto </a:t>
            </a:r>
            <a:r>
              <a:rPr lang="it-IT" sz="3200" i="1" dirty="0">
                <a:solidFill>
                  <a:srgbClr val="FCFCFC"/>
                </a:solidFill>
                <a:latin typeface="Questrial" pitchFamily="2" charset="0"/>
                <a:ea typeface="Questrial" pitchFamily="2" charset="0"/>
                <a:cs typeface="Questrial" pitchFamily="2" charset="0"/>
              </a:rPr>
              <a:t>v</a:t>
            </a:r>
            <a:r>
              <a:rPr lang="it-IT" sz="3200" dirty="0">
                <a:solidFill>
                  <a:srgbClr val="FCFCFC"/>
                </a:solidFill>
                <a:latin typeface="Questrial" pitchFamily="2" charset="0"/>
                <a:ea typeface="Questrial" pitchFamily="2" charset="0"/>
                <a:cs typeface="Questrial" pitchFamily="2" charset="0"/>
              </a:rPr>
              <a:t> è data da: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Sottotitolo 2">
                <a:extLst>
                  <a:ext uri="{FF2B5EF4-FFF2-40B4-BE49-F238E27FC236}">
                    <a16:creationId xmlns:a16="http://schemas.microsoft.com/office/drawing/2014/main" id="{67EC5689-C4A5-CC49-EF1D-209C718FCEF2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84599" y="3774408"/>
                <a:ext cx="5390487" cy="666964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Autofit/>
              </a:bodyPr>
              <a:lstStyle>
                <a:lvl1pPr marL="0" indent="0" algn="ctr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None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sz="4000" b="0" i="1" smtClean="0">
                              <a:solidFill>
                                <a:srgbClr val="FCFCFC"/>
                              </a:solidFill>
                              <a:latin typeface="Cambria Math" panose="02040503050406030204" pitchFamily="18" charset="0"/>
                              <a:ea typeface="Questrial" pitchFamily="2" charset="0"/>
                              <a:cs typeface="Questrial" pitchFamily="2" charset="0"/>
                            </a:rPr>
                          </m:ctrlPr>
                        </m:accPr>
                        <m:e>
                          <m:r>
                            <a:rPr lang="en-US" sz="4000" b="0" i="1" smtClean="0">
                              <a:solidFill>
                                <a:srgbClr val="FCFCFC"/>
                              </a:solidFill>
                              <a:latin typeface="Cambria Math" panose="02040503050406030204" pitchFamily="18" charset="0"/>
                              <a:ea typeface="Questrial" pitchFamily="2" charset="0"/>
                              <a:cs typeface="Questrial" pitchFamily="2" charset="0"/>
                            </a:rPr>
                            <m:t>𝑟</m:t>
                          </m:r>
                        </m:e>
                      </m:acc>
                      <m:r>
                        <a:rPr lang="en-US" sz="4000" b="0" i="1" smtClean="0">
                          <a:solidFill>
                            <a:srgbClr val="FCFCFC"/>
                          </a:solidFill>
                          <a:latin typeface="Cambria Math" panose="02040503050406030204" pitchFamily="18" charset="0"/>
                          <a:ea typeface="Questrial" pitchFamily="2" charset="0"/>
                          <a:cs typeface="Questrial" pitchFamily="2" charset="0"/>
                        </a:rPr>
                        <m:t>=</m:t>
                      </m:r>
                      <m:sSub>
                        <m:sSubPr>
                          <m:ctrlPr>
                            <a:rPr lang="en-US" sz="4000" b="0" i="1" smtClean="0">
                              <a:solidFill>
                                <a:srgbClr val="FCFCFC"/>
                              </a:solidFill>
                              <a:latin typeface="Cambria Math" panose="02040503050406030204" pitchFamily="18" charset="0"/>
                              <a:ea typeface="Questrial" pitchFamily="2" charset="0"/>
                              <a:cs typeface="Questrial" pitchFamily="2" charset="0"/>
                            </a:rPr>
                          </m:ctrlPr>
                        </m:sSubPr>
                        <m:e>
                          <m:r>
                            <a:rPr lang="en-US" sz="4000" b="0" i="1" smtClean="0">
                              <a:solidFill>
                                <a:srgbClr val="FCFCFC"/>
                              </a:solidFill>
                              <a:latin typeface="Cambria Math" panose="02040503050406030204" pitchFamily="18" charset="0"/>
                              <a:ea typeface="Questrial" pitchFamily="2" charset="0"/>
                              <a:cs typeface="Questrial" pitchFamily="2" charset="0"/>
                            </a:rPr>
                            <m:t>𝑢</m:t>
                          </m:r>
                        </m:e>
                        <m:sub>
                          <m:r>
                            <a:rPr lang="en-US" sz="4000" b="0" i="1" smtClean="0">
                              <a:solidFill>
                                <a:srgbClr val="FCFCFC"/>
                              </a:solidFill>
                              <a:latin typeface="Cambria Math" panose="02040503050406030204" pitchFamily="18" charset="0"/>
                              <a:ea typeface="Questrial" pitchFamily="2" charset="0"/>
                              <a:cs typeface="Questrial" pitchFamily="2" charset="0"/>
                            </a:rPr>
                            <m:t>𝑘</m:t>
                          </m:r>
                        </m:sub>
                      </m:sSub>
                      <m:r>
                        <a:rPr lang="en-US" sz="4000" b="0" i="1" smtClean="0">
                          <a:solidFill>
                            <a:srgbClr val="FCFCFC"/>
                          </a:solidFill>
                          <a:latin typeface="Cambria Math" panose="02040503050406030204" pitchFamily="18" charset="0"/>
                          <a:ea typeface="Questrial" pitchFamily="2" charset="0"/>
                          <a:cs typeface="Questrial" pitchFamily="2" charset="0"/>
                        </a:rPr>
                        <m:t>⋅</m:t>
                      </m:r>
                      <m:sSub>
                        <m:sSubPr>
                          <m:ctrlPr>
                            <a:rPr lang="en-US" sz="4000" b="0" i="1" smtClean="0">
                              <a:solidFill>
                                <a:srgbClr val="FCFCFC"/>
                              </a:solidFill>
                              <a:latin typeface="Cambria Math" panose="02040503050406030204" pitchFamily="18" charset="0"/>
                              <a:ea typeface="Questrial" pitchFamily="2" charset="0"/>
                              <a:cs typeface="Questrial" pitchFamily="2" charset="0"/>
                            </a:rPr>
                          </m:ctrlPr>
                        </m:sSubPr>
                        <m:e>
                          <m:r>
                            <a:rPr lang="en-US" sz="4000" b="0" i="1" smtClean="0">
                              <a:solidFill>
                                <a:srgbClr val="FCFCFC"/>
                              </a:solidFill>
                              <a:latin typeface="Cambria Math" panose="02040503050406030204" pitchFamily="18" charset="0"/>
                              <a:ea typeface="Questrial" pitchFamily="2" charset="0"/>
                              <a:cs typeface="Questrial" pitchFamily="2" charset="0"/>
                            </a:rPr>
                            <m:t> </m:t>
                          </m:r>
                          <m:r>
                            <a:rPr lang="en-US" sz="4000" b="0" i="1" smtClean="0">
                              <a:solidFill>
                                <a:srgbClr val="FCFCFC"/>
                              </a:solidFill>
                              <a:latin typeface="Cambria Math" panose="02040503050406030204" pitchFamily="18" charset="0"/>
                              <a:ea typeface="Questrial" pitchFamily="2" charset="0"/>
                              <a:cs typeface="Questrial" pitchFamily="2" charset="0"/>
                            </a:rPr>
                            <m:t>𝑣</m:t>
                          </m:r>
                        </m:e>
                        <m:sub>
                          <m:r>
                            <a:rPr lang="en-US" sz="4000" b="0" i="1" smtClean="0">
                              <a:solidFill>
                                <a:srgbClr val="FCFCFC"/>
                              </a:solidFill>
                              <a:latin typeface="Cambria Math" panose="02040503050406030204" pitchFamily="18" charset="0"/>
                              <a:ea typeface="Questrial" pitchFamily="2" charset="0"/>
                              <a:cs typeface="Questrial" pitchFamily="2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it-IT" sz="4000" dirty="0">
                  <a:solidFill>
                    <a:srgbClr val="FCFCFC"/>
                  </a:solidFill>
                  <a:latin typeface="Questrial" pitchFamily="2" charset="0"/>
                  <a:ea typeface="Questrial" pitchFamily="2" charset="0"/>
                  <a:cs typeface="Questrial" pitchFamily="2" charset="0"/>
                </a:endParaRPr>
              </a:p>
            </p:txBody>
          </p:sp>
        </mc:Choice>
        <mc:Fallback>
          <p:sp>
            <p:nvSpPr>
              <p:cNvPr id="4" name="Sottotitolo 2">
                <a:extLst>
                  <a:ext uri="{FF2B5EF4-FFF2-40B4-BE49-F238E27FC236}">
                    <a16:creationId xmlns:a16="http://schemas.microsoft.com/office/drawing/2014/main" id="{67EC5689-C4A5-CC49-EF1D-209C718FCEF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4599" y="3774408"/>
                <a:ext cx="5390487" cy="66696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Sottotitolo 2">
                <a:extLst>
                  <a:ext uri="{FF2B5EF4-FFF2-40B4-BE49-F238E27FC236}">
                    <a16:creationId xmlns:a16="http://schemas.microsoft.com/office/drawing/2014/main" id="{F3CECE49-A7FD-C3EB-384F-6EC3AB92D5FF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84599" y="4765221"/>
                <a:ext cx="5348514" cy="666964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Autofit/>
              </a:bodyPr>
              <a:lstStyle>
                <a:lvl1pPr marL="0" indent="0" algn="ctr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None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l"/>
                <a14:m>
                  <m:oMath xmlns:m="http://schemas.openxmlformats.org/officeDocument/2006/math">
                    <m:sSub>
                      <m:sSubPr>
                        <m:ctrlPr>
                          <a:rPr lang="en-US" sz="3200" b="0" i="1" smtClean="0">
                            <a:solidFill>
                              <a:srgbClr val="FCFCFC"/>
                            </a:solidFill>
                            <a:latin typeface="Cambria Math" panose="02040503050406030204" pitchFamily="18" charset="0"/>
                            <a:ea typeface="Questrial" pitchFamily="2" charset="0"/>
                            <a:cs typeface="Questrial" pitchFamily="2" charset="0"/>
                          </a:rPr>
                        </m:ctrlPr>
                      </m:sSubPr>
                      <m:e>
                        <m:r>
                          <a:rPr lang="en-US" sz="3200" b="0" i="1" smtClean="0">
                            <a:solidFill>
                              <a:srgbClr val="FCFCFC"/>
                            </a:solidFill>
                            <a:latin typeface="Cambria Math" panose="02040503050406030204" pitchFamily="18" charset="0"/>
                            <a:ea typeface="Questrial" pitchFamily="2" charset="0"/>
                            <a:cs typeface="Questrial" pitchFamily="2" charset="0"/>
                          </a:rPr>
                          <m:t>𝑢</m:t>
                        </m:r>
                      </m:e>
                      <m:sub>
                        <m:r>
                          <a:rPr lang="en-US" sz="3200" b="0" i="1" smtClean="0">
                            <a:solidFill>
                              <a:srgbClr val="FCFCFC"/>
                            </a:solidFill>
                            <a:latin typeface="Cambria Math" panose="02040503050406030204" pitchFamily="18" charset="0"/>
                            <a:ea typeface="Questrial" pitchFamily="2" charset="0"/>
                            <a:cs typeface="Questrial" pitchFamily="2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it-IT" sz="3200" dirty="0">
                    <a:solidFill>
                      <a:srgbClr val="FCFCFC"/>
                    </a:solidFill>
                    <a:latin typeface="Questrial" pitchFamily="2" charset="0"/>
                    <a:ea typeface="Questrial" pitchFamily="2" charset="0"/>
                    <a:cs typeface="Questrial" pitchFamily="2" charset="0"/>
                  </a:rPr>
                  <a:t>:  vettore dei fattori utente</a:t>
                </a:r>
              </a:p>
            </p:txBody>
          </p:sp>
        </mc:Choice>
        <mc:Fallback>
          <p:sp>
            <p:nvSpPr>
              <p:cNvPr id="5" name="Sottotitolo 2">
                <a:extLst>
                  <a:ext uri="{FF2B5EF4-FFF2-40B4-BE49-F238E27FC236}">
                    <a16:creationId xmlns:a16="http://schemas.microsoft.com/office/drawing/2014/main" id="{F3CECE49-A7FD-C3EB-384F-6EC3AB92D5F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4599" y="4765221"/>
                <a:ext cx="5348514" cy="666964"/>
              </a:xfrm>
              <a:prstGeom prst="rect">
                <a:avLst/>
              </a:prstGeom>
              <a:blipFill>
                <a:blip r:embed="rId4"/>
                <a:stretch>
                  <a:fillRect t="-19266" r="-912" b="-10092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Sottotitolo 2">
                <a:extLst>
                  <a:ext uri="{FF2B5EF4-FFF2-40B4-BE49-F238E27FC236}">
                    <a16:creationId xmlns:a16="http://schemas.microsoft.com/office/drawing/2014/main" id="{1729841B-708F-A8C0-7467-876ACC12E1E3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84599" y="5432185"/>
                <a:ext cx="5348514" cy="666964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Autofit/>
              </a:bodyPr>
              <a:lstStyle>
                <a:lvl1pPr marL="0" indent="0" algn="ctr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None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l"/>
                <a14:m>
                  <m:oMath xmlns:m="http://schemas.openxmlformats.org/officeDocument/2006/math">
                    <m:sSub>
                      <m:sSubPr>
                        <m:ctrlPr>
                          <a:rPr lang="en-US" sz="3200" b="0" i="1" smtClean="0">
                            <a:solidFill>
                              <a:srgbClr val="FCFCFC"/>
                            </a:solidFill>
                            <a:latin typeface="Cambria Math" panose="02040503050406030204" pitchFamily="18" charset="0"/>
                            <a:ea typeface="Questrial" pitchFamily="2" charset="0"/>
                            <a:cs typeface="Questrial" pitchFamily="2" charset="0"/>
                          </a:rPr>
                        </m:ctrlPr>
                      </m:sSubPr>
                      <m:e>
                        <m:r>
                          <a:rPr lang="en-US" sz="3200" b="0" i="1" smtClean="0">
                            <a:solidFill>
                              <a:srgbClr val="FCFCFC"/>
                            </a:solidFill>
                            <a:latin typeface="Cambria Math" panose="02040503050406030204" pitchFamily="18" charset="0"/>
                            <a:ea typeface="Questrial" pitchFamily="2" charset="0"/>
                            <a:cs typeface="Questrial" pitchFamily="2" charset="0"/>
                          </a:rPr>
                          <m:t>𝑣</m:t>
                        </m:r>
                      </m:e>
                      <m:sub>
                        <m:r>
                          <a:rPr lang="en-US" sz="3200" b="0" i="1" smtClean="0">
                            <a:solidFill>
                              <a:srgbClr val="FCFCFC"/>
                            </a:solidFill>
                            <a:latin typeface="Cambria Math" panose="02040503050406030204" pitchFamily="18" charset="0"/>
                            <a:ea typeface="Questrial" pitchFamily="2" charset="0"/>
                            <a:cs typeface="Questrial" pitchFamily="2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it-IT" sz="3200" dirty="0">
                    <a:solidFill>
                      <a:srgbClr val="FCFCFC"/>
                    </a:solidFill>
                    <a:latin typeface="Questrial" pitchFamily="2" charset="0"/>
                    <a:ea typeface="Questrial" pitchFamily="2" charset="0"/>
                    <a:cs typeface="Questrial" pitchFamily="2" charset="0"/>
                  </a:rPr>
                  <a:t>:  vettore dei fattori item</a:t>
                </a:r>
              </a:p>
            </p:txBody>
          </p:sp>
        </mc:Choice>
        <mc:Fallback>
          <p:sp>
            <p:nvSpPr>
              <p:cNvPr id="6" name="Sottotitolo 2">
                <a:extLst>
                  <a:ext uri="{FF2B5EF4-FFF2-40B4-BE49-F238E27FC236}">
                    <a16:creationId xmlns:a16="http://schemas.microsoft.com/office/drawing/2014/main" id="{1729841B-708F-A8C0-7467-876ACC12E1E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4599" y="5432185"/>
                <a:ext cx="5348514" cy="666964"/>
              </a:xfrm>
              <a:prstGeom prst="rect">
                <a:avLst/>
              </a:prstGeom>
              <a:blipFill>
                <a:blip r:embed="rId5"/>
                <a:stretch>
                  <a:fillRect t="-19091" b="-9091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Rettangolo con angoli arrotondati 7">
            <a:extLst>
              <a:ext uri="{FF2B5EF4-FFF2-40B4-BE49-F238E27FC236}">
                <a16:creationId xmlns:a16="http://schemas.microsoft.com/office/drawing/2014/main" id="{5C42988F-BF24-F98C-3705-6ECFD30FBAB6}"/>
              </a:ext>
            </a:extLst>
          </p:cNvPr>
          <p:cNvSpPr/>
          <p:nvPr/>
        </p:nvSpPr>
        <p:spPr>
          <a:xfrm>
            <a:off x="6618514" y="1718599"/>
            <a:ext cx="5288887" cy="6278772"/>
          </a:xfrm>
          <a:prstGeom prst="roundRect">
            <a:avLst/>
          </a:prstGeom>
          <a:solidFill>
            <a:srgbClr val="FC993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9" name="Sottotitolo 2">
            <a:extLst>
              <a:ext uri="{FF2B5EF4-FFF2-40B4-BE49-F238E27FC236}">
                <a16:creationId xmlns:a16="http://schemas.microsoft.com/office/drawing/2014/main" id="{2578C9E2-3C1F-7E4A-6F5B-9C39DDF87826}"/>
              </a:ext>
            </a:extLst>
          </p:cNvPr>
          <p:cNvSpPr txBox="1">
            <a:spLocks/>
          </p:cNvSpPr>
          <p:nvPr/>
        </p:nvSpPr>
        <p:spPr>
          <a:xfrm>
            <a:off x="7059629" y="2181464"/>
            <a:ext cx="4493742" cy="96813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3200" dirty="0" err="1">
                <a:solidFill>
                  <a:schemeClr val="bg1"/>
                </a:solidFill>
                <a:latin typeface="Questrial" pitchFamily="2" charset="0"/>
                <a:ea typeface="Questrial" pitchFamily="2" charset="0"/>
                <a:cs typeface="Questrial" pitchFamily="2" charset="0"/>
              </a:rPr>
              <a:t>L’Errore</a:t>
            </a:r>
            <a:r>
              <a:rPr lang="en-US" sz="3200" dirty="0">
                <a:solidFill>
                  <a:schemeClr val="bg1"/>
                </a:solidFill>
                <a:latin typeface="Questrial" pitchFamily="2" charset="0"/>
                <a:ea typeface="Questrial" pitchFamily="2" charset="0"/>
                <a:cs typeface="Questrial" pitchFamily="2" charset="0"/>
              </a:rPr>
              <a:t> </a:t>
            </a:r>
            <a:r>
              <a:rPr lang="en-US" sz="3200" dirty="0" err="1">
                <a:solidFill>
                  <a:schemeClr val="bg1"/>
                </a:solidFill>
                <a:latin typeface="Questrial" pitchFamily="2" charset="0"/>
                <a:ea typeface="Questrial" pitchFamily="2" charset="0"/>
                <a:cs typeface="Questrial" pitchFamily="2" charset="0"/>
              </a:rPr>
              <a:t>sul</a:t>
            </a:r>
            <a:r>
              <a:rPr lang="en-US" sz="3200" dirty="0">
                <a:solidFill>
                  <a:schemeClr val="bg1"/>
                </a:solidFill>
                <a:latin typeface="Questrial" pitchFamily="2" charset="0"/>
                <a:ea typeface="Questrial" pitchFamily="2" charset="0"/>
                <a:cs typeface="Questrial" pitchFamily="2" charset="0"/>
              </a:rPr>
              <a:t> rating </a:t>
            </a:r>
            <a:r>
              <a:rPr lang="en-US" sz="3200" dirty="0" err="1">
                <a:solidFill>
                  <a:schemeClr val="bg1"/>
                </a:solidFill>
                <a:latin typeface="Questrial" pitchFamily="2" charset="0"/>
                <a:ea typeface="Questrial" pitchFamily="2" charset="0"/>
                <a:cs typeface="Questrial" pitchFamily="2" charset="0"/>
              </a:rPr>
              <a:t>osservato</a:t>
            </a:r>
            <a:r>
              <a:rPr lang="en-US" sz="3200" dirty="0">
                <a:solidFill>
                  <a:schemeClr val="bg1"/>
                </a:solidFill>
                <a:latin typeface="Questrial" pitchFamily="2" charset="0"/>
                <a:ea typeface="Questrial" pitchFamily="2" charset="0"/>
                <a:cs typeface="Questrial" pitchFamily="2" charset="0"/>
              </a:rPr>
              <a:t> è pari a:</a:t>
            </a:r>
            <a:endParaRPr lang="it-IT" sz="3200" dirty="0">
              <a:solidFill>
                <a:schemeClr val="bg1"/>
              </a:solidFill>
              <a:latin typeface="Questrial" pitchFamily="2" charset="0"/>
              <a:ea typeface="Questrial" pitchFamily="2" charset="0"/>
              <a:cs typeface="Questrial" pitchFamily="2" charset="0"/>
            </a:endParaRPr>
          </a:p>
        </p:txBody>
      </p:sp>
      <p:sp>
        <p:nvSpPr>
          <p:cNvPr id="10" name="Titolo 1">
            <a:extLst>
              <a:ext uri="{FF2B5EF4-FFF2-40B4-BE49-F238E27FC236}">
                <a16:creationId xmlns:a16="http://schemas.microsoft.com/office/drawing/2014/main" id="{072B07B4-430B-0C71-8FA4-42F4AC540EB5}"/>
              </a:ext>
            </a:extLst>
          </p:cNvPr>
          <p:cNvSpPr txBox="1">
            <a:spLocks/>
          </p:cNvSpPr>
          <p:nvPr/>
        </p:nvSpPr>
        <p:spPr>
          <a:xfrm>
            <a:off x="7059629" y="857170"/>
            <a:ext cx="3968086" cy="861428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5400" b="1" dirty="0" err="1">
                <a:latin typeface="Questrial" panose="020F0502020204030204" pitchFamily="2" charset="0"/>
                <a:ea typeface="Questrial" panose="020F0502020204030204" pitchFamily="2" charset="0"/>
                <a:cs typeface="Questrial" panose="020F0502020204030204" pitchFamily="2" charset="0"/>
              </a:rPr>
              <a:t>Errore</a:t>
            </a:r>
            <a:endParaRPr lang="it-IT" sz="5400" b="1" dirty="0">
              <a:latin typeface="Questrial" panose="020F0502020204030204" pitchFamily="2" charset="0"/>
              <a:ea typeface="Questrial" panose="020F0502020204030204" pitchFamily="2" charset="0"/>
              <a:cs typeface="Questrial" panose="020F0502020204030204" pitchFamily="2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1" name="Sottotitolo 2">
                <a:extLst>
                  <a:ext uri="{FF2B5EF4-FFF2-40B4-BE49-F238E27FC236}">
                    <a16:creationId xmlns:a16="http://schemas.microsoft.com/office/drawing/2014/main" id="{D42E430A-FE23-0F84-8C2D-C5034CDF86F3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801513" y="3672113"/>
                <a:ext cx="5390487" cy="666964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Autofit/>
              </a:bodyPr>
              <a:lstStyle>
                <a:lvl1pPr marL="0" indent="0" algn="ctr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None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4000" b="0" i="1" smtClean="0">
                              <a:solidFill>
                                <a:srgbClr val="FCFCFC"/>
                              </a:solidFill>
                              <a:latin typeface="Cambria Math" panose="02040503050406030204" pitchFamily="18" charset="0"/>
                              <a:ea typeface="Questrial" pitchFamily="2" charset="0"/>
                              <a:cs typeface="Questrial" pitchFamily="2" charset="0"/>
                            </a:rPr>
                          </m:ctrlPr>
                        </m:sSubPr>
                        <m:e>
                          <m:r>
                            <a:rPr lang="en-US" sz="4000" b="0" i="1" smtClean="0">
                              <a:solidFill>
                                <a:srgbClr val="FCFCFC"/>
                              </a:solidFill>
                              <a:latin typeface="Cambria Math" panose="02040503050406030204" pitchFamily="18" charset="0"/>
                              <a:ea typeface="Questrial" pitchFamily="2" charset="0"/>
                              <a:cs typeface="Questrial" pitchFamily="2" charset="0"/>
                            </a:rPr>
                            <m:t>𝑒</m:t>
                          </m:r>
                        </m:e>
                        <m:sub>
                          <m:r>
                            <a:rPr lang="en-US" sz="4000" b="0" i="1" smtClean="0">
                              <a:solidFill>
                                <a:srgbClr val="FCFCFC"/>
                              </a:solidFill>
                              <a:latin typeface="Cambria Math" panose="02040503050406030204" pitchFamily="18" charset="0"/>
                              <a:ea typeface="Questrial" pitchFamily="2" charset="0"/>
                              <a:cs typeface="Questrial" pitchFamily="2" charset="0"/>
                            </a:rPr>
                            <m:t>𝑘𝑖</m:t>
                          </m:r>
                        </m:sub>
                      </m:sSub>
                      <m:r>
                        <a:rPr lang="en-US" sz="4000" b="0" i="1" smtClean="0">
                          <a:solidFill>
                            <a:srgbClr val="FCFCFC"/>
                          </a:solidFill>
                          <a:latin typeface="Cambria Math" panose="02040503050406030204" pitchFamily="18" charset="0"/>
                          <a:ea typeface="Questrial" pitchFamily="2" charset="0"/>
                          <a:cs typeface="Questrial" pitchFamily="2" charset="0"/>
                        </a:rPr>
                        <m:t>=</m:t>
                      </m:r>
                      <m:sSub>
                        <m:sSubPr>
                          <m:ctrlPr>
                            <a:rPr lang="en-US" sz="4000" b="0" i="1" smtClean="0">
                              <a:solidFill>
                                <a:srgbClr val="FCFCFC"/>
                              </a:solidFill>
                              <a:latin typeface="Cambria Math" panose="02040503050406030204" pitchFamily="18" charset="0"/>
                              <a:ea typeface="Questrial" pitchFamily="2" charset="0"/>
                              <a:cs typeface="Questrial" pitchFamily="2" charset="0"/>
                            </a:rPr>
                          </m:ctrlPr>
                        </m:sSubPr>
                        <m:e>
                          <m:r>
                            <a:rPr lang="en-US" sz="4000" b="0" i="1" smtClean="0">
                              <a:solidFill>
                                <a:srgbClr val="FCFCFC"/>
                              </a:solidFill>
                              <a:latin typeface="Cambria Math" panose="02040503050406030204" pitchFamily="18" charset="0"/>
                              <a:ea typeface="Questrial" pitchFamily="2" charset="0"/>
                              <a:cs typeface="Questrial" pitchFamily="2" charset="0"/>
                            </a:rPr>
                            <m:t>𝑟</m:t>
                          </m:r>
                        </m:e>
                        <m:sub>
                          <m:r>
                            <a:rPr lang="en-US" sz="4000" b="0" i="1" smtClean="0">
                              <a:solidFill>
                                <a:srgbClr val="FCFCFC"/>
                              </a:solidFill>
                              <a:latin typeface="Cambria Math" panose="02040503050406030204" pitchFamily="18" charset="0"/>
                              <a:ea typeface="Questrial" pitchFamily="2" charset="0"/>
                              <a:cs typeface="Questrial" pitchFamily="2" charset="0"/>
                            </a:rPr>
                            <m:t>𝑘𝑖</m:t>
                          </m:r>
                        </m:sub>
                      </m:sSub>
                      <m:r>
                        <a:rPr lang="en-US" sz="4000" b="0" i="1" smtClean="0">
                          <a:solidFill>
                            <a:srgbClr val="FCFCFC"/>
                          </a:solidFill>
                          <a:latin typeface="Cambria Math" panose="02040503050406030204" pitchFamily="18" charset="0"/>
                          <a:ea typeface="Questrial" pitchFamily="2" charset="0"/>
                          <a:cs typeface="Questrial" pitchFamily="2" charset="0"/>
                        </a:rPr>
                        <m:t>−</m:t>
                      </m:r>
                      <m:sSub>
                        <m:sSubPr>
                          <m:ctrlPr>
                            <a:rPr lang="en-US" sz="4000" b="0" i="1" smtClean="0">
                              <a:solidFill>
                                <a:srgbClr val="FCFCFC"/>
                              </a:solidFill>
                              <a:latin typeface="Cambria Math" panose="02040503050406030204" pitchFamily="18" charset="0"/>
                              <a:ea typeface="Questrial" pitchFamily="2" charset="0"/>
                              <a:cs typeface="Questrial" pitchFamily="2" charset="0"/>
                            </a:rPr>
                          </m:ctrlPr>
                        </m:sSubPr>
                        <m:e>
                          <m:r>
                            <a:rPr lang="en-US" sz="4000" b="0" i="1" smtClean="0">
                              <a:solidFill>
                                <a:srgbClr val="FCFCFC"/>
                              </a:solidFill>
                              <a:latin typeface="Cambria Math" panose="02040503050406030204" pitchFamily="18" charset="0"/>
                              <a:ea typeface="Questrial" pitchFamily="2" charset="0"/>
                              <a:cs typeface="Questrial" pitchFamily="2" charset="0"/>
                            </a:rPr>
                            <m:t>𝑢</m:t>
                          </m:r>
                        </m:e>
                        <m:sub>
                          <m:r>
                            <a:rPr lang="en-US" sz="4000" b="0" i="1" smtClean="0">
                              <a:solidFill>
                                <a:srgbClr val="FCFCFC"/>
                              </a:solidFill>
                              <a:latin typeface="Cambria Math" panose="02040503050406030204" pitchFamily="18" charset="0"/>
                              <a:ea typeface="Questrial" pitchFamily="2" charset="0"/>
                              <a:cs typeface="Questrial" pitchFamily="2" charset="0"/>
                            </a:rPr>
                            <m:t>𝑘</m:t>
                          </m:r>
                        </m:sub>
                      </m:sSub>
                      <m:r>
                        <a:rPr lang="en-US" sz="4000" b="0" i="1" smtClean="0">
                          <a:solidFill>
                            <a:srgbClr val="FCFCFC"/>
                          </a:solidFill>
                          <a:latin typeface="Cambria Math" panose="02040503050406030204" pitchFamily="18" charset="0"/>
                          <a:ea typeface="Questrial" pitchFamily="2" charset="0"/>
                          <a:cs typeface="Questrial" pitchFamily="2" charset="0"/>
                        </a:rPr>
                        <m:t>⋅</m:t>
                      </m:r>
                      <m:sSub>
                        <m:sSubPr>
                          <m:ctrlPr>
                            <a:rPr lang="en-US" sz="4000" b="0" i="1" smtClean="0">
                              <a:solidFill>
                                <a:srgbClr val="FCFCFC"/>
                              </a:solidFill>
                              <a:latin typeface="Cambria Math" panose="02040503050406030204" pitchFamily="18" charset="0"/>
                              <a:ea typeface="Questrial" pitchFamily="2" charset="0"/>
                              <a:cs typeface="Questrial" pitchFamily="2" charset="0"/>
                            </a:rPr>
                          </m:ctrlPr>
                        </m:sSubPr>
                        <m:e>
                          <m:r>
                            <a:rPr lang="en-US" sz="4000" b="0" i="1" smtClean="0">
                              <a:solidFill>
                                <a:srgbClr val="FCFCFC"/>
                              </a:solidFill>
                              <a:latin typeface="Cambria Math" panose="02040503050406030204" pitchFamily="18" charset="0"/>
                              <a:ea typeface="Questrial" pitchFamily="2" charset="0"/>
                              <a:cs typeface="Questrial" pitchFamily="2" charset="0"/>
                            </a:rPr>
                            <m:t> </m:t>
                          </m:r>
                          <m:r>
                            <a:rPr lang="en-US" sz="4000" b="0" i="1" smtClean="0">
                              <a:solidFill>
                                <a:srgbClr val="FCFCFC"/>
                              </a:solidFill>
                              <a:latin typeface="Cambria Math" panose="02040503050406030204" pitchFamily="18" charset="0"/>
                              <a:ea typeface="Questrial" pitchFamily="2" charset="0"/>
                              <a:cs typeface="Questrial" pitchFamily="2" charset="0"/>
                            </a:rPr>
                            <m:t>𝑣</m:t>
                          </m:r>
                        </m:e>
                        <m:sub>
                          <m:r>
                            <a:rPr lang="en-US" sz="4000" b="0" i="1" smtClean="0">
                              <a:solidFill>
                                <a:srgbClr val="FCFCFC"/>
                              </a:solidFill>
                              <a:latin typeface="Cambria Math" panose="02040503050406030204" pitchFamily="18" charset="0"/>
                              <a:ea typeface="Questrial" pitchFamily="2" charset="0"/>
                              <a:cs typeface="Questrial" pitchFamily="2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it-IT" sz="4000" dirty="0">
                  <a:solidFill>
                    <a:srgbClr val="FCFCFC"/>
                  </a:solidFill>
                  <a:latin typeface="Questrial" pitchFamily="2" charset="0"/>
                  <a:ea typeface="Questrial" pitchFamily="2" charset="0"/>
                  <a:cs typeface="Questrial" pitchFamily="2" charset="0"/>
                </a:endParaRPr>
              </a:p>
              <a:p>
                <a:pPr algn="l"/>
                <a:endParaRPr lang="it-IT" sz="4000" dirty="0">
                  <a:solidFill>
                    <a:srgbClr val="FCFCFC"/>
                  </a:solidFill>
                  <a:latin typeface="Questrial" pitchFamily="2" charset="0"/>
                  <a:ea typeface="Questrial" pitchFamily="2" charset="0"/>
                  <a:cs typeface="Questrial" pitchFamily="2" charset="0"/>
                </a:endParaRPr>
              </a:p>
            </p:txBody>
          </p:sp>
        </mc:Choice>
        <mc:Fallback>
          <p:sp>
            <p:nvSpPr>
              <p:cNvPr id="11" name="Sottotitolo 2">
                <a:extLst>
                  <a:ext uri="{FF2B5EF4-FFF2-40B4-BE49-F238E27FC236}">
                    <a16:creationId xmlns:a16="http://schemas.microsoft.com/office/drawing/2014/main" id="{D42E430A-FE23-0F84-8C2D-C5034CDF86F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01513" y="3672113"/>
                <a:ext cx="5390487" cy="666964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2" name="Sottotitolo 2">
                <a:extLst>
                  <a:ext uri="{FF2B5EF4-FFF2-40B4-BE49-F238E27FC236}">
                    <a16:creationId xmlns:a16="http://schemas.microsoft.com/office/drawing/2014/main" id="{D8C8868A-2DE1-55EA-19D0-A33CE481970C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7059629" y="4723747"/>
                <a:ext cx="4200460" cy="1568844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Autofit/>
              </a:bodyPr>
              <a:lstStyle>
                <a:lvl1pPr marL="0" indent="0" algn="ctr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None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l"/>
                <a14:m>
                  <m:oMath xmlns:m="http://schemas.openxmlformats.org/officeDocument/2006/math">
                    <m:sSub>
                      <m:sSubPr>
                        <m:ctrlPr>
                          <a:rPr lang="en-US" sz="3200" b="0" i="1" smtClean="0">
                            <a:solidFill>
                              <a:srgbClr val="FCFCFC"/>
                            </a:solidFill>
                            <a:latin typeface="Cambria Math" panose="02040503050406030204" pitchFamily="18" charset="0"/>
                            <a:ea typeface="Questrial" pitchFamily="2" charset="0"/>
                            <a:cs typeface="Questrial" pitchFamily="2" charset="0"/>
                          </a:rPr>
                        </m:ctrlPr>
                      </m:sSubPr>
                      <m:e>
                        <m:r>
                          <a:rPr lang="en-US" sz="3200" b="0" i="1" smtClean="0">
                            <a:solidFill>
                              <a:srgbClr val="FCFCFC"/>
                            </a:solidFill>
                            <a:latin typeface="Cambria Math" panose="02040503050406030204" pitchFamily="18" charset="0"/>
                            <a:ea typeface="Questrial" pitchFamily="2" charset="0"/>
                            <a:cs typeface="Questrial" pitchFamily="2" charset="0"/>
                          </a:rPr>
                          <m:t>𝑟</m:t>
                        </m:r>
                      </m:e>
                      <m:sub>
                        <m:r>
                          <a:rPr lang="en-US" sz="3200" b="0" i="1" smtClean="0">
                            <a:solidFill>
                              <a:srgbClr val="FCFCFC"/>
                            </a:solidFill>
                            <a:latin typeface="Cambria Math" panose="02040503050406030204" pitchFamily="18" charset="0"/>
                            <a:ea typeface="Questrial" pitchFamily="2" charset="0"/>
                            <a:cs typeface="Questrial" pitchFamily="2" charset="0"/>
                          </a:rPr>
                          <m:t>𝑘𝑖</m:t>
                        </m:r>
                      </m:sub>
                    </m:sSub>
                  </m:oMath>
                </a14:m>
                <a:r>
                  <a:rPr lang="it-IT" sz="3200" dirty="0">
                    <a:solidFill>
                      <a:srgbClr val="FCFCFC"/>
                    </a:solidFill>
                    <a:latin typeface="Questrial" pitchFamily="2" charset="0"/>
                    <a:ea typeface="Questrial" pitchFamily="2" charset="0"/>
                    <a:cs typeface="Questrial" pitchFamily="2" charset="0"/>
                  </a:rPr>
                  <a:t>:  valutazione dell’utente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3200" b="0" i="1" smtClean="0">
                            <a:solidFill>
                              <a:srgbClr val="FCFCFC"/>
                            </a:solidFill>
                            <a:latin typeface="Cambria Math" panose="02040503050406030204" pitchFamily="18" charset="0"/>
                            <a:ea typeface="Questrial" pitchFamily="2" charset="0"/>
                            <a:cs typeface="Questrial" pitchFamily="2" charset="0"/>
                          </a:rPr>
                        </m:ctrlPr>
                      </m:sSubPr>
                      <m:e>
                        <m:r>
                          <a:rPr lang="en-US" sz="3200" b="0" i="1" smtClean="0">
                            <a:solidFill>
                              <a:srgbClr val="FCFCFC"/>
                            </a:solidFill>
                            <a:latin typeface="Cambria Math" panose="02040503050406030204" pitchFamily="18" charset="0"/>
                            <a:ea typeface="Questrial" pitchFamily="2" charset="0"/>
                            <a:cs typeface="Questrial" pitchFamily="2" charset="0"/>
                          </a:rPr>
                          <m:t>𝑢</m:t>
                        </m:r>
                      </m:e>
                      <m:sub>
                        <m:r>
                          <a:rPr lang="en-US" sz="3200" b="0" i="1" smtClean="0">
                            <a:solidFill>
                              <a:srgbClr val="FCFCFC"/>
                            </a:solidFill>
                            <a:latin typeface="Cambria Math" panose="02040503050406030204" pitchFamily="18" charset="0"/>
                            <a:ea typeface="Questrial" pitchFamily="2" charset="0"/>
                            <a:cs typeface="Questrial" pitchFamily="2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it-IT" sz="3200" dirty="0">
                    <a:solidFill>
                      <a:srgbClr val="FCFCFC"/>
                    </a:solidFill>
                    <a:latin typeface="Questrial" pitchFamily="2" charset="0"/>
                    <a:ea typeface="Questrial" pitchFamily="2" charset="0"/>
                    <a:cs typeface="Questrial" pitchFamily="2" charset="0"/>
                  </a:rPr>
                  <a:t> sull’item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3200" b="0" i="1" smtClean="0">
                            <a:solidFill>
                              <a:srgbClr val="FCFCFC"/>
                            </a:solidFill>
                            <a:latin typeface="Cambria Math" panose="02040503050406030204" pitchFamily="18" charset="0"/>
                            <a:ea typeface="Questrial" pitchFamily="2" charset="0"/>
                            <a:cs typeface="Questrial" pitchFamily="2" charset="0"/>
                          </a:rPr>
                        </m:ctrlPr>
                      </m:sSubPr>
                      <m:e>
                        <m:r>
                          <a:rPr lang="en-US" sz="3200" b="0" i="1" smtClean="0">
                            <a:solidFill>
                              <a:srgbClr val="FCFCFC"/>
                            </a:solidFill>
                            <a:latin typeface="Cambria Math" panose="02040503050406030204" pitchFamily="18" charset="0"/>
                            <a:ea typeface="Questrial" pitchFamily="2" charset="0"/>
                            <a:cs typeface="Questrial" pitchFamily="2" charset="0"/>
                          </a:rPr>
                          <m:t>𝑣</m:t>
                        </m:r>
                      </m:e>
                      <m:sub>
                        <m:r>
                          <a:rPr lang="en-US" sz="3200" b="0" i="1" smtClean="0">
                            <a:solidFill>
                              <a:srgbClr val="FCFCFC"/>
                            </a:solidFill>
                            <a:latin typeface="Cambria Math" panose="02040503050406030204" pitchFamily="18" charset="0"/>
                            <a:ea typeface="Questrial" pitchFamily="2" charset="0"/>
                            <a:cs typeface="Questrial" pitchFamily="2" charset="0"/>
                          </a:rPr>
                          <m:t>𝑖</m:t>
                        </m:r>
                      </m:sub>
                    </m:sSub>
                  </m:oMath>
                </a14:m>
                <a:endParaRPr lang="it-IT" sz="3200" dirty="0">
                  <a:solidFill>
                    <a:srgbClr val="FCFCFC"/>
                  </a:solidFill>
                  <a:latin typeface="Questrial" pitchFamily="2" charset="0"/>
                  <a:ea typeface="Questrial" pitchFamily="2" charset="0"/>
                  <a:cs typeface="Questrial" pitchFamily="2" charset="0"/>
                </a:endParaRPr>
              </a:p>
            </p:txBody>
          </p:sp>
        </mc:Choice>
        <mc:Fallback>
          <p:sp>
            <p:nvSpPr>
              <p:cNvPr id="12" name="Sottotitolo 2">
                <a:extLst>
                  <a:ext uri="{FF2B5EF4-FFF2-40B4-BE49-F238E27FC236}">
                    <a16:creationId xmlns:a16="http://schemas.microsoft.com/office/drawing/2014/main" id="{D8C8868A-2DE1-55EA-19D0-A33CE481970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59629" y="4723747"/>
                <a:ext cx="4200460" cy="1568844"/>
              </a:xfrm>
              <a:prstGeom prst="rect">
                <a:avLst/>
              </a:prstGeom>
              <a:blipFill>
                <a:blip r:embed="rId7"/>
                <a:stretch>
                  <a:fillRect l="-3628" t="-8171" r="-4935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76685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A54E15-0D8E-1E0C-01C0-DE830896FB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ttangolo 6">
            <a:extLst>
              <a:ext uri="{FF2B5EF4-FFF2-40B4-BE49-F238E27FC236}">
                <a16:creationId xmlns:a16="http://schemas.microsoft.com/office/drawing/2014/main" id="{09B629BE-0975-92E2-01D1-DFA983931AE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CFCF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6" name="Rettangolo con angoli arrotondati 5">
            <a:extLst>
              <a:ext uri="{FF2B5EF4-FFF2-40B4-BE49-F238E27FC236}">
                <a16:creationId xmlns:a16="http://schemas.microsoft.com/office/drawing/2014/main" id="{58F2C53E-A84A-7753-FC9F-07C753CAC051}"/>
              </a:ext>
            </a:extLst>
          </p:cNvPr>
          <p:cNvSpPr/>
          <p:nvPr/>
        </p:nvSpPr>
        <p:spPr>
          <a:xfrm>
            <a:off x="6888597" y="236928"/>
            <a:ext cx="11675173" cy="6278772"/>
          </a:xfrm>
          <a:prstGeom prst="roundRect">
            <a:avLst/>
          </a:prstGeom>
          <a:solidFill>
            <a:srgbClr val="FC993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5B406CE1-D499-A031-609E-D4F0B463118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84598" y="705029"/>
            <a:ext cx="6319401" cy="1654629"/>
          </a:xfrm>
        </p:spPr>
        <p:txBody>
          <a:bodyPr>
            <a:noAutofit/>
          </a:bodyPr>
          <a:lstStyle/>
          <a:p>
            <a:pPr algn="l"/>
            <a:r>
              <a:rPr lang="en-US" sz="5400" b="1" dirty="0">
                <a:latin typeface="Questrial" panose="020F0502020204030204" pitchFamily="2" charset="0"/>
                <a:ea typeface="Questrial" panose="020F0502020204030204" pitchFamily="2" charset="0"/>
                <a:cs typeface="Questrial" panose="020F0502020204030204" pitchFamily="2" charset="0"/>
              </a:rPr>
              <a:t>Stochastic Gradient Descent</a:t>
            </a:r>
            <a:endParaRPr lang="it-IT" sz="5400" b="1" dirty="0">
              <a:latin typeface="Questrial" panose="020F0502020204030204" pitchFamily="2" charset="0"/>
              <a:ea typeface="Questrial" panose="020F0502020204030204" pitchFamily="2" charset="0"/>
              <a:cs typeface="Questrial" panose="020F0502020204030204" pitchFamily="2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" name="Sottotitolo 2">
                <a:extLst>
                  <a:ext uri="{FF2B5EF4-FFF2-40B4-BE49-F238E27FC236}">
                    <a16:creationId xmlns:a16="http://schemas.microsoft.com/office/drawing/2014/main" id="{83922D11-0F34-5059-EF35-2024F46E4AB0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84598" y="2465301"/>
                <a:ext cx="6319402" cy="861428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Autofit/>
              </a:bodyPr>
              <a:lstStyle>
                <a:lvl1pPr marL="0" indent="0" algn="ctr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None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l"/>
                <a:r>
                  <a:rPr lang="it-IT" sz="3200" dirty="0">
                    <a:latin typeface="Questrial" pitchFamily="2" charset="0"/>
                    <a:ea typeface="Questrial" pitchFamily="2" charset="0"/>
                    <a:cs typeface="Questrial" pitchFamily="2" charset="0"/>
                  </a:rPr>
                  <a:t>Lo SGD aggiorna iterativamente i parametri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3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Questrial" pitchFamily="2" charset="0"/>
                            <a:cs typeface="Questrial" pitchFamily="2" charset="0"/>
                          </a:rPr>
                        </m:ctrlPr>
                      </m:sSubPr>
                      <m:e>
                        <m:r>
                          <a:rPr lang="en-US" sz="3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Questrial" pitchFamily="2" charset="0"/>
                            <a:cs typeface="Questrial" pitchFamily="2" charset="0"/>
                          </a:rPr>
                          <m:t>𝑢</m:t>
                        </m:r>
                      </m:e>
                      <m:sub>
                        <m:r>
                          <a:rPr lang="en-US" sz="3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Questrial" pitchFamily="2" charset="0"/>
                            <a:cs typeface="Questrial" pitchFamily="2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it-IT" sz="3200" dirty="0">
                    <a:latin typeface="Questrial" pitchFamily="2" charset="0"/>
                    <a:ea typeface="Questrial" pitchFamily="2" charset="0"/>
                    <a:cs typeface="Questrial" pitchFamily="2" charset="0"/>
                  </a:rPr>
                  <a:t> 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3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Questrial" pitchFamily="2" charset="0"/>
                            <a:cs typeface="Questrial" pitchFamily="2" charset="0"/>
                          </a:rPr>
                        </m:ctrlPr>
                      </m:sSubPr>
                      <m:e>
                        <m:r>
                          <a:rPr lang="en-US" sz="3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Questrial" pitchFamily="2" charset="0"/>
                            <a:cs typeface="Questrial" pitchFamily="2" charset="0"/>
                          </a:rPr>
                          <m:t>𝑣</m:t>
                        </m:r>
                      </m:e>
                      <m:sub>
                        <m:r>
                          <a:rPr lang="en-US" sz="3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Questrial" pitchFamily="2" charset="0"/>
                            <a:cs typeface="Questrial" pitchFamily="2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it-IT" sz="3200" dirty="0">
                    <a:solidFill>
                      <a:schemeClr val="tx1"/>
                    </a:solidFill>
                    <a:latin typeface="Questrial" pitchFamily="2" charset="0"/>
                    <a:ea typeface="Questrial" pitchFamily="2" charset="0"/>
                    <a:cs typeface="Questrial" pitchFamily="2" charset="0"/>
                  </a:rPr>
                  <a:t> </a:t>
                </a:r>
                <a:endParaRPr lang="it-IT" sz="3200" dirty="0">
                  <a:latin typeface="Questrial" pitchFamily="2" charset="0"/>
                  <a:ea typeface="Questrial" pitchFamily="2" charset="0"/>
                  <a:cs typeface="Questrial" pitchFamily="2" charset="0"/>
                </a:endParaRPr>
              </a:p>
            </p:txBody>
          </p:sp>
        </mc:Choice>
        <mc:Fallback>
          <p:sp>
            <p:nvSpPr>
              <p:cNvPr id="13" name="Sottotitolo 2">
                <a:extLst>
                  <a:ext uri="{FF2B5EF4-FFF2-40B4-BE49-F238E27FC236}">
                    <a16:creationId xmlns:a16="http://schemas.microsoft.com/office/drawing/2014/main" id="{83922D11-0F34-5059-EF35-2024F46E4AB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4598" y="2465301"/>
                <a:ext cx="6319402" cy="861428"/>
              </a:xfrm>
              <a:prstGeom prst="rect">
                <a:avLst/>
              </a:prstGeom>
              <a:blipFill>
                <a:blip r:embed="rId3"/>
                <a:stretch>
                  <a:fillRect l="-2510" t="-14789" r="-1641" b="-35211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Rettangolo con angoli arrotondati 10">
            <a:extLst>
              <a:ext uri="{FF2B5EF4-FFF2-40B4-BE49-F238E27FC236}">
                <a16:creationId xmlns:a16="http://schemas.microsoft.com/office/drawing/2014/main" id="{05885F12-73EC-0D23-5532-09B2E8F58759}"/>
              </a:ext>
            </a:extLst>
          </p:cNvPr>
          <p:cNvSpPr/>
          <p:nvPr/>
        </p:nvSpPr>
        <p:spPr>
          <a:xfrm>
            <a:off x="284598" y="3669029"/>
            <a:ext cx="6319401" cy="2846671"/>
          </a:xfrm>
          <a:prstGeom prst="roundRect">
            <a:avLst/>
          </a:prstGeom>
          <a:solidFill>
            <a:srgbClr val="667C6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5" name="CasellaDiTesto 14">
                <a:extLst>
                  <a:ext uri="{FF2B5EF4-FFF2-40B4-BE49-F238E27FC236}">
                    <a16:creationId xmlns:a16="http://schemas.microsoft.com/office/drawing/2014/main" id="{148209ED-1EEF-9EB2-0FB0-B671D2D14E70}"/>
                  </a:ext>
                </a:extLst>
              </p:cNvPr>
              <p:cNvSpPr txBox="1"/>
              <p:nvPr/>
            </p:nvSpPr>
            <p:spPr>
              <a:xfrm>
                <a:off x="1144807" y="4230372"/>
                <a:ext cx="4598982" cy="70788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4000" b="0" i="1" smtClean="0">
                              <a:solidFill>
                                <a:srgbClr val="FCFCFC"/>
                              </a:solidFill>
                              <a:latin typeface="Cambria Math" panose="02040503050406030204" pitchFamily="18" charset="0"/>
                              <a:ea typeface="Questrial" pitchFamily="2" charset="0"/>
                              <a:cs typeface="Questrial" pitchFamily="2" charset="0"/>
                            </a:rPr>
                          </m:ctrlPr>
                        </m:sSubPr>
                        <m:e>
                          <m:r>
                            <a:rPr lang="en-US" sz="4000" b="0" i="1" smtClean="0">
                              <a:solidFill>
                                <a:srgbClr val="FCFCFC"/>
                              </a:solidFill>
                              <a:latin typeface="Cambria Math" panose="02040503050406030204" pitchFamily="18" charset="0"/>
                              <a:ea typeface="Questrial" pitchFamily="2" charset="0"/>
                              <a:cs typeface="Questrial" pitchFamily="2" charset="0"/>
                            </a:rPr>
                            <m:t>𝑢</m:t>
                          </m:r>
                        </m:e>
                        <m:sub>
                          <m:r>
                            <a:rPr lang="en-US" sz="4000" b="0" i="1" smtClean="0">
                              <a:solidFill>
                                <a:srgbClr val="FCFCFC"/>
                              </a:solidFill>
                              <a:latin typeface="Cambria Math" panose="02040503050406030204" pitchFamily="18" charset="0"/>
                              <a:ea typeface="Questrial" pitchFamily="2" charset="0"/>
                              <a:cs typeface="Questrial" pitchFamily="2" charset="0"/>
                            </a:rPr>
                            <m:t>𝑘</m:t>
                          </m:r>
                        </m:sub>
                      </m:sSub>
                      <m:r>
                        <a:rPr lang="en-US" sz="4000" b="0" i="1" smtClean="0">
                          <a:solidFill>
                            <a:srgbClr val="FCFCFC"/>
                          </a:solidFill>
                          <a:latin typeface="Cambria Math" panose="02040503050406030204" pitchFamily="18" charset="0"/>
                          <a:ea typeface="Questrial" pitchFamily="2" charset="0"/>
                          <a:cs typeface="Questrial" pitchFamily="2" charset="0"/>
                        </a:rPr>
                        <m:t>←</m:t>
                      </m:r>
                      <m:sSub>
                        <m:sSubPr>
                          <m:ctrlPr>
                            <a:rPr lang="en-US" sz="4000" b="0" i="1" smtClean="0">
                              <a:solidFill>
                                <a:srgbClr val="FCFCFC"/>
                              </a:solidFill>
                              <a:latin typeface="Cambria Math" panose="02040503050406030204" pitchFamily="18" charset="0"/>
                              <a:ea typeface="Questrial" pitchFamily="2" charset="0"/>
                              <a:cs typeface="Questrial" pitchFamily="2" charset="0"/>
                            </a:rPr>
                          </m:ctrlPr>
                        </m:sSubPr>
                        <m:e>
                          <m:r>
                            <a:rPr lang="en-US" sz="4000" b="0" i="1" smtClean="0">
                              <a:solidFill>
                                <a:srgbClr val="FCFCFC"/>
                              </a:solidFill>
                              <a:latin typeface="Cambria Math" panose="02040503050406030204" pitchFamily="18" charset="0"/>
                              <a:ea typeface="Questrial" pitchFamily="2" charset="0"/>
                              <a:cs typeface="Questrial" pitchFamily="2" charset="0"/>
                            </a:rPr>
                            <m:t>𝑢</m:t>
                          </m:r>
                        </m:e>
                        <m:sub>
                          <m:r>
                            <a:rPr lang="en-US" sz="4000" b="0" i="1" smtClean="0">
                              <a:solidFill>
                                <a:srgbClr val="FCFCFC"/>
                              </a:solidFill>
                              <a:latin typeface="Cambria Math" panose="02040503050406030204" pitchFamily="18" charset="0"/>
                              <a:ea typeface="Questrial" pitchFamily="2" charset="0"/>
                              <a:cs typeface="Questrial" pitchFamily="2" charset="0"/>
                            </a:rPr>
                            <m:t>𝑘</m:t>
                          </m:r>
                        </m:sub>
                      </m:sSub>
                      <m:r>
                        <a:rPr lang="en-US" sz="4000" b="0" i="1" smtClean="0">
                          <a:solidFill>
                            <a:srgbClr val="FCFCFC"/>
                          </a:solidFill>
                          <a:latin typeface="Cambria Math" panose="02040503050406030204" pitchFamily="18" charset="0"/>
                          <a:ea typeface="Questrial" pitchFamily="2" charset="0"/>
                          <a:cs typeface="Questrial" pitchFamily="2" charset="0"/>
                        </a:rPr>
                        <m:t>+2</m:t>
                      </m:r>
                      <m:r>
                        <a:rPr lang="en-US" sz="4000" b="0" i="1" smtClean="0">
                          <a:solidFill>
                            <a:srgbClr val="FCFCFC"/>
                          </a:solidFill>
                          <a:latin typeface="Cambria Math" panose="02040503050406030204" pitchFamily="18" charset="0"/>
                          <a:ea typeface="Questrial" pitchFamily="2" charset="0"/>
                          <a:cs typeface="Questrial" pitchFamily="2" charset="0"/>
                        </a:rPr>
                        <m:t>𝜂</m:t>
                      </m:r>
                      <m:sSub>
                        <m:sSubPr>
                          <m:ctrlPr>
                            <a:rPr lang="en-US" sz="4000" b="0" i="1" smtClean="0">
                              <a:solidFill>
                                <a:srgbClr val="FCFCFC"/>
                              </a:solidFill>
                              <a:latin typeface="Cambria Math" panose="02040503050406030204" pitchFamily="18" charset="0"/>
                              <a:ea typeface="Questrial" pitchFamily="2" charset="0"/>
                              <a:cs typeface="Questrial" pitchFamily="2" charset="0"/>
                            </a:rPr>
                          </m:ctrlPr>
                        </m:sSubPr>
                        <m:e>
                          <m:r>
                            <a:rPr lang="en-US" sz="4000" b="0" i="1" smtClean="0">
                              <a:solidFill>
                                <a:srgbClr val="FCFCFC"/>
                              </a:solidFill>
                              <a:latin typeface="Cambria Math" panose="02040503050406030204" pitchFamily="18" charset="0"/>
                              <a:ea typeface="Questrial" pitchFamily="2" charset="0"/>
                              <a:cs typeface="Questrial" pitchFamily="2" charset="0"/>
                            </a:rPr>
                            <m:t>𝑒</m:t>
                          </m:r>
                        </m:e>
                        <m:sub>
                          <m:r>
                            <a:rPr lang="en-US" sz="4000" b="0" i="1" smtClean="0">
                              <a:solidFill>
                                <a:srgbClr val="FCFCFC"/>
                              </a:solidFill>
                              <a:latin typeface="Cambria Math" panose="02040503050406030204" pitchFamily="18" charset="0"/>
                              <a:ea typeface="Questrial" pitchFamily="2" charset="0"/>
                              <a:cs typeface="Questrial" pitchFamily="2" charset="0"/>
                            </a:rPr>
                            <m:t>𝑘</m:t>
                          </m:r>
                          <m:r>
                            <m:rPr>
                              <m:sty m:val="p"/>
                            </m:rPr>
                            <a:rPr lang="en-US" sz="4000" b="0" i="1" smtClean="0">
                              <a:solidFill>
                                <a:srgbClr val="FCFCFC"/>
                              </a:solidFill>
                              <a:latin typeface="Cambria Math" panose="02040503050406030204" pitchFamily="18" charset="0"/>
                              <a:ea typeface="Questrial" pitchFamily="2" charset="0"/>
                              <a:cs typeface="Questrial" pitchFamily="2" charset="0"/>
                            </a:rPr>
                            <m:t>i</m:t>
                          </m:r>
                        </m:sub>
                      </m:sSub>
                      <m:sSub>
                        <m:sSubPr>
                          <m:ctrlPr>
                            <a:rPr lang="en-US" sz="4000" b="0" i="1" smtClean="0">
                              <a:solidFill>
                                <a:srgbClr val="FCFCFC"/>
                              </a:solidFill>
                              <a:latin typeface="Cambria Math" panose="02040503050406030204" pitchFamily="18" charset="0"/>
                              <a:ea typeface="Questrial" pitchFamily="2" charset="0"/>
                              <a:cs typeface="Questrial" pitchFamily="2" charset="0"/>
                            </a:rPr>
                          </m:ctrlPr>
                        </m:sSubPr>
                        <m:e>
                          <m:r>
                            <a:rPr lang="en-US" sz="4000" b="0" i="1" smtClean="0">
                              <a:solidFill>
                                <a:srgbClr val="FCFCFC"/>
                              </a:solidFill>
                              <a:latin typeface="Cambria Math" panose="02040503050406030204" pitchFamily="18" charset="0"/>
                              <a:ea typeface="Questrial" pitchFamily="2" charset="0"/>
                              <a:cs typeface="Questrial" pitchFamily="2" charset="0"/>
                            </a:rPr>
                            <m:t>𝑣</m:t>
                          </m:r>
                        </m:e>
                        <m:sub>
                          <m:r>
                            <a:rPr lang="en-US" sz="4000" b="0" i="1" smtClean="0">
                              <a:solidFill>
                                <a:srgbClr val="FCFCFC"/>
                              </a:solidFill>
                              <a:latin typeface="Cambria Math" panose="02040503050406030204" pitchFamily="18" charset="0"/>
                              <a:ea typeface="Questrial" pitchFamily="2" charset="0"/>
                              <a:cs typeface="Questrial" pitchFamily="2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it-IT" sz="4000" dirty="0">
                  <a:solidFill>
                    <a:srgbClr val="FCFCFC"/>
                  </a:solidFill>
                  <a:latin typeface="Questrial" pitchFamily="2" charset="0"/>
                  <a:ea typeface="Questrial" pitchFamily="2" charset="0"/>
                  <a:cs typeface="Questrial" pitchFamily="2" charset="0"/>
                </a:endParaRPr>
              </a:p>
            </p:txBody>
          </p:sp>
        </mc:Choice>
        <mc:Fallback>
          <p:sp>
            <p:nvSpPr>
              <p:cNvPr id="15" name="CasellaDiTesto 14">
                <a:extLst>
                  <a:ext uri="{FF2B5EF4-FFF2-40B4-BE49-F238E27FC236}">
                    <a16:creationId xmlns:a16="http://schemas.microsoft.com/office/drawing/2014/main" id="{148209ED-1EEF-9EB2-0FB0-B671D2D14E7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44807" y="4230372"/>
                <a:ext cx="4598982" cy="707886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6" name="CasellaDiTesto 15">
                <a:extLst>
                  <a:ext uri="{FF2B5EF4-FFF2-40B4-BE49-F238E27FC236}">
                    <a16:creationId xmlns:a16="http://schemas.microsoft.com/office/drawing/2014/main" id="{3AD04098-0D5B-26D4-02C9-12DCF1050A50}"/>
                  </a:ext>
                </a:extLst>
              </p:cNvPr>
              <p:cNvSpPr txBox="1"/>
              <p:nvPr/>
            </p:nvSpPr>
            <p:spPr>
              <a:xfrm>
                <a:off x="1144807" y="5145658"/>
                <a:ext cx="4598982" cy="70788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4000" b="0" i="1" smtClean="0">
                              <a:solidFill>
                                <a:srgbClr val="FCFCFC"/>
                              </a:solidFill>
                              <a:latin typeface="Cambria Math" panose="02040503050406030204" pitchFamily="18" charset="0"/>
                              <a:ea typeface="Questrial" pitchFamily="2" charset="0"/>
                              <a:cs typeface="Questrial" pitchFamily="2" charset="0"/>
                            </a:rPr>
                          </m:ctrlPr>
                        </m:sSubPr>
                        <m:e>
                          <m:r>
                            <a:rPr lang="en-US" sz="4000" b="0" i="1" smtClean="0">
                              <a:solidFill>
                                <a:srgbClr val="FCFCFC"/>
                              </a:solidFill>
                              <a:latin typeface="Cambria Math" panose="02040503050406030204" pitchFamily="18" charset="0"/>
                              <a:ea typeface="Questrial" pitchFamily="2" charset="0"/>
                              <a:cs typeface="Questrial" pitchFamily="2" charset="0"/>
                            </a:rPr>
                            <m:t>𝑣</m:t>
                          </m:r>
                        </m:e>
                        <m:sub>
                          <m:r>
                            <a:rPr lang="en-US" sz="4000" b="0" i="1" smtClean="0">
                              <a:solidFill>
                                <a:srgbClr val="FCFCFC"/>
                              </a:solidFill>
                              <a:latin typeface="Cambria Math" panose="02040503050406030204" pitchFamily="18" charset="0"/>
                              <a:ea typeface="Questrial" pitchFamily="2" charset="0"/>
                              <a:cs typeface="Questrial" pitchFamily="2" charset="0"/>
                            </a:rPr>
                            <m:t>𝑖</m:t>
                          </m:r>
                        </m:sub>
                      </m:sSub>
                      <m:r>
                        <a:rPr lang="en-US" sz="4000" b="0" i="1" smtClean="0">
                          <a:solidFill>
                            <a:srgbClr val="FCFCFC"/>
                          </a:solidFill>
                          <a:latin typeface="Cambria Math" panose="02040503050406030204" pitchFamily="18" charset="0"/>
                          <a:ea typeface="Questrial" pitchFamily="2" charset="0"/>
                          <a:cs typeface="Questrial" pitchFamily="2" charset="0"/>
                        </a:rPr>
                        <m:t>←</m:t>
                      </m:r>
                      <m:sSub>
                        <m:sSubPr>
                          <m:ctrlPr>
                            <a:rPr lang="en-US" sz="4000" b="0" i="1" smtClean="0">
                              <a:solidFill>
                                <a:srgbClr val="FCFCFC"/>
                              </a:solidFill>
                              <a:latin typeface="Cambria Math" panose="02040503050406030204" pitchFamily="18" charset="0"/>
                              <a:ea typeface="Questrial" pitchFamily="2" charset="0"/>
                              <a:cs typeface="Questrial" pitchFamily="2" charset="0"/>
                            </a:rPr>
                          </m:ctrlPr>
                        </m:sSubPr>
                        <m:e>
                          <m:r>
                            <a:rPr lang="en-US" sz="4000" b="0" i="1" smtClean="0">
                              <a:solidFill>
                                <a:srgbClr val="FCFCFC"/>
                              </a:solidFill>
                              <a:latin typeface="Cambria Math" panose="02040503050406030204" pitchFamily="18" charset="0"/>
                              <a:ea typeface="Questrial" pitchFamily="2" charset="0"/>
                              <a:cs typeface="Questrial" pitchFamily="2" charset="0"/>
                            </a:rPr>
                            <m:t>𝑣</m:t>
                          </m:r>
                        </m:e>
                        <m:sub>
                          <m:r>
                            <a:rPr lang="en-US" sz="4000" b="0" i="1" smtClean="0">
                              <a:solidFill>
                                <a:srgbClr val="FCFCFC"/>
                              </a:solidFill>
                              <a:latin typeface="Cambria Math" panose="02040503050406030204" pitchFamily="18" charset="0"/>
                              <a:ea typeface="Questrial" pitchFamily="2" charset="0"/>
                              <a:cs typeface="Questrial" pitchFamily="2" charset="0"/>
                            </a:rPr>
                            <m:t>𝑖</m:t>
                          </m:r>
                        </m:sub>
                      </m:sSub>
                      <m:r>
                        <a:rPr lang="en-US" sz="4000" b="0" i="1" smtClean="0">
                          <a:solidFill>
                            <a:srgbClr val="FCFCFC"/>
                          </a:solidFill>
                          <a:latin typeface="Cambria Math" panose="02040503050406030204" pitchFamily="18" charset="0"/>
                          <a:ea typeface="Questrial" pitchFamily="2" charset="0"/>
                          <a:cs typeface="Questrial" pitchFamily="2" charset="0"/>
                        </a:rPr>
                        <m:t>+2</m:t>
                      </m:r>
                      <m:r>
                        <a:rPr lang="en-US" sz="4000" b="0" i="1" smtClean="0">
                          <a:solidFill>
                            <a:srgbClr val="FCFCFC"/>
                          </a:solidFill>
                          <a:latin typeface="Cambria Math" panose="02040503050406030204" pitchFamily="18" charset="0"/>
                          <a:ea typeface="Questrial" pitchFamily="2" charset="0"/>
                          <a:cs typeface="Questrial" pitchFamily="2" charset="0"/>
                        </a:rPr>
                        <m:t>𝜂</m:t>
                      </m:r>
                      <m:sSub>
                        <m:sSubPr>
                          <m:ctrlPr>
                            <a:rPr lang="en-US" sz="4000" b="0" i="1" smtClean="0">
                              <a:solidFill>
                                <a:srgbClr val="FCFCFC"/>
                              </a:solidFill>
                              <a:latin typeface="Cambria Math" panose="02040503050406030204" pitchFamily="18" charset="0"/>
                              <a:ea typeface="Questrial" pitchFamily="2" charset="0"/>
                              <a:cs typeface="Questrial" pitchFamily="2" charset="0"/>
                            </a:rPr>
                          </m:ctrlPr>
                        </m:sSubPr>
                        <m:e>
                          <m:r>
                            <a:rPr lang="en-US" sz="4000" b="0" i="1" smtClean="0">
                              <a:solidFill>
                                <a:srgbClr val="FCFCFC"/>
                              </a:solidFill>
                              <a:latin typeface="Cambria Math" panose="02040503050406030204" pitchFamily="18" charset="0"/>
                              <a:ea typeface="Questrial" pitchFamily="2" charset="0"/>
                              <a:cs typeface="Questrial" pitchFamily="2" charset="0"/>
                            </a:rPr>
                            <m:t>𝑒</m:t>
                          </m:r>
                        </m:e>
                        <m:sub>
                          <m:r>
                            <a:rPr lang="en-US" sz="4000" b="0" i="1" smtClean="0">
                              <a:solidFill>
                                <a:srgbClr val="FCFCFC"/>
                              </a:solidFill>
                              <a:latin typeface="Cambria Math" panose="02040503050406030204" pitchFamily="18" charset="0"/>
                              <a:ea typeface="Questrial" pitchFamily="2" charset="0"/>
                              <a:cs typeface="Questrial" pitchFamily="2" charset="0"/>
                            </a:rPr>
                            <m:t>𝑘</m:t>
                          </m:r>
                          <m:r>
                            <m:rPr>
                              <m:sty m:val="p"/>
                            </m:rPr>
                            <a:rPr lang="en-US" sz="4000" b="0" i="1" smtClean="0">
                              <a:solidFill>
                                <a:srgbClr val="FCFCFC"/>
                              </a:solidFill>
                              <a:latin typeface="Cambria Math" panose="02040503050406030204" pitchFamily="18" charset="0"/>
                              <a:ea typeface="Questrial" pitchFamily="2" charset="0"/>
                              <a:cs typeface="Questrial" pitchFamily="2" charset="0"/>
                            </a:rPr>
                            <m:t>i</m:t>
                          </m:r>
                        </m:sub>
                      </m:sSub>
                      <m:sSub>
                        <m:sSubPr>
                          <m:ctrlPr>
                            <a:rPr lang="en-US" sz="4000" b="0" i="1" smtClean="0">
                              <a:solidFill>
                                <a:srgbClr val="FCFCFC"/>
                              </a:solidFill>
                              <a:latin typeface="Cambria Math" panose="02040503050406030204" pitchFamily="18" charset="0"/>
                              <a:ea typeface="Questrial" pitchFamily="2" charset="0"/>
                              <a:cs typeface="Questrial" pitchFamily="2" charset="0"/>
                            </a:rPr>
                          </m:ctrlPr>
                        </m:sSubPr>
                        <m:e>
                          <m:r>
                            <a:rPr lang="en-US" sz="4000" b="0" i="1" smtClean="0">
                              <a:solidFill>
                                <a:srgbClr val="FCFCFC"/>
                              </a:solidFill>
                              <a:latin typeface="Cambria Math" panose="02040503050406030204" pitchFamily="18" charset="0"/>
                              <a:ea typeface="Questrial" pitchFamily="2" charset="0"/>
                              <a:cs typeface="Questrial" pitchFamily="2" charset="0"/>
                            </a:rPr>
                            <m:t>𝑢</m:t>
                          </m:r>
                        </m:e>
                        <m:sub>
                          <m:r>
                            <a:rPr lang="en-US" sz="4000" b="0" i="1" smtClean="0">
                              <a:solidFill>
                                <a:srgbClr val="FCFCFC"/>
                              </a:solidFill>
                              <a:latin typeface="Cambria Math" panose="02040503050406030204" pitchFamily="18" charset="0"/>
                              <a:ea typeface="Questrial" pitchFamily="2" charset="0"/>
                              <a:cs typeface="Questrial" pitchFamily="2" charset="0"/>
                            </a:rPr>
                            <m:t>𝑘</m:t>
                          </m:r>
                        </m:sub>
                      </m:sSub>
                    </m:oMath>
                  </m:oMathPara>
                </a14:m>
                <a:endParaRPr lang="it-IT" sz="4000" dirty="0">
                  <a:solidFill>
                    <a:srgbClr val="FCFCFC"/>
                  </a:solidFill>
                  <a:latin typeface="Questrial" pitchFamily="2" charset="0"/>
                  <a:ea typeface="Questrial" pitchFamily="2" charset="0"/>
                  <a:cs typeface="Questrial" pitchFamily="2" charset="0"/>
                </a:endParaRPr>
              </a:p>
            </p:txBody>
          </p:sp>
        </mc:Choice>
        <mc:Fallback>
          <p:sp>
            <p:nvSpPr>
              <p:cNvPr id="16" name="CasellaDiTesto 15">
                <a:extLst>
                  <a:ext uri="{FF2B5EF4-FFF2-40B4-BE49-F238E27FC236}">
                    <a16:creationId xmlns:a16="http://schemas.microsoft.com/office/drawing/2014/main" id="{3AD04098-0D5B-26D4-02C9-12DCF1050A5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44807" y="5145658"/>
                <a:ext cx="4598982" cy="707886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8" name="Immagine 17" descr="Immagine che contiene linea, diagramma, Diagramma&#10;&#10;Il contenuto generato dall'IA potrebbe non essere corretto.">
            <a:extLst>
              <a:ext uri="{FF2B5EF4-FFF2-40B4-BE49-F238E27FC236}">
                <a16:creationId xmlns:a16="http://schemas.microsoft.com/office/drawing/2014/main" id="{04FBD03F-EEBD-4821-2E59-BEE8B599CA1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33036" y="1175658"/>
            <a:ext cx="4757364" cy="3970000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</p:spTree>
    <p:extLst>
      <p:ext uri="{BB962C8B-B14F-4D97-AF65-F5344CB8AC3E}">
        <p14:creationId xmlns:p14="http://schemas.microsoft.com/office/powerpoint/2010/main" val="4054602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1A9F8F-CF8D-560E-894F-63B402CC3C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ttangolo 6">
            <a:extLst>
              <a:ext uri="{FF2B5EF4-FFF2-40B4-BE49-F238E27FC236}">
                <a16:creationId xmlns:a16="http://schemas.microsoft.com/office/drawing/2014/main" id="{812D45FD-3A74-3B3E-612E-75599B730F6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CFCF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12" name="Rettangolo con angoli arrotondati 11">
            <a:extLst>
              <a:ext uri="{FF2B5EF4-FFF2-40B4-BE49-F238E27FC236}">
                <a16:creationId xmlns:a16="http://schemas.microsoft.com/office/drawing/2014/main" id="{8E80DBE0-C752-7A43-B8CC-5DBAF793BC9D}"/>
              </a:ext>
            </a:extLst>
          </p:cNvPr>
          <p:cNvSpPr/>
          <p:nvPr/>
        </p:nvSpPr>
        <p:spPr>
          <a:xfrm>
            <a:off x="127906" y="455658"/>
            <a:ext cx="10438493" cy="4843236"/>
          </a:xfrm>
          <a:prstGeom prst="roundRect">
            <a:avLst/>
          </a:prstGeom>
          <a:solidFill>
            <a:srgbClr val="667C6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359C15B2-E705-B391-8CEB-50933C82FC2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58856" y="978463"/>
            <a:ext cx="10821943" cy="1454067"/>
          </a:xfrm>
        </p:spPr>
        <p:txBody>
          <a:bodyPr>
            <a:noAutofit/>
          </a:bodyPr>
          <a:lstStyle/>
          <a:p>
            <a:pPr algn="l"/>
            <a:r>
              <a:rPr lang="en-US" sz="5400" b="1" dirty="0" err="1">
                <a:solidFill>
                  <a:srgbClr val="FCFCFC"/>
                </a:solidFill>
                <a:latin typeface="Questrial" panose="020F0502020204030204" pitchFamily="2" charset="0"/>
                <a:ea typeface="Questrial" panose="020F0502020204030204" pitchFamily="2" charset="0"/>
                <a:cs typeface="Questrial" panose="020F0502020204030204" pitchFamily="2" charset="0"/>
              </a:rPr>
              <a:t>Difficoltà</a:t>
            </a:r>
            <a:r>
              <a:rPr lang="en-US" sz="5400" b="1" dirty="0">
                <a:solidFill>
                  <a:srgbClr val="FCFCFC"/>
                </a:solidFill>
                <a:latin typeface="Questrial" panose="020F0502020204030204" pitchFamily="2" charset="0"/>
                <a:ea typeface="Questrial" panose="020F0502020204030204" pitchFamily="2" charset="0"/>
                <a:cs typeface="Questrial" panose="020F0502020204030204" pitchFamily="2" charset="0"/>
              </a:rPr>
              <a:t> </a:t>
            </a:r>
            <a:r>
              <a:rPr lang="en-US" sz="5400" b="1" dirty="0" err="1">
                <a:solidFill>
                  <a:srgbClr val="FCFCFC"/>
                </a:solidFill>
                <a:latin typeface="Questrial" panose="020F0502020204030204" pitchFamily="2" charset="0"/>
                <a:ea typeface="Questrial" panose="020F0502020204030204" pitchFamily="2" charset="0"/>
                <a:cs typeface="Questrial" panose="020F0502020204030204" pitchFamily="2" charset="0"/>
              </a:rPr>
              <a:t>nella</a:t>
            </a:r>
            <a:r>
              <a:rPr lang="en-US" sz="5400" b="1" dirty="0">
                <a:solidFill>
                  <a:srgbClr val="FCFCFC"/>
                </a:solidFill>
                <a:latin typeface="Questrial" panose="020F0502020204030204" pitchFamily="2" charset="0"/>
                <a:ea typeface="Questrial" panose="020F0502020204030204" pitchFamily="2" charset="0"/>
                <a:cs typeface="Questrial" panose="020F0502020204030204" pitchFamily="2" charset="0"/>
              </a:rPr>
              <a:t> </a:t>
            </a:r>
            <a:r>
              <a:rPr lang="en-US" sz="5400" b="1" dirty="0" err="1">
                <a:solidFill>
                  <a:srgbClr val="FCFCFC"/>
                </a:solidFill>
                <a:latin typeface="Questrial" panose="020F0502020204030204" pitchFamily="2" charset="0"/>
                <a:ea typeface="Questrial" panose="020F0502020204030204" pitchFamily="2" charset="0"/>
                <a:cs typeface="Questrial" panose="020F0502020204030204" pitchFamily="2" charset="0"/>
              </a:rPr>
              <a:t>parallelizzazione</a:t>
            </a:r>
            <a:r>
              <a:rPr lang="en-US" sz="5400" b="1" dirty="0">
                <a:solidFill>
                  <a:srgbClr val="FCFCFC"/>
                </a:solidFill>
                <a:latin typeface="Questrial" panose="020F0502020204030204" pitchFamily="2" charset="0"/>
                <a:ea typeface="Questrial" panose="020F0502020204030204" pitchFamily="2" charset="0"/>
                <a:cs typeface="Questrial" panose="020F0502020204030204" pitchFamily="2" charset="0"/>
              </a:rPr>
              <a:t> </a:t>
            </a:r>
            <a:r>
              <a:rPr lang="en-US" sz="5400" b="1" dirty="0" err="1">
                <a:solidFill>
                  <a:srgbClr val="FCFCFC"/>
                </a:solidFill>
                <a:latin typeface="Questrial" panose="020F0502020204030204" pitchFamily="2" charset="0"/>
                <a:ea typeface="Questrial" panose="020F0502020204030204" pitchFamily="2" charset="0"/>
                <a:cs typeface="Questrial" panose="020F0502020204030204" pitchFamily="2" charset="0"/>
              </a:rPr>
              <a:t>dello</a:t>
            </a:r>
            <a:r>
              <a:rPr lang="en-US" sz="5400" b="1" dirty="0">
                <a:solidFill>
                  <a:srgbClr val="FCFCFC"/>
                </a:solidFill>
                <a:latin typeface="Questrial" panose="020F0502020204030204" pitchFamily="2" charset="0"/>
                <a:ea typeface="Questrial" panose="020F0502020204030204" pitchFamily="2" charset="0"/>
                <a:cs typeface="Questrial" panose="020F0502020204030204" pitchFamily="2" charset="0"/>
              </a:rPr>
              <a:t> SGD</a:t>
            </a:r>
            <a:endParaRPr lang="it-IT" sz="5400" b="1" dirty="0">
              <a:solidFill>
                <a:srgbClr val="FCFCFC"/>
              </a:solidFill>
              <a:latin typeface="Questrial" panose="020F0502020204030204" pitchFamily="2" charset="0"/>
              <a:ea typeface="Questrial" panose="020F0502020204030204" pitchFamily="2" charset="0"/>
              <a:cs typeface="Questrial" panose="020F0502020204030204" pitchFamily="2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" name="Sottotitolo 2">
                <a:extLst>
                  <a:ext uri="{FF2B5EF4-FFF2-40B4-BE49-F238E27FC236}">
                    <a16:creationId xmlns:a16="http://schemas.microsoft.com/office/drawing/2014/main" id="{2C607013-DAFF-6F9D-3657-4F637477CA20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58856" y="2594365"/>
                <a:ext cx="6619936" cy="2572721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Autofit/>
              </a:bodyPr>
              <a:lstStyle>
                <a:lvl1pPr marL="0" indent="0" algn="ctr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None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l"/>
                <a:r>
                  <a:rPr lang="it-IT" sz="2800" dirty="0">
                    <a:solidFill>
                      <a:srgbClr val="FCFCFC"/>
                    </a:solidFill>
                    <a:latin typeface="Questrial" pitchFamily="2" charset="0"/>
                    <a:ea typeface="Questrial" pitchFamily="2" charset="0"/>
                    <a:cs typeface="Questrial" pitchFamily="2" charset="0"/>
                  </a:rPr>
                  <a:t>Ogni aggiornamento accede in lettura e scrittura sia a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b="0" i="1" smtClean="0">
                            <a:solidFill>
                              <a:srgbClr val="FCFCFC"/>
                            </a:solidFill>
                            <a:latin typeface="Cambria Math" panose="02040503050406030204" pitchFamily="18" charset="0"/>
                            <a:ea typeface="Questrial" pitchFamily="2" charset="0"/>
                            <a:cs typeface="Questrial" pitchFamily="2" charset="0"/>
                          </a:rPr>
                        </m:ctrlPr>
                      </m:sSubPr>
                      <m:e>
                        <m:r>
                          <a:rPr lang="en-US" sz="2800" b="0" i="1" smtClean="0">
                            <a:solidFill>
                              <a:srgbClr val="FCFCFC"/>
                            </a:solidFill>
                            <a:latin typeface="Cambria Math" panose="02040503050406030204" pitchFamily="18" charset="0"/>
                            <a:ea typeface="Questrial" pitchFamily="2" charset="0"/>
                            <a:cs typeface="Questrial" pitchFamily="2" charset="0"/>
                          </a:rPr>
                          <m:t>𝑢</m:t>
                        </m:r>
                      </m:e>
                      <m:sub>
                        <m:r>
                          <a:rPr lang="en-US" sz="2800" b="0" i="1" smtClean="0">
                            <a:solidFill>
                              <a:srgbClr val="FCFCFC"/>
                            </a:solidFill>
                            <a:latin typeface="Cambria Math" panose="02040503050406030204" pitchFamily="18" charset="0"/>
                            <a:ea typeface="Questrial" pitchFamily="2" charset="0"/>
                            <a:cs typeface="Questrial" pitchFamily="2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it-IT" sz="2800" dirty="0">
                    <a:solidFill>
                      <a:srgbClr val="FCFCFC"/>
                    </a:solidFill>
                    <a:latin typeface="Questrial" pitchFamily="2" charset="0"/>
                    <a:ea typeface="Questrial" pitchFamily="2" charset="0"/>
                    <a:cs typeface="Questrial" pitchFamily="2" charset="0"/>
                  </a:rPr>
                  <a:t> che a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b="0" i="1" smtClean="0">
                            <a:solidFill>
                              <a:srgbClr val="FCFCFC"/>
                            </a:solidFill>
                            <a:latin typeface="Cambria Math" panose="02040503050406030204" pitchFamily="18" charset="0"/>
                            <a:ea typeface="Questrial" pitchFamily="2" charset="0"/>
                            <a:cs typeface="Questrial" pitchFamily="2" charset="0"/>
                          </a:rPr>
                        </m:ctrlPr>
                      </m:sSubPr>
                      <m:e>
                        <m:r>
                          <a:rPr lang="en-US" sz="2800" b="0" i="1" smtClean="0">
                            <a:solidFill>
                              <a:srgbClr val="FCFCFC"/>
                            </a:solidFill>
                            <a:latin typeface="Cambria Math" panose="02040503050406030204" pitchFamily="18" charset="0"/>
                            <a:ea typeface="Questrial" pitchFamily="2" charset="0"/>
                            <a:cs typeface="Questrial" pitchFamily="2" charset="0"/>
                          </a:rPr>
                          <m:t>𝑣</m:t>
                        </m:r>
                      </m:e>
                      <m:sub>
                        <m:r>
                          <a:rPr lang="en-US" sz="2800" b="0" i="1" smtClean="0">
                            <a:solidFill>
                              <a:srgbClr val="FCFCFC"/>
                            </a:solidFill>
                            <a:latin typeface="Cambria Math" panose="02040503050406030204" pitchFamily="18" charset="0"/>
                            <a:ea typeface="Questrial" pitchFamily="2" charset="0"/>
                            <a:cs typeface="Questrial" pitchFamily="2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it-IT" sz="2800" dirty="0">
                    <a:solidFill>
                      <a:srgbClr val="FCFCFC"/>
                    </a:solidFill>
                    <a:latin typeface="Questrial" pitchFamily="2" charset="0"/>
                    <a:ea typeface="Questrial" pitchFamily="2" charset="0"/>
                    <a:cs typeface="Questrial" pitchFamily="2" charset="0"/>
                  </a:rPr>
                  <a:t>. Se due </a:t>
                </a:r>
                <a:r>
                  <a:rPr lang="it-IT" sz="2800" dirty="0" err="1">
                    <a:solidFill>
                      <a:srgbClr val="FCFCFC"/>
                    </a:solidFill>
                    <a:latin typeface="Questrial" pitchFamily="2" charset="0"/>
                    <a:ea typeface="Questrial" pitchFamily="2" charset="0"/>
                    <a:cs typeface="Questrial" pitchFamily="2" charset="0"/>
                  </a:rPr>
                  <a:t>thread</a:t>
                </a:r>
                <a:r>
                  <a:rPr lang="it-IT" sz="2800" dirty="0">
                    <a:solidFill>
                      <a:srgbClr val="FCFCFC"/>
                    </a:solidFill>
                    <a:latin typeface="Questrial" pitchFamily="2" charset="0"/>
                    <a:ea typeface="Questrial" pitchFamily="2" charset="0"/>
                    <a:cs typeface="Questrial" pitchFamily="2" charset="0"/>
                  </a:rPr>
                  <a:t> trattano una coppia (u, v) che condivide lo stesso u o v, allora accedono allo stesso vettore. Questo genera </a:t>
                </a:r>
                <a:r>
                  <a:rPr lang="it-IT" sz="2800" i="1" dirty="0">
                    <a:solidFill>
                      <a:srgbClr val="FCFCFC"/>
                    </a:solidFill>
                    <a:latin typeface="Questrial" pitchFamily="2" charset="0"/>
                    <a:ea typeface="Questrial" pitchFamily="2" charset="0"/>
                    <a:cs typeface="Questrial" pitchFamily="2" charset="0"/>
                  </a:rPr>
                  <a:t>race </a:t>
                </a:r>
                <a:r>
                  <a:rPr lang="it-IT" sz="2800" i="1" dirty="0" err="1">
                    <a:solidFill>
                      <a:srgbClr val="FCFCFC"/>
                    </a:solidFill>
                    <a:latin typeface="Questrial" pitchFamily="2" charset="0"/>
                    <a:ea typeface="Questrial" pitchFamily="2" charset="0"/>
                    <a:cs typeface="Questrial" pitchFamily="2" charset="0"/>
                  </a:rPr>
                  <a:t>condition</a:t>
                </a:r>
                <a:r>
                  <a:rPr lang="it-IT" sz="2800" i="1" dirty="0">
                    <a:solidFill>
                      <a:srgbClr val="FCFCFC"/>
                    </a:solidFill>
                    <a:latin typeface="Questrial" pitchFamily="2" charset="0"/>
                    <a:ea typeface="Questrial" pitchFamily="2" charset="0"/>
                    <a:cs typeface="Questrial" pitchFamily="2" charset="0"/>
                  </a:rPr>
                  <a:t>.</a:t>
                </a:r>
                <a:endParaRPr lang="it-IT" sz="2800" dirty="0">
                  <a:solidFill>
                    <a:srgbClr val="FCFCFC"/>
                  </a:solidFill>
                  <a:latin typeface="Questrial" pitchFamily="2" charset="0"/>
                  <a:ea typeface="Questrial" pitchFamily="2" charset="0"/>
                  <a:cs typeface="Questrial" pitchFamily="2" charset="0"/>
                </a:endParaRPr>
              </a:p>
            </p:txBody>
          </p:sp>
        </mc:Choice>
        <mc:Fallback>
          <p:sp>
            <p:nvSpPr>
              <p:cNvPr id="13" name="Sottotitolo 2">
                <a:extLst>
                  <a:ext uri="{FF2B5EF4-FFF2-40B4-BE49-F238E27FC236}">
                    <a16:creationId xmlns:a16="http://schemas.microsoft.com/office/drawing/2014/main" id="{2C607013-DAFF-6F9D-3657-4F637477CA2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8856" y="2594365"/>
                <a:ext cx="6619936" cy="2572721"/>
              </a:xfrm>
              <a:prstGeom prst="rect">
                <a:avLst/>
              </a:prstGeom>
              <a:blipFill>
                <a:blip r:embed="rId3"/>
                <a:stretch>
                  <a:fillRect l="-1842" t="-4265" r="-1289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Rettangolo con angoli arrotondati 13">
            <a:extLst>
              <a:ext uri="{FF2B5EF4-FFF2-40B4-BE49-F238E27FC236}">
                <a16:creationId xmlns:a16="http://schemas.microsoft.com/office/drawing/2014/main" id="{F521E1C0-7D12-99F0-90BD-21DB08BDC691}"/>
              </a:ext>
            </a:extLst>
          </p:cNvPr>
          <p:cNvSpPr/>
          <p:nvPr/>
        </p:nvSpPr>
        <p:spPr>
          <a:xfrm>
            <a:off x="7278792" y="2192945"/>
            <a:ext cx="6005175" cy="2846671"/>
          </a:xfrm>
          <a:prstGeom prst="roundRect">
            <a:avLst/>
          </a:prstGeom>
          <a:solidFill>
            <a:srgbClr val="FC993E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5" name="CasellaDiTesto 14">
                <a:extLst>
                  <a:ext uri="{FF2B5EF4-FFF2-40B4-BE49-F238E27FC236}">
                    <a16:creationId xmlns:a16="http://schemas.microsoft.com/office/drawing/2014/main" id="{8DE73430-A322-74E4-93E8-3FC8746C9726}"/>
                  </a:ext>
                </a:extLst>
              </p:cNvPr>
              <p:cNvSpPr txBox="1"/>
              <p:nvPr/>
            </p:nvSpPr>
            <p:spPr>
              <a:xfrm>
                <a:off x="7593018" y="2700995"/>
                <a:ext cx="4598982" cy="707886"/>
              </a:xfrm>
              <a:prstGeom prst="rect">
                <a:avLst/>
              </a:prstGeom>
              <a:solidFill>
                <a:srgbClr val="FC993E"/>
              </a:solidFill>
            </p:spPr>
            <p:txBody>
              <a:bodyPr wrap="square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4000" b="0" i="1" smtClean="0">
                              <a:solidFill>
                                <a:srgbClr val="FCFCFC"/>
                              </a:solidFill>
                              <a:latin typeface="Cambria Math" panose="02040503050406030204" pitchFamily="18" charset="0"/>
                              <a:ea typeface="Questrial" pitchFamily="2" charset="0"/>
                              <a:cs typeface="Questrial" pitchFamily="2" charset="0"/>
                            </a:rPr>
                          </m:ctrlPr>
                        </m:sSubPr>
                        <m:e>
                          <m:r>
                            <a:rPr lang="en-US" sz="4000" b="0" i="1" smtClean="0">
                              <a:solidFill>
                                <a:srgbClr val="FCFCFC"/>
                              </a:solidFill>
                              <a:latin typeface="Cambria Math" panose="02040503050406030204" pitchFamily="18" charset="0"/>
                              <a:ea typeface="Questrial" pitchFamily="2" charset="0"/>
                              <a:cs typeface="Questrial" pitchFamily="2" charset="0"/>
                            </a:rPr>
                            <m:t>𝑢</m:t>
                          </m:r>
                        </m:e>
                        <m:sub>
                          <m:r>
                            <a:rPr lang="en-US" sz="4000" b="0" i="1" smtClean="0">
                              <a:solidFill>
                                <a:srgbClr val="FCFCFC"/>
                              </a:solidFill>
                              <a:latin typeface="Cambria Math" panose="02040503050406030204" pitchFamily="18" charset="0"/>
                              <a:ea typeface="Questrial" pitchFamily="2" charset="0"/>
                              <a:cs typeface="Questrial" pitchFamily="2" charset="0"/>
                            </a:rPr>
                            <m:t>𝑘</m:t>
                          </m:r>
                        </m:sub>
                      </m:sSub>
                      <m:r>
                        <a:rPr lang="en-US" sz="4000" b="0" i="1" smtClean="0">
                          <a:solidFill>
                            <a:srgbClr val="FCFCFC"/>
                          </a:solidFill>
                          <a:latin typeface="Cambria Math" panose="02040503050406030204" pitchFamily="18" charset="0"/>
                          <a:ea typeface="Questrial" pitchFamily="2" charset="0"/>
                          <a:cs typeface="Questrial" pitchFamily="2" charset="0"/>
                        </a:rPr>
                        <m:t>←</m:t>
                      </m:r>
                      <m:sSub>
                        <m:sSubPr>
                          <m:ctrlPr>
                            <a:rPr lang="en-US" sz="4000" b="0" i="1" smtClean="0">
                              <a:solidFill>
                                <a:srgbClr val="FCFCFC"/>
                              </a:solidFill>
                              <a:latin typeface="Cambria Math" panose="02040503050406030204" pitchFamily="18" charset="0"/>
                              <a:ea typeface="Questrial" pitchFamily="2" charset="0"/>
                              <a:cs typeface="Questrial" pitchFamily="2" charset="0"/>
                            </a:rPr>
                          </m:ctrlPr>
                        </m:sSubPr>
                        <m:e>
                          <m:r>
                            <a:rPr lang="en-US" sz="4000" b="0" i="1" smtClean="0">
                              <a:solidFill>
                                <a:srgbClr val="FCFCFC"/>
                              </a:solidFill>
                              <a:latin typeface="Cambria Math" panose="02040503050406030204" pitchFamily="18" charset="0"/>
                              <a:ea typeface="Questrial" pitchFamily="2" charset="0"/>
                              <a:cs typeface="Questrial" pitchFamily="2" charset="0"/>
                            </a:rPr>
                            <m:t>𝑢</m:t>
                          </m:r>
                        </m:e>
                        <m:sub>
                          <m:r>
                            <a:rPr lang="en-US" sz="4000" b="0" i="1" smtClean="0">
                              <a:solidFill>
                                <a:srgbClr val="FCFCFC"/>
                              </a:solidFill>
                              <a:latin typeface="Cambria Math" panose="02040503050406030204" pitchFamily="18" charset="0"/>
                              <a:ea typeface="Questrial" pitchFamily="2" charset="0"/>
                              <a:cs typeface="Questrial" pitchFamily="2" charset="0"/>
                            </a:rPr>
                            <m:t>𝑘</m:t>
                          </m:r>
                        </m:sub>
                      </m:sSub>
                      <m:r>
                        <a:rPr lang="en-US" sz="4000" b="0" i="1" smtClean="0">
                          <a:solidFill>
                            <a:srgbClr val="FCFCFC"/>
                          </a:solidFill>
                          <a:latin typeface="Cambria Math" panose="02040503050406030204" pitchFamily="18" charset="0"/>
                          <a:ea typeface="Questrial" pitchFamily="2" charset="0"/>
                          <a:cs typeface="Questrial" pitchFamily="2" charset="0"/>
                        </a:rPr>
                        <m:t>+2</m:t>
                      </m:r>
                      <m:r>
                        <a:rPr lang="en-US" sz="4000" b="0" i="1" smtClean="0">
                          <a:solidFill>
                            <a:srgbClr val="FCFCFC"/>
                          </a:solidFill>
                          <a:latin typeface="Cambria Math" panose="02040503050406030204" pitchFamily="18" charset="0"/>
                          <a:ea typeface="Questrial" pitchFamily="2" charset="0"/>
                          <a:cs typeface="Questrial" pitchFamily="2" charset="0"/>
                        </a:rPr>
                        <m:t>𝜂</m:t>
                      </m:r>
                      <m:sSub>
                        <m:sSubPr>
                          <m:ctrlPr>
                            <a:rPr lang="en-US" sz="4000" b="0" i="1" smtClean="0">
                              <a:solidFill>
                                <a:srgbClr val="FCFCFC"/>
                              </a:solidFill>
                              <a:latin typeface="Cambria Math" panose="02040503050406030204" pitchFamily="18" charset="0"/>
                              <a:ea typeface="Questrial" pitchFamily="2" charset="0"/>
                              <a:cs typeface="Questrial" pitchFamily="2" charset="0"/>
                            </a:rPr>
                          </m:ctrlPr>
                        </m:sSubPr>
                        <m:e>
                          <m:r>
                            <a:rPr lang="en-US" sz="4000" b="0" i="1" smtClean="0">
                              <a:solidFill>
                                <a:srgbClr val="FCFCFC"/>
                              </a:solidFill>
                              <a:latin typeface="Cambria Math" panose="02040503050406030204" pitchFamily="18" charset="0"/>
                              <a:ea typeface="Questrial" pitchFamily="2" charset="0"/>
                              <a:cs typeface="Questrial" pitchFamily="2" charset="0"/>
                            </a:rPr>
                            <m:t>𝑒</m:t>
                          </m:r>
                        </m:e>
                        <m:sub>
                          <m:r>
                            <a:rPr lang="en-US" sz="4000" b="0" i="1" smtClean="0">
                              <a:solidFill>
                                <a:srgbClr val="FCFCFC"/>
                              </a:solidFill>
                              <a:latin typeface="Cambria Math" panose="02040503050406030204" pitchFamily="18" charset="0"/>
                              <a:ea typeface="Questrial" pitchFamily="2" charset="0"/>
                              <a:cs typeface="Questrial" pitchFamily="2" charset="0"/>
                            </a:rPr>
                            <m:t>𝑘</m:t>
                          </m:r>
                          <m:r>
                            <m:rPr>
                              <m:sty m:val="p"/>
                            </m:rPr>
                            <a:rPr lang="en-US" sz="4000" b="0" i="1" smtClean="0">
                              <a:solidFill>
                                <a:srgbClr val="FCFCFC"/>
                              </a:solidFill>
                              <a:latin typeface="Cambria Math" panose="02040503050406030204" pitchFamily="18" charset="0"/>
                              <a:ea typeface="Questrial" pitchFamily="2" charset="0"/>
                              <a:cs typeface="Questrial" pitchFamily="2" charset="0"/>
                            </a:rPr>
                            <m:t>i</m:t>
                          </m:r>
                        </m:sub>
                      </m:sSub>
                      <m:sSub>
                        <m:sSubPr>
                          <m:ctrlPr>
                            <a:rPr lang="en-US" sz="4000" b="0" i="1" smtClean="0">
                              <a:solidFill>
                                <a:srgbClr val="FCFCFC"/>
                              </a:solidFill>
                              <a:latin typeface="Cambria Math" panose="02040503050406030204" pitchFamily="18" charset="0"/>
                              <a:ea typeface="Questrial" pitchFamily="2" charset="0"/>
                              <a:cs typeface="Questrial" pitchFamily="2" charset="0"/>
                            </a:rPr>
                          </m:ctrlPr>
                        </m:sSubPr>
                        <m:e>
                          <m:r>
                            <a:rPr lang="en-US" sz="4000" b="0" i="1" smtClean="0">
                              <a:solidFill>
                                <a:srgbClr val="FCFCFC"/>
                              </a:solidFill>
                              <a:latin typeface="Cambria Math" panose="02040503050406030204" pitchFamily="18" charset="0"/>
                              <a:ea typeface="Questrial" pitchFamily="2" charset="0"/>
                              <a:cs typeface="Questrial" pitchFamily="2" charset="0"/>
                            </a:rPr>
                            <m:t>𝑣</m:t>
                          </m:r>
                        </m:e>
                        <m:sub>
                          <m:r>
                            <a:rPr lang="en-US" sz="4000" b="0" i="1" smtClean="0">
                              <a:solidFill>
                                <a:srgbClr val="FCFCFC"/>
                              </a:solidFill>
                              <a:latin typeface="Cambria Math" panose="02040503050406030204" pitchFamily="18" charset="0"/>
                              <a:ea typeface="Questrial" pitchFamily="2" charset="0"/>
                              <a:cs typeface="Questrial" pitchFamily="2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it-IT" sz="4000" dirty="0">
                  <a:solidFill>
                    <a:srgbClr val="FCFCFC"/>
                  </a:solidFill>
                  <a:latin typeface="Questrial" pitchFamily="2" charset="0"/>
                  <a:ea typeface="Questrial" pitchFamily="2" charset="0"/>
                  <a:cs typeface="Questrial" pitchFamily="2" charset="0"/>
                </a:endParaRPr>
              </a:p>
            </p:txBody>
          </p:sp>
        </mc:Choice>
        <mc:Fallback>
          <p:sp>
            <p:nvSpPr>
              <p:cNvPr id="15" name="CasellaDiTesto 14">
                <a:extLst>
                  <a:ext uri="{FF2B5EF4-FFF2-40B4-BE49-F238E27FC236}">
                    <a16:creationId xmlns:a16="http://schemas.microsoft.com/office/drawing/2014/main" id="{8DE73430-A322-74E4-93E8-3FC8746C972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93018" y="2700995"/>
                <a:ext cx="4598982" cy="707886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6" name="CasellaDiTesto 15">
                <a:extLst>
                  <a:ext uri="{FF2B5EF4-FFF2-40B4-BE49-F238E27FC236}">
                    <a16:creationId xmlns:a16="http://schemas.microsoft.com/office/drawing/2014/main" id="{DF78D1A0-7E35-CDE5-552F-C479D8E247A3}"/>
                  </a:ext>
                </a:extLst>
              </p:cNvPr>
              <p:cNvSpPr txBox="1"/>
              <p:nvPr/>
            </p:nvSpPr>
            <p:spPr>
              <a:xfrm>
                <a:off x="7593018" y="3616281"/>
                <a:ext cx="4598982" cy="707886"/>
              </a:xfrm>
              <a:prstGeom prst="rect">
                <a:avLst/>
              </a:prstGeom>
              <a:solidFill>
                <a:srgbClr val="FC993E"/>
              </a:solidFill>
            </p:spPr>
            <p:txBody>
              <a:bodyPr wrap="squar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4000" b="0" i="1" smtClean="0">
                              <a:solidFill>
                                <a:srgbClr val="FCFCFC"/>
                              </a:solidFill>
                              <a:latin typeface="Cambria Math" panose="02040503050406030204" pitchFamily="18" charset="0"/>
                              <a:ea typeface="Questrial" pitchFamily="2" charset="0"/>
                              <a:cs typeface="Questrial" pitchFamily="2" charset="0"/>
                            </a:rPr>
                          </m:ctrlPr>
                        </m:sSubPr>
                        <m:e>
                          <m:r>
                            <a:rPr lang="en-US" sz="4000" b="0" i="1" smtClean="0">
                              <a:solidFill>
                                <a:srgbClr val="FCFCFC"/>
                              </a:solidFill>
                              <a:latin typeface="Cambria Math" panose="02040503050406030204" pitchFamily="18" charset="0"/>
                              <a:ea typeface="Questrial" pitchFamily="2" charset="0"/>
                              <a:cs typeface="Questrial" pitchFamily="2" charset="0"/>
                            </a:rPr>
                            <m:t>𝑣</m:t>
                          </m:r>
                        </m:e>
                        <m:sub>
                          <m:r>
                            <a:rPr lang="en-US" sz="4000" b="0" i="1" smtClean="0">
                              <a:solidFill>
                                <a:srgbClr val="FCFCFC"/>
                              </a:solidFill>
                              <a:latin typeface="Cambria Math" panose="02040503050406030204" pitchFamily="18" charset="0"/>
                              <a:ea typeface="Questrial" pitchFamily="2" charset="0"/>
                              <a:cs typeface="Questrial" pitchFamily="2" charset="0"/>
                            </a:rPr>
                            <m:t>𝑖</m:t>
                          </m:r>
                        </m:sub>
                      </m:sSub>
                      <m:r>
                        <a:rPr lang="en-US" sz="4000" b="0" i="1" smtClean="0">
                          <a:solidFill>
                            <a:srgbClr val="FCFCFC"/>
                          </a:solidFill>
                          <a:latin typeface="Cambria Math" panose="02040503050406030204" pitchFamily="18" charset="0"/>
                          <a:ea typeface="Questrial" pitchFamily="2" charset="0"/>
                          <a:cs typeface="Questrial" pitchFamily="2" charset="0"/>
                        </a:rPr>
                        <m:t>←</m:t>
                      </m:r>
                      <m:sSub>
                        <m:sSubPr>
                          <m:ctrlPr>
                            <a:rPr lang="en-US" sz="4000" b="0" i="1" smtClean="0">
                              <a:solidFill>
                                <a:srgbClr val="FCFCFC"/>
                              </a:solidFill>
                              <a:latin typeface="Cambria Math" panose="02040503050406030204" pitchFamily="18" charset="0"/>
                              <a:ea typeface="Questrial" pitchFamily="2" charset="0"/>
                              <a:cs typeface="Questrial" pitchFamily="2" charset="0"/>
                            </a:rPr>
                          </m:ctrlPr>
                        </m:sSubPr>
                        <m:e>
                          <m:r>
                            <a:rPr lang="en-US" sz="4000" b="0" i="1" smtClean="0">
                              <a:solidFill>
                                <a:srgbClr val="FCFCFC"/>
                              </a:solidFill>
                              <a:latin typeface="Cambria Math" panose="02040503050406030204" pitchFamily="18" charset="0"/>
                              <a:ea typeface="Questrial" pitchFamily="2" charset="0"/>
                              <a:cs typeface="Questrial" pitchFamily="2" charset="0"/>
                            </a:rPr>
                            <m:t>𝑣</m:t>
                          </m:r>
                        </m:e>
                        <m:sub>
                          <m:r>
                            <a:rPr lang="en-US" sz="4000" b="0" i="1" smtClean="0">
                              <a:solidFill>
                                <a:srgbClr val="FCFCFC"/>
                              </a:solidFill>
                              <a:latin typeface="Cambria Math" panose="02040503050406030204" pitchFamily="18" charset="0"/>
                              <a:ea typeface="Questrial" pitchFamily="2" charset="0"/>
                              <a:cs typeface="Questrial" pitchFamily="2" charset="0"/>
                            </a:rPr>
                            <m:t>𝑖</m:t>
                          </m:r>
                        </m:sub>
                      </m:sSub>
                      <m:r>
                        <a:rPr lang="en-US" sz="4000" b="0" i="1" smtClean="0">
                          <a:solidFill>
                            <a:srgbClr val="FCFCFC"/>
                          </a:solidFill>
                          <a:latin typeface="Cambria Math" panose="02040503050406030204" pitchFamily="18" charset="0"/>
                          <a:ea typeface="Questrial" pitchFamily="2" charset="0"/>
                          <a:cs typeface="Questrial" pitchFamily="2" charset="0"/>
                        </a:rPr>
                        <m:t>+2</m:t>
                      </m:r>
                      <m:r>
                        <a:rPr lang="en-US" sz="4000" b="0" i="1" smtClean="0">
                          <a:solidFill>
                            <a:srgbClr val="FCFCFC"/>
                          </a:solidFill>
                          <a:latin typeface="Cambria Math" panose="02040503050406030204" pitchFamily="18" charset="0"/>
                          <a:ea typeface="Questrial" pitchFamily="2" charset="0"/>
                          <a:cs typeface="Questrial" pitchFamily="2" charset="0"/>
                        </a:rPr>
                        <m:t>𝜂</m:t>
                      </m:r>
                      <m:sSub>
                        <m:sSubPr>
                          <m:ctrlPr>
                            <a:rPr lang="en-US" sz="4000" b="0" i="1" smtClean="0">
                              <a:solidFill>
                                <a:srgbClr val="FCFCFC"/>
                              </a:solidFill>
                              <a:latin typeface="Cambria Math" panose="02040503050406030204" pitchFamily="18" charset="0"/>
                              <a:ea typeface="Questrial" pitchFamily="2" charset="0"/>
                              <a:cs typeface="Questrial" pitchFamily="2" charset="0"/>
                            </a:rPr>
                          </m:ctrlPr>
                        </m:sSubPr>
                        <m:e>
                          <m:r>
                            <a:rPr lang="en-US" sz="4000" b="0" i="1" smtClean="0">
                              <a:solidFill>
                                <a:srgbClr val="FCFCFC"/>
                              </a:solidFill>
                              <a:latin typeface="Cambria Math" panose="02040503050406030204" pitchFamily="18" charset="0"/>
                              <a:ea typeface="Questrial" pitchFamily="2" charset="0"/>
                              <a:cs typeface="Questrial" pitchFamily="2" charset="0"/>
                            </a:rPr>
                            <m:t>𝑒</m:t>
                          </m:r>
                        </m:e>
                        <m:sub>
                          <m:r>
                            <a:rPr lang="en-US" sz="4000" b="0" i="1" smtClean="0">
                              <a:solidFill>
                                <a:srgbClr val="FCFCFC"/>
                              </a:solidFill>
                              <a:latin typeface="Cambria Math" panose="02040503050406030204" pitchFamily="18" charset="0"/>
                              <a:ea typeface="Questrial" pitchFamily="2" charset="0"/>
                              <a:cs typeface="Questrial" pitchFamily="2" charset="0"/>
                            </a:rPr>
                            <m:t>𝑘</m:t>
                          </m:r>
                          <m:r>
                            <m:rPr>
                              <m:sty m:val="p"/>
                            </m:rPr>
                            <a:rPr lang="en-US" sz="4000" b="0" i="1" smtClean="0">
                              <a:solidFill>
                                <a:srgbClr val="FCFCFC"/>
                              </a:solidFill>
                              <a:latin typeface="Cambria Math" panose="02040503050406030204" pitchFamily="18" charset="0"/>
                              <a:ea typeface="Questrial" pitchFamily="2" charset="0"/>
                              <a:cs typeface="Questrial" pitchFamily="2" charset="0"/>
                            </a:rPr>
                            <m:t>i</m:t>
                          </m:r>
                        </m:sub>
                      </m:sSub>
                      <m:sSub>
                        <m:sSubPr>
                          <m:ctrlPr>
                            <a:rPr lang="en-US" sz="4000" b="0" i="1" smtClean="0">
                              <a:solidFill>
                                <a:srgbClr val="FCFCFC"/>
                              </a:solidFill>
                              <a:latin typeface="Cambria Math" panose="02040503050406030204" pitchFamily="18" charset="0"/>
                              <a:ea typeface="Questrial" pitchFamily="2" charset="0"/>
                              <a:cs typeface="Questrial" pitchFamily="2" charset="0"/>
                            </a:rPr>
                          </m:ctrlPr>
                        </m:sSubPr>
                        <m:e>
                          <m:r>
                            <a:rPr lang="en-US" sz="4000" b="0" i="1" smtClean="0">
                              <a:solidFill>
                                <a:srgbClr val="FCFCFC"/>
                              </a:solidFill>
                              <a:latin typeface="Cambria Math" panose="02040503050406030204" pitchFamily="18" charset="0"/>
                              <a:ea typeface="Questrial" pitchFamily="2" charset="0"/>
                              <a:cs typeface="Questrial" pitchFamily="2" charset="0"/>
                            </a:rPr>
                            <m:t>𝑢</m:t>
                          </m:r>
                        </m:e>
                        <m:sub>
                          <m:r>
                            <a:rPr lang="en-US" sz="4000" b="0" i="1" smtClean="0">
                              <a:solidFill>
                                <a:srgbClr val="FCFCFC"/>
                              </a:solidFill>
                              <a:latin typeface="Cambria Math" panose="02040503050406030204" pitchFamily="18" charset="0"/>
                              <a:ea typeface="Questrial" pitchFamily="2" charset="0"/>
                              <a:cs typeface="Questrial" pitchFamily="2" charset="0"/>
                            </a:rPr>
                            <m:t>𝑘</m:t>
                          </m:r>
                        </m:sub>
                      </m:sSub>
                    </m:oMath>
                  </m:oMathPara>
                </a14:m>
                <a:endParaRPr lang="it-IT" sz="4000" dirty="0">
                  <a:solidFill>
                    <a:srgbClr val="FCFCFC"/>
                  </a:solidFill>
                  <a:latin typeface="Questrial" pitchFamily="2" charset="0"/>
                  <a:ea typeface="Questrial" pitchFamily="2" charset="0"/>
                  <a:cs typeface="Questrial" pitchFamily="2" charset="0"/>
                </a:endParaRPr>
              </a:p>
            </p:txBody>
          </p:sp>
        </mc:Choice>
        <mc:Fallback>
          <p:sp>
            <p:nvSpPr>
              <p:cNvPr id="16" name="CasellaDiTesto 15">
                <a:extLst>
                  <a:ext uri="{FF2B5EF4-FFF2-40B4-BE49-F238E27FC236}">
                    <a16:creationId xmlns:a16="http://schemas.microsoft.com/office/drawing/2014/main" id="{DF78D1A0-7E35-CDE5-552F-C479D8E247A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93018" y="3616281"/>
                <a:ext cx="4598982" cy="707886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Sottotitolo 2">
            <a:extLst>
              <a:ext uri="{FF2B5EF4-FFF2-40B4-BE49-F238E27FC236}">
                <a16:creationId xmlns:a16="http://schemas.microsoft.com/office/drawing/2014/main" id="{1EEC2D27-D920-CB93-A59F-AE3B110C0CDD}"/>
              </a:ext>
            </a:extLst>
          </p:cNvPr>
          <p:cNvSpPr txBox="1">
            <a:spLocks/>
          </p:cNvSpPr>
          <p:nvPr/>
        </p:nvSpPr>
        <p:spPr>
          <a:xfrm>
            <a:off x="462912" y="5430701"/>
            <a:ext cx="11213830" cy="142729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it-IT" sz="3200" dirty="0">
                <a:latin typeface="Questrial" pitchFamily="2" charset="0"/>
                <a:ea typeface="Questrial" pitchFamily="2" charset="0"/>
                <a:cs typeface="Questrial" pitchFamily="2" charset="0"/>
              </a:rPr>
              <a:t>Nei dataset reali gli item popolari compaiono migliaia di volte, causando potenziali </a:t>
            </a:r>
            <a:r>
              <a:rPr lang="it-IT" sz="3200" b="1" dirty="0">
                <a:latin typeface="Questrial" pitchFamily="2" charset="0"/>
                <a:ea typeface="Questrial" pitchFamily="2" charset="0"/>
                <a:cs typeface="Questrial" pitchFamily="2" charset="0"/>
              </a:rPr>
              <a:t>conflitti continui</a:t>
            </a:r>
            <a:r>
              <a:rPr lang="it-IT" sz="3200" dirty="0">
                <a:latin typeface="Questrial" pitchFamily="2" charset="0"/>
                <a:ea typeface="Questrial" pitchFamily="2" charset="0"/>
                <a:cs typeface="Questrial" pitchFamily="2" charset="0"/>
              </a:rPr>
              <a:t>. </a:t>
            </a:r>
            <a:endParaRPr lang="it-IT" sz="3200" i="1" dirty="0">
              <a:solidFill>
                <a:schemeClr val="tx1"/>
              </a:solidFill>
              <a:latin typeface="Questrial" pitchFamily="2" charset="0"/>
              <a:ea typeface="Questrial" pitchFamily="2" charset="0"/>
              <a:cs typeface="Questrial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746836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1F6CFE-D05A-6C85-EE48-EA1D6B0E03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ttangolo 6">
            <a:extLst>
              <a:ext uri="{FF2B5EF4-FFF2-40B4-BE49-F238E27FC236}">
                <a16:creationId xmlns:a16="http://schemas.microsoft.com/office/drawing/2014/main" id="{230460BF-50C8-8DE9-6748-47BBDFAFEBA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CFCF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14" name="Rettangolo con angoli arrotondati 13">
            <a:extLst>
              <a:ext uri="{FF2B5EF4-FFF2-40B4-BE49-F238E27FC236}">
                <a16:creationId xmlns:a16="http://schemas.microsoft.com/office/drawing/2014/main" id="{972F4FB1-B425-D2E7-B385-4499ACDC4909}"/>
              </a:ext>
            </a:extLst>
          </p:cNvPr>
          <p:cNvSpPr/>
          <p:nvPr/>
        </p:nvSpPr>
        <p:spPr>
          <a:xfrm>
            <a:off x="5509714" y="448581"/>
            <a:ext cx="2503837" cy="2258359"/>
          </a:xfrm>
          <a:prstGeom prst="roundRect">
            <a:avLst/>
          </a:prstGeom>
          <a:solidFill>
            <a:srgbClr val="FC993E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3" name="Rettangolo con angoli arrotondati 2">
            <a:extLst>
              <a:ext uri="{FF2B5EF4-FFF2-40B4-BE49-F238E27FC236}">
                <a16:creationId xmlns:a16="http://schemas.microsoft.com/office/drawing/2014/main" id="{301D9EC6-8DFA-93B9-7DFC-07F44F67824C}"/>
              </a:ext>
            </a:extLst>
          </p:cNvPr>
          <p:cNvSpPr/>
          <p:nvPr/>
        </p:nvSpPr>
        <p:spPr>
          <a:xfrm>
            <a:off x="8273142" y="448581"/>
            <a:ext cx="3659267" cy="5960837"/>
          </a:xfrm>
          <a:prstGeom prst="roundRect">
            <a:avLst/>
          </a:prstGeom>
          <a:solidFill>
            <a:srgbClr val="667C6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4" name="Rettangolo con angoli arrotondati 3">
            <a:extLst>
              <a:ext uri="{FF2B5EF4-FFF2-40B4-BE49-F238E27FC236}">
                <a16:creationId xmlns:a16="http://schemas.microsoft.com/office/drawing/2014/main" id="{857CC4C6-A89E-F93D-9E8F-59F9D9E67340}"/>
              </a:ext>
            </a:extLst>
          </p:cNvPr>
          <p:cNvSpPr/>
          <p:nvPr/>
        </p:nvSpPr>
        <p:spPr>
          <a:xfrm>
            <a:off x="5509713" y="3155521"/>
            <a:ext cx="2503837" cy="3253897"/>
          </a:xfrm>
          <a:prstGeom prst="roundRect">
            <a:avLst/>
          </a:prstGeom>
          <a:solidFill>
            <a:srgbClr val="667C6F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9" name="Rettangolo con angoli arrotondati 8">
            <a:extLst>
              <a:ext uri="{FF2B5EF4-FFF2-40B4-BE49-F238E27FC236}">
                <a16:creationId xmlns:a16="http://schemas.microsoft.com/office/drawing/2014/main" id="{8EED4D9E-54C1-9FA4-D13A-9248DDC61B91}"/>
              </a:ext>
            </a:extLst>
          </p:cNvPr>
          <p:cNvSpPr/>
          <p:nvPr/>
        </p:nvSpPr>
        <p:spPr>
          <a:xfrm>
            <a:off x="1318894" y="3788229"/>
            <a:ext cx="1359467" cy="769950"/>
          </a:xfrm>
          <a:prstGeom prst="roundRect">
            <a:avLst/>
          </a:prstGeom>
          <a:solidFill>
            <a:srgbClr val="FC993E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pic>
        <p:nvPicPr>
          <p:cNvPr id="6" name="Immagine 5" descr="Immagine che contiene custodia, elettronica, unità&#10;&#10;Il contenuto generato dall'IA potrebbe non essere corretto.">
            <a:extLst>
              <a:ext uri="{FF2B5EF4-FFF2-40B4-BE49-F238E27FC236}">
                <a16:creationId xmlns:a16="http://schemas.microsoft.com/office/drawing/2014/main" id="{761E3EBA-8F1F-ADD6-9373-5C85B9EA755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55188" y="1292639"/>
            <a:ext cx="6861810" cy="3859768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sp>
        <p:nvSpPr>
          <p:cNvPr id="2" name="Titolo 1">
            <a:extLst>
              <a:ext uri="{FF2B5EF4-FFF2-40B4-BE49-F238E27FC236}">
                <a16:creationId xmlns:a16="http://schemas.microsoft.com/office/drawing/2014/main" id="{648B8113-D879-5686-6362-5528A31517E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59591" y="2299819"/>
            <a:ext cx="5204915" cy="2258359"/>
          </a:xfrm>
        </p:spPr>
        <p:txBody>
          <a:bodyPr>
            <a:noAutofit/>
          </a:bodyPr>
          <a:lstStyle/>
          <a:p>
            <a:pPr algn="l"/>
            <a:r>
              <a:rPr lang="en-US" sz="4800" b="1" dirty="0" err="1">
                <a:latin typeface="Questrial" panose="020F0502020204030204" pitchFamily="2" charset="0"/>
                <a:ea typeface="Questrial" panose="020F0502020204030204" pitchFamily="2" charset="0"/>
                <a:cs typeface="Questrial" panose="020F0502020204030204" pitchFamily="2" charset="0"/>
              </a:rPr>
              <a:t>Tecniche</a:t>
            </a:r>
            <a:r>
              <a:rPr lang="en-US" sz="4800" b="1" dirty="0">
                <a:latin typeface="Questrial" panose="020F0502020204030204" pitchFamily="2" charset="0"/>
                <a:ea typeface="Questrial" panose="020F0502020204030204" pitchFamily="2" charset="0"/>
                <a:cs typeface="Questrial" panose="020F0502020204030204" pitchFamily="2" charset="0"/>
              </a:rPr>
              <a:t> di </a:t>
            </a:r>
            <a:r>
              <a:rPr lang="en-US" sz="4800" b="1" dirty="0" err="1">
                <a:latin typeface="Questrial" panose="020F0502020204030204" pitchFamily="2" charset="0"/>
                <a:ea typeface="Questrial" panose="020F0502020204030204" pitchFamily="2" charset="0"/>
                <a:cs typeface="Questrial" panose="020F0502020204030204" pitchFamily="2" charset="0"/>
              </a:rPr>
              <a:t>Parallelizzazione</a:t>
            </a:r>
            <a:r>
              <a:rPr lang="en-US" sz="4800" b="1" dirty="0">
                <a:latin typeface="Questrial" panose="020F0502020204030204" pitchFamily="2" charset="0"/>
                <a:ea typeface="Questrial" panose="020F0502020204030204" pitchFamily="2" charset="0"/>
                <a:cs typeface="Questrial" panose="020F0502020204030204" pitchFamily="2" charset="0"/>
              </a:rPr>
              <a:t> per </a:t>
            </a:r>
            <a:r>
              <a:rPr lang="en-US" sz="4800" b="1" dirty="0">
                <a:solidFill>
                  <a:schemeClr val="bg1"/>
                </a:solidFill>
                <a:latin typeface="Questrial" panose="020F0502020204030204" pitchFamily="2" charset="0"/>
                <a:ea typeface="Questrial" panose="020F0502020204030204" pitchFamily="2" charset="0"/>
                <a:cs typeface="Questrial" panose="020F0502020204030204" pitchFamily="2" charset="0"/>
              </a:rPr>
              <a:t>CPU</a:t>
            </a:r>
            <a:endParaRPr lang="it-IT" sz="4800" b="1" dirty="0">
              <a:solidFill>
                <a:schemeClr val="bg1"/>
              </a:solidFill>
              <a:latin typeface="Questrial" panose="020F0502020204030204" pitchFamily="2" charset="0"/>
              <a:ea typeface="Questrial" panose="020F0502020204030204" pitchFamily="2" charset="0"/>
              <a:cs typeface="Questrial" panose="020F05020202040302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1248026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7F2475-4ED4-8934-B478-475884C3E7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ttangolo 6">
            <a:extLst>
              <a:ext uri="{FF2B5EF4-FFF2-40B4-BE49-F238E27FC236}">
                <a16:creationId xmlns:a16="http://schemas.microsoft.com/office/drawing/2014/main" id="{D2A6E340-9A30-324E-1DFF-83F0D7B369C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CFCF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it-IT" dirty="0"/>
          </a:p>
        </p:txBody>
      </p:sp>
      <p:sp>
        <p:nvSpPr>
          <p:cNvPr id="5" name="Rettangolo con angoli arrotondati 4">
            <a:extLst>
              <a:ext uri="{FF2B5EF4-FFF2-40B4-BE49-F238E27FC236}">
                <a16:creationId xmlns:a16="http://schemas.microsoft.com/office/drawing/2014/main" id="{1692ACCA-3B2E-EF59-0B26-A76D52BD34EF}"/>
              </a:ext>
            </a:extLst>
          </p:cNvPr>
          <p:cNvSpPr/>
          <p:nvPr/>
        </p:nvSpPr>
        <p:spPr>
          <a:xfrm>
            <a:off x="449970" y="1972924"/>
            <a:ext cx="3706829" cy="2118861"/>
          </a:xfrm>
          <a:prstGeom prst="roundRect">
            <a:avLst/>
          </a:prstGeom>
          <a:solidFill>
            <a:srgbClr val="FC993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58E6C00C-B92F-4CD9-0EBF-4E9CC53C031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84600" y="894578"/>
            <a:ext cx="6926400" cy="861428"/>
          </a:xfrm>
        </p:spPr>
        <p:txBody>
          <a:bodyPr>
            <a:noAutofit/>
          </a:bodyPr>
          <a:lstStyle/>
          <a:p>
            <a:pPr algn="l"/>
            <a:r>
              <a:rPr lang="en-US" sz="5400" b="1" dirty="0">
                <a:latin typeface="Questrial" panose="020F0502020204030204" pitchFamily="2" charset="0"/>
                <a:ea typeface="Questrial" panose="020F0502020204030204" pitchFamily="2" charset="0"/>
                <a:cs typeface="Questrial" panose="020F0502020204030204" pitchFamily="2" charset="0"/>
              </a:rPr>
              <a:t>Distributed SGD</a:t>
            </a:r>
            <a:endParaRPr lang="it-IT" sz="5400" b="1" dirty="0">
              <a:latin typeface="Questrial" panose="020F0502020204030204" pitchFamily="2" charset="0"/>
              <a:ea typeface="Questrial" panose="020F0502020204030204" pitchFamily="2" charset="0"/>
              <a:cs typeface="Questrial" panose="020F0502020204030204" pitchFamily="2" charset="0"/>
            </a:endParaRPr>
          </a:p>
        </p:txBody>
      </p:sp>
      <p:sp>
        <p:nvSpPr>
          <p:cNvPr id="8" name="Sottotitolo 2">
            <a:extLst>
              <a:ext uri="{FF2B5EF4-FFF2-40B4-BE49-F238E27FC236}">
                <a16:creationId xmlns:a16="http://schemas.microsoft.com/office/drawing/2014/main" id="{A29EC1AD-0AD9-A404-1518-DC0D502237C4}"/>
              </a:ext>
            </a:extLst>
          </p:cNvPr>
          <p:cNvSpPr txBox="1">
            <a:spLocks/>
          </p:cNvSpPr>
          <p:nvPr/>
        </p:nvSpPr>
        <p:spPr>
          <a:xfrm>
            <a:off x="688426" y="2270354"/>
            <a:ext cx="3229915" cy="15240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it-IT" dirty="0">
                <a:solidFill>
                  <a:srgbClr val="FCFCFC"/>
                </a:solidFill>
                <a:latin typeface="Questrial" pitchFamily="2" charset="0"/>
                <a:ea typeface="Questrial" pitchFamily="2" charset="0"/>
                <a:cs typeface="Questrial" pitchFamily="2" charset="0"/>
              </a:rPr>
              <a:t>1. Suddivisione matrice </a:t>
            </a:r>
            <a:r>
              <a:rPr lang="it-IT" i="1" dirty="0">
                <a:solidFill>
                  <a:srgbClr val="FCFCFC"/>
                </a:solidFill>
                <a:latin typeface="Questrial" pitchFamily="2" charset="0"/>
                <a:ea typeface="Questrial" pitchFamily="2" charset="0"/>
                <a:cs typeface="Questrial" pitchFamily="2" charset="0"/>
              </a:rPr>
              <a:t>R</a:t>
            </a:r>
            <a:r>
              <a:rPr lang="it-IT" dirty="0">
                <a:solidFill>
                  <a:srgbClr val="FCFCFC"/>
                </a:solidFill>
                <a:latin typeface="Questrial" pitchFamily="2" charset="0"/>
                <a:ea typeface="Questrial" pitchFamily="2" charset="0"/>
                <a:cs typeface="Questrial" pitchFamily="2" charset="0"/>
              </a:rPr>
              <a:t>  in blocchi.</a:t>
            </a:r>
          </a:p>
        </p:txBody>
      </p:sp>
      <p:sp>
        <p:nvSpPr>
          <p:cNvPr id="3" name="Rettangolo con angoli arrotondati 2">
            <a:extLst>
              <a:ext uri="{FF2B5EF4-FFF2-40B4-BE49-F238E27FC236}">
                <a16:creationId xmlns:a16="http://schemas.microsoft.com/office/drawing/2014/main" id="{6164DA20-3EAB-AACE-AD7B-0F13C26726E3}"/>
              </a:ext>
            </a:extLst>
          </p:cNvPr>
          <p:cNvSpPr/>
          <p:nvPr/>
        </p:nvSpPr>
        <p:spPr>
          <a:xfrm>
            <a:off x="4328374" y="2008191"/>
            <a:ext cx="3706829" cy="2118861"/>
          </a:xfrm>
          <a:prstGeom prst="roundRect">
            <a:avLst/>
          </a:prstGeom>
          <a:solidFill>
            <a:srgbClr val="FC993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4" name="Sottotitolo 2">
            <a:extLst>
              <a:ext uri="{FF2B5EF4-FFF2-40B4-BE49-F238E27FC236}">
                <a16:creationId xmlns:a16="http://schemas.microsoft.com/office/drawing/2014/main" id="{940B2992-75B7-5C4F-2B53-F4AA0E8D6B91}"/>
              </a:ext>
            </a:extLst>
          </p:cNvPr>
          <p:cNvSpPr txBox="1">
            <a:spLocks/>
          </p:cNvSpPr>
          <p:nvPr/>
        </p:nvSpPr>
        <p:spPr>
          <a:xfrm>
            <a:off x="4566830" y="2305621"/>
            <a:ext cx="3229915" cy="15240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it-IT" dirty="0">
                <a:solidFill>
                  <a:srgbClr val="FCFCFC"/>
                </a:solidFill>
                <a:latin typeface="Questrial" pitchFamily="2" charset="0"/>
                <a:ea typeface="Questrial" pitchFamily="2" charset="0"/>
                <a:cs typeface="Questrial" pitchFamily="2" charset="0"/>
              </a:rPr>
              <a:t>2. Selezione degli </a:t>
            </a:r>
            <a:r>
              <a:rPr lang="it-IT" i="1" dirty="0" err="1">
                <a:solidFill>
                  <a:srgbClr val="FCFCFC"/>
                </a:solidFill>
                <a:latin typeface="Questrial" pitchFamily="2" charset="0"/>
                <a:ea typeface="Questrial" pitchFamily="2" charset="0"/>
                <a:cs typeface="Questrial" pitchFamily="2" charset="0"/>
              </a:rPr>
              <a:t>strata</a:t>
            </a:r>
            <a:r>
              <a:rPr lang="it-IT" i="1" dirty="0">
                <a:solidFill>
                  <a:srgbClr val="FCFCFC"/>
                </a:solidFill>
                <a:latin typeface="Questrial" pitchFamily="2" charset="0"/>
                <a:ea typeface="Questrial" pitchFamily="2" charset="0"/>
                <a:cs typeface="Questrial" pitchFamily="2" charset="0"/>
              </a:rPr>
              <a:t> -</a:t>
            </a:r>
            <a:r>
              <a:rPr lang="it-IT" dirty="0">
                <a:solidFill>
                  <a:srgbClr val="FCFCFC"/>
                </a:solidFill>
                <a:latin typeface="Questrial" pitchFamily="2" charset="0"/>
                <a:ea typeface="Questrial" pitchFamily="2" charset="0"/>
                <a:cs typeface="Questrial" pitchFamily="2" charset="0"/>
              </a:rPr>
              <a:t> blocchi che non condividono né utenti né item.</a:t>
            </a:r>
            <a:endParaRPr lang="it-IT" i="1" dirty="0">
              <a:solidFill>
                <a:srgbClr val="FCFCFC"/>
              </a:solidFill>
              <a:latin typeface="Questrial" pitchFamily="2" charset="0"/>
              <a:ea typeface="Questrial" pitchFamily="2" charset="0"/>
              <a:cs typeface="Questrial" pitchFamily="2" charset="0"/>
            </a:endParaRPr>
          </a:p>
        </p:txBody>
      </p:sp>
      <p:sp>
        <p:nvSpPr>
          <p:cNvPr id="6" name="Rettangolo con angoli arrotondati 5">
            <a:extLst>
              <a:ext uri="{FF2B5EF4-FFF2-40B4-BE49-F238E27FC236}">
                <a16:creationId xmlns:a16="http://schemas.microsoft.com/office/drawing/2014/main" id="{D1DFA636-36B5-89F5-F82B-B65463A0F4EA}"/>
              </a:ext>
            </a:extLst>
          </p:cNvPr>
          <p:cNvSpPr/>
          <p:nvPr/>
        </p:nvSpPr>
        <p:spPr>
          <a:xfrm>
            <a:off x="8234013" y="2008191"/>
            <a:ext cx="3706829" cy="2118861"/>
          </a:xfrm>
          <a:prstGeom prst="roundRect">
            <a:avLst/>
          </a:prstGeom>
          <a:solidFill>
            <a:srgbClr val="FC993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9" name="Sottotitolo 2">
            <a:extLst>
              <a:ext uri="{FF2B5EF4-FFF2-40B4-BE49-F238E27FC236}">
                <a16:creationId xmlns:a16="http://schemas.microsoft.com/office/drawing/2014/main" id="{6890588B-0B40-1740-CB3A-823CC99A72FC}"/>
              </a:ext>
            </a:extLst>
          </p:cNvPr>
          <p:cNvSpPr txBox="1">
            <a:spLocks/>
          </p:cNvSpPr>
          <p:nvPr/>
        </p:nvSpPr>
        <p:spPr>
          <a:xfrm>
            <a:off x="8472469" y="2270354"/>
            <a:ext cx="3229915" cy="15240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it-IT" dirty="0">
                <a:solidFill>
                  <a:srgbClr val="FCFCFC"/>
                </a:solidFill>
                <a:latin typeface="Questrial" pitchFamily="2" charset="0"/>
                <a:ea typeface="Questrial" pitchFamily="2" charset="0"/>
                <a:cs typeface="Questrial" pitchFamily="2" charset="0"/>
              </a:rPr>
              <a:t>3. Passaggio allo </a:t>
            </a:r>
            <a:r>
              <a:rPr lang="it-IT" dirty="0" err="1">
                <a:solidFill>
                  <a:srgbClr val="FCFCFC"/>
                </a:solidFill>
                <a:latin typeface="Questrial" pitchFamily="2" charset="0"/>
                <a:ea typeface="Questrial" pitchFamily="2" charset="0"/>
                <a:cs typeface="Questrial" pitchFamily="2" charset="0"/>
              </a:rPr>
              <a:t>strata</a:t>
            </a:r>
            <a:r>
              <a:rPr lang="it-IT" dirty="0">
                <a:solidFill>
                  <a:srgbClr val="FCFCFC"/>
                </a:solidFill>
                <a:latin typeface="Questrial" pitchFamily="2" charset="0"/>
                <a:ea typeface="Questrial" pitchFamily="2" charset="0"/>
                <a:cs typeface="Questrial" pitchFamily="2" charset="0"/>
              </a:rPr>
              <a:t> successivo.</a:t>
            </a:r>
            <a:endParaRPr lang="it-IT" i="1" dirty="0">
              <a:solidFill>
                <a:srgbClr val="FCFCFC"/>
              </a:solidFill>
              <a:latin typeface="Questrial" pitchFamily="2" charset="0"/>
              <a:ea typeface="Questrial" pitchFamily="2" charset="0"/>
              <a:cs typeface="Questrial" pitchFamily="2" charset="0"/>
            </a:endParaRPr>
          </a:p>
        </p:txBody>
      </p:sp>
      <p:pic>
        <p:nvPicPr>
          <p:cNvPr id="11" name="Immagine 10" descr="Immagine che contiene schermata, Carattere, Rettangolo&#10;&#10;Il contenuto generato dall'IA potrebbe non essere corretto.">
            <a:extLst>
              <a:ext uri="{FF2B5EF4-FFF2-40B4-BE49-F238E27FC236}">
                <a16:creationId xmlns:a16="http://schemas.microsoft.com/office/drawing/2014/main" id="{397FA153-B5BD-5C54-CD69-568CEBB051C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8576" y="4343970"/>
            <a:ext cx="9894847" cy="2011267"/>
          </a:xfrm>
          <a:prstGeom prst="rect">
            <a:avLst/>
          </a:prstGeom>
        </p:spPr>
      </p:pic>
      <p:pic>
        <p:nvPicPr>
          <p:cNvPr id="14" name="Immagine 13" descr="Immagine che contiene nero, oscurità&#10;&#10;Il contenuto generato dall'IA potrebbe non essere corretto.">
            <a:extLst>
              <a:ext uri="{FF2B5EF4-FFF2-40B4-BE49-F238E27FC236}">
                <a16:creationId xmlns:a16="http://schemas.microsoft.com/office/drawing/2014/main" id="{5E2F21F1-9D03-C045-9457-72BD2CC9073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36202" y="458979"/>
            <a:ext cx="871198" cy="8711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158483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175A4E-D3B5-1758-FE9A-2EE5288894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ttangolo 6">
            <a:extLst>
              <a:ext uri="{FF2B5EF4-FFF2-40B4-BE49-F238E27FC236}">
                <a16:creationId xmlns:a16="http://schemas.microsoft.com/office/drawing/2014/main" id="{99380631-C747-2485-6973-457B4257D53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CFCF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it-IT" dirty="0"/>
          </a:p>
        </p:txBody>
      </p:sp>
      <p:sp>
        <p:nvSpPr>
          <p:cNvPr id="6" name="Rettangolo con angoli arrotondati 5">
            <a:extLst>
              <a:ext uri="{FF2B5EF4-FFF2-40B4-BE49-F238E27FC236}">
                <a16:creationId xmlns:a16="http://schemas.microsoft.com/office/drawing/2014/main" id="{1E42225B-52A3-C522-4F66-70DC30E02C92}"/>
              </a:ext>
            </a:extLst>
          </p:cNvPr>
          <p:cNvSpPr/>
          <p:nvPr/>
        </p:nvSpPr>
        <p:spPr>
          <a:xfrm>
            <a:off x="4750357" y="3085708"/>
            <a:ext cx="7157043" cy="4666870"/>
          </a:xfrm>
          <a:prstGeom prst="roundRect">
            <a:avLst/>
          </a:prstGeom>
          <a:solidFill>
            <a:srgbClr val="FC993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3" name="Rettangolo con angoli arrotondati 12">
            <a:extLst>
              <a:ext uri="{FF2B5EF4-FFF2-40B4-BE49-F238E27FC236}">
                <a16:creationId xmlns:a16="http://schemas.microsoft.com/office/drawing/2014/main" id="{35AE39C9-FC11-EC2B-8C51-F31BCE6DBD7F}"/>
              </a:ext>
            </a:extLst>
          </p:cNvPr>
          <p:cNvSpPr/>
          <p:nvPr/>
        </p:nvSpPr>
        <p:spPr>
          <a:xfrm>
            <a:off x="-1554056" y="3085708"/>
            <a:ext cx="8555899" cy="4666870"/>
          </a:xfrm>
          <a:prstGeom prst="roundRect">
            <a:avLst/>
          </a:prstGeom>
          <a:solidFill>
            <a:srgbClr val="667C6F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A67F6E57-4A51-70EC-1AE7-206B9D783B0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84600" y="894578"/>
            <a:ext cx="6926400" cy="861428"/>
          </a:xfrm>
        </p:spPr>
        <p:txBody>
          <a:bodyPr>
            <a:noAutofit/>
          </a:bodyPr>
          <a:lstStyle/>
          <a:p>
            <a:pPr algn="l"/>
            <a:r>
              <a:rPr lang="en-US" sz="5400" b="1" dirty="0" err="1">
                <a:latin typeface="Questrial" panose="020F0502020204030204" pitchFamily="2" charset="0"/>
                <a:ea typeface="Questrial" panose="020F0502020204030204" pitchFamily="2" charset="0"/>
                <a:cs typeface="Questrial" panose="020F0502020204030204" pitchFamily="2" charset="0"/>
              </a:rPr>
              <a:t>Hogwild</a:t>
            </a:r>
            <a:r>
              <a:rPr lang="en-US" sz="5400" b="1" dirty="0">
                <a:latin typeface="Questrial" panose="020F0502020204030204" pitchFamily="2" charset="0"/>
                <a:ea typeface="Questrial" panose="020F0502020204030204" pitchFamily="2" charset="0"/>
                <a:cs typeface="Questrial" panose="020F0502020204030204" pitchFamily="2" charset="0"/>
              </a:rPr>
              <a:t>!</a:t>
            </a:r>
            <a:endParaRPr lang="it-IT" sz="5400" b="1" dirty="0">
              <a:latin typeface="Questrial" panose="020F0502020204030204" pitchFamily="2" charset="0"/>
              <a:ea typeface="Questrial" panose="020F0502020204030204" pitchFamily="2" charset="0"/>
              <a:cs typeface="Questrial" panose="020F0502020204030204" pitchFamily="2" charset="0"/>
            </a:endParaRPr>
          </a:p>
        </p:txBody>
      </p:sp>
      <p:sp>
        <p:nvSpPr>
          <p:cNvPr id="8" name="Sottotitolo 2">
            <a:extLst>
              <a:ext uri="{FF2B5EF4-FFF2-40B4-BE49-F238E27FC236}">
                <a16:creationId xmlns:a16="http://schemas.microsoft.com/office/drawing/2014/main" id="{796D4837-05A1-9D64-9E3F-F2A528EAC9FE}"/>
              </a:ext>
            </a:extLst>
          </p:cNvPr>
          <p:cNvSpPr txBox="1">
            <a:spLocks/>
          </p:cNvSpPr>
          <p:nvPr/>
        </p:nvSpPr>
        <p:spPr>
          <a:xfrm>
            <a:off x="284600" y="1675158"/>
            <a:ext cx="11622800" cy="137598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it-IT" sz="3200" dirty="0">
                <a:latin typeface="Questrial" pitchFamily="2" charset="0"/>
                <a:ea typeface="Questrial" pitchFamily="2" charset="0"/>
                <a:cs typeface="Questrial" pitchFamily="2" charset="0"/>
              </a:rPr>
              <a:t>Elimina completamente i meccanismi di sincronizzazione: i </a:t>
            </a:r>
            <a:r>
              <a:rPr lang="it-IT" sz="3200" dirty="0" err="1">
                <a:latin typeface="Questrial" pitchFamily="2" charset="0"/>
                <a:ea typeface="Questrial" pitchFamily="2" charset="0"/>
                <a:cs typeface="Questrial" pitchFamily="2" charset="0"/>
              </a:rPr>
              <a:t>thread</a:t>
            </a:r>
            <a:r>
              <a:rPr lang="it-IT" sz="3200" dirty="0">
                <a:latin typeface="Questrial" pitchFamily="2" charset="0"/>
                <a:ea typeface="Questrial" pitchFamily="2" charset="0"/>
                <a:cs typeface="Questrial" pitchFamily="2" charset="0"/>
              </a:rPr>
              <a:t> aggiornano i parametri in maniera asincrona e non protetta. </a:t>
            </a:r>
          </a:p>
        </p:txBody>
      </p:sp>
      <p:sp>
        <p:nvSpPr>
          <p:cNvPr id="14" name="Sottotitolo 2">
            <a:extLst>
              <a:ext uri="{FF2B5EF4-FFF2-40B4-BE49-F238E27FC236}">
                <a16:creationId xmlns:a16="http://schemas.microsoft.com/office/drawing/2014/main" id="{EE76A0A3-6B82-010A-227D-5ACF51FDBB50}"/>
              </a:ext>
            </a:extLst>
          </p:cNvPr>
          <p:cNvSpPr txBox="1">
            <a:spLocks/>
          </p:cNvSpPr>
          <p:nvPr/>
        </p:nvSpPr>
        <p:spPr>
          <a:xfrm>
            <a:off x="241775" y="3429000"/>
            <a:ext cx="6566144" cy="305113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it-IT" sz="2800" dirty="0">
                <a:solidFill>
                  <a:srgbClr val="FCFCFC"/>
                </a:solidFill>
                <a:latin typeface="Questrial" pitchFamily="2" charset="0"/>
                <a:ea typeface="Questrial" pitchFamily="2" charset="0"/>
                <a:cs typeface="Questrial" pitchFamily="2" charset="0"/>
              </a:rPr>
              <a:t>Se la matrice dei rating è  molto sparsa, la probabilità che due </a:t>
            </a:r>
            <a:r>
              <a:rPr lang="it-IT" sz="2800" dirty="0" err="1">
                <a:solidFill>
                  <a:srgbClr val="FCFCFC"/>
                </a:solidFill>
                <a:latin typeface="Questrial" pitchFamily="2" charset="0"/>
                <a:ea typeface="Questrial" pitchFamily="2" charset="0"/>
                <a:cs typeface="Questrial" pitchFamily="2" charset="0"/>
              </a:rPr>
              <a:t>thread</a:t>
            </a:r>
            <a:r>
              <a:rPr lang="it-IT" sz="2800" dirty="0">
                <a:solidFill>
                  <a:srgbClr val="FCFCFC"/>
                </a:solidFill>
                <a:latin typeface="Questrial" pitchFamily="2" charset="0"/>
                <a:ea typeface="Questrial" pitchFamily="2" charset="0"/>
                <a:cs typeface="Questrial" pitchFamily="2" charset="0"/>
              </a:rPr>
              <a:t> accedano allo stesso parametro è molto bassa: i lock vengono rimossi.</a:t>
            </a:r>
          </a:p>
          <a:p>
            <a:pPr marL="457200" indent="-457200" algn="l">
              <a:buFontTx/>
              <a:buChar char="-"/>
            </a:pPr>
            <a:r>
              <a:rPr lang="it-IT" sz="2800" b="1" dirty="0">
                <a:solidFill>
                  <a:srgbClr val="FCFCFC"/>
                </a:solidFill>
                <a:latin typeface="Questrial" pitchFamily="2" charset="0"/>
                <a:ea typeface="Questrial" pitchFamily="2" charset="0"/>
                <a:cs typeface="Questrial" pitchFamily="2" charset="0"/>
              </a:rPr>
              <a:t>Riduzione overhead sincronizzazione </a:t>
            </a:r>
          </a:p>
          <a:p>
            <a:pPr marL="457200" indent="-457200" algn="l">
              <a:buFontTx/>
              <a:buChar char="-"/>
            </a:pPr>
            <a:r>
              <a:rPr lang="it-IT" sz="2800" b="1" dirty="0">
                <a:solidFill>
                  <a:srgbClr val="FCFCFC"/>
                </a:solidFill>
                <a:latin typeface="Questrial" pitchFamily="2" charset="0"/>
                <a:ea typeface="Questrial" pitchFamily="2" charset="0"/>
                <a:cs typeface="Questrial" pitchFamily="2" charset="0"/>
              </a:rPr>
              <a:t>Aumento prestazioni </a:t>
            </a:r>
            <a:r>
              <a:rPr lang="it-IT" sz="2800" dirty="0">
                <a:solidFill>
                  <a:srgbClr val="FCFCFC"/>
                </a:solidFill>
                <a:latin typeface="Questrial" pitchFamily="2" charset="0"/>
                <a:ea typeface="Questrial" pitchFamily="2" charset="0"/>
                <a:cs typeface="Questrial" pitchFamily="2" charset="0"/>
              </a:rPr>
              <a:t>rispetto a DSGD e ad altri metodi più strutturati.</a:t>
            </a:r>
          </a:p>
        </p:txBody>
      </p:sp>
      <p:sp>
        <p:nvSpPr>
          <p:cNvPr id="15" name="Sottotitolo 2">
            <a:extLst>
              <a:ext uri="{FF2B5EF4-FFF2-40B4-BE49-F238E27FC236}">
                <a16:creationId xmlns:a16="http://schemas.microsoft.com/office/drawing/2014/main" id="{683382C6-8DCE-3467-1DDE-33E0D11A9341}"/>
              </a:ext>
            </a:extLst>
          </p:cNvPr>
          <p:cNvSpPr txBox="1">
            <a:spLocks/>
          </p:cNvSpPr>
          <p:nvPr/>
        </p:nvSpPr>
        <p:spPr>
          <a:xfrm>
            <a:off x="7243618" y="3429000"/>
            <a:ext cx="4706607" cy="23622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it-IT" sz="2800" dirty="0">
                <a:solidFill>
                  <a:srgbClr val="FCFCFC"/>
                </a:solidFill>
                <a:latin typeface="Questrial" pitchFamily="2" charset="0"/>
                <a:ea typeface="Questrial" pitchFamily="2" charset="0"/>
                <a:cs typeface="Questrial" pitchFamily="2" charset="0"/>
              </a:rPr>
              <a:t>Se il dataset non è abbastanza sparso, oppure se alcuni item o utenti sono molto popolari, il rischio di conflitti e </a:t>
            </a:r>
            <a:r>
              <a:rPr lang="it-IT" sz="2800" dirty="0" err="1">
                <a:solidFill>
                  <a:srgbClr val="FCFCFC"/>
                </a:solidFill>
                <a:latin typeface="Questrial" pitchFamily="2" charset="0"/>
                <a:ea typeface="Questrial" pitchFamily="2" charset="0"/>
                <a:cs typeface="Questrial" pitchFamily="2" charset="0"/>
              </a:rPr>
              <a:t>overwriting</a:t>
            </a:r>
            <a:r>
              <a:rPr lang="it-IT" sz="2800" dirty="0">
                <a:solidFill>
                  <a:srgbClr val="FCFCFC"/>
                </a:solidFill>
                <a:latin typeface="Questrial" pitchFamily="2" charset="0"/>
                <a:ea typeface="Questrial" pitchFamily="2" charset="0"/>
                <a:cs typeface="Questrial" pitchFamily="2" charset="0"/>
              </a:rPr>
              <a:t> aumenta.</a:t>
            </a:r>
          </a:p>
        </p:txBody>
      </p:sp>
      <p:pic>
        <p:nvPicPr>
          <p:cNvPr id="17" name="Immagine 16" descr="Immagine che contiene nero, oscurità&#10;&#10;Il contenuto generato dall'IA potrebbe non essere corretto.">
            <a:extLst>
              <a:ext uri="{FF2B5EF4-FFF2-40B4-BE49-F238E27FC236}">
                <a16:creationId xmlns:a16="http://schemas.microsoft.com/office/drawing/2014/main" id="{C0F997B6-D251-332E-FF01-4CF0608EA04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36202" y="458979"/>
            <a:ext cx="871198" cy="8711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682101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55A8A9-FF48-0DEA-D687-68777A8D3A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ttangolo 6">
            <a:extLst>
              <a:ext uri="{FF2B5EF4-FFF2-40B4-BE49-F238E27FC236}">
                <a16:creationId xmlns:a16="http://schemas.microsoft.com/office/drawing/2014/main" id="{E504B853-9340-EBB4-1548-E2B4C05DF7D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CFCF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it-IT" dirty="0"/>
          </a:p>
        </p:txBody>
      </p:sp>
      <p:sp>
        <p:nvSpPr>
          <p:cNvPr id="5" name="Rettangolo con angoli arrotondati 4">
            <a:extLst>
              <a:ext uri="{FF2B5EF4-FFF2-40B4-BE49-F238E27FC236}">
                <a16:creationId xmlns:a16="http://schemas.microsoft.com/office/drawing/2014/main" id="{038F713A-9867-696F-BDD2-080613C6B17C}"/>
              </a:ext>
            </a:extLst>
          </p:cNvPr>
          <p:cNvSpPr/>
          <p:nvPr/>
        </p:nvSpPr>
        <p:spPr>
          <a:xfrm>
            <a:off x="284600" y="2604645"/>
            <a:ext cx="5811400" cy="2062122"/>
          </a:xfrm>
          <a:prstGeom prst="roundRect">
            <a:avLst/>
          </a:prstGeom>
          <a:solidFill>
            <a:srgbClr val="FC993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DEFB2126-1349-BAA5-94D4-CBD75C328E1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84600" y="894578"/>
            <a:ext cx="6926400" cy="861428"/>
          </a:xfrm>
        </p:spPr>
        <p:txBody>
          <a:bodyPr>
            <a:noAutofit/>
          </a:bodyPr>
          <a:lstStyle/>
          <a:p>
            <a:pPr algn="l"/>
            <a:r>
              <a:rPr lang="en-US" sz="5400" b="1" dirty="0">
                <a:latin typeface="Questrial" panose="020F0502020204030204" pitchFamily="2" charset="0"/>
                <a:ea typeface="Questrial" panose="020F0502020204030204" pitchFamily="2" charset="0"/>
                <a:cs typeface="Questrial" panose="020F0502020204030204" pitchFamily="2" charset="0"/>
              </a:rPr>
              <a:t>Asynchronous SGD</a:t>
            </a:r>
            <a:endParaRPr lang="it-IT" sz="5400" b="1" dirty="0">
              <a:latin typeface="Questrial" panose="020F0502020204030204" pitchFamily="2" charset="0"/>
              <a:ea typeface="Questrial" panose="020F0502020204030204" pitchFamily="2" charset="0"/>
              <a:cs typeface="Questrial" panose="020F0502020204030204" pitchFamily="2" charset="0"/>
            </a:endParaRPr>
          </a:p>
        </p:txBody>
      </p:sp>
      <p:sp>
        <p:nvSpPr>
          <p:cNvPr id="8" name="Sottotitolo 2">
            <a:extLst>
              <a:ext uri="{FF2B5EF4-FFF2-40B4-BE49-F238E27FC236}">
                <a16:creationId xmlns:a16="http://schemas.microsoft.com/office/drawing/2014/main" id="{EB95FAED-02F3-74C6-5302-A8C39A46847B}"/>
              </a:ext>
            </a:extLst>
          </p:cNvPr>
          <p:cNvSpPr txBox="1">
            <a:spLocks/>
          </p:cNvSpPr>
          <p:nvPr/>
        </p:nvSpPr>
        <p:spPr>
          <a:xfrm>
            <a:off x="524180" y="2778762"/>
            <a:ext cx="4907018" cy="171377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rgbClr val="FCFCFC"/>
                </a:solidFill>
                <a:latin typeface="Questrial" pitchFamily="2" charset="0"/>
                <a:ea typeface="Questrial" pitchFamily="2" charset="0"/>
                <a:cs typeface="Questrial" pitchFamily="2" charset="0"/>
              </a:rPr>
              <a:t>N</a:t>
            </a:r>
            <a:r>
              <a:rPr lang="it-IT" dirty="0">
                <a:solidFill>
                  <a:srgbClr val="FCFCFC"/>
                </a:solidFill>
                <a:latin typeface="Questrial" pitchFamily="2" charset="0"/>
                <a:ea typeface="Questrial" pitchFamily="2" charset="0"/>
                <a:cs typeface="Questrial" pitchFamily="2" charset="0"/>
              </a:rPr>
              <a:t>odo Worker</a:t>
            </a:r>
          </a:p>
          <a:p>
            <a:pPr marL="342900" indent="-342900" algn="l">
              <a:buFontTx/>
              <a:buChar char="-"/>
            </a:pPr>
            <a:r>
              <a:rPr lang="it-IT" dirty="0">
                <a:solidFill>
                  <a:srgbClr val="FCFCFC"/>
                </a:solidFill>
                <a:latin typeface="Questrial" pitchFamily="2" charset="0"/>
                <a:ea typeface="Questrial" pitchFamily="2" charset="0"/>
                <a:cs typeface="Questrial" pitchFamily="2" charset="0"/>
              </a:rPr>
              <a:t>mantiene una copia locale dei parametri</a:t>
            </a:r>
          </a:p>
          <a:p>
            <a:pPr marL="342900" indent="-342900" algn="l">
              <a:buFontTx/>
              <a:buChar char="-"/>
            </a:pPr>
            <a:r>
              <a:rPr lang="it-IT" dirty="0">
                <a:solidFill>
                  <a:srgbClr val="FCFCFC"/>
                </a:solidFill>
                <a:latin typeface="Questrial" pitchFamily="2" charset="0"/>
                <a:ea typeface="Questrial" pitchFamily="2" charset="0"/>
                <a:cs typeface="Questrial" pitchFamily="2" charset="0"/>
              </a:rPr>
              <a:t>Aggiorna autonomamente i dati</a:t>
            </a:r>
          </a:p>
        </p:txBody>
      </p:sp>
      <p:sp>
        <p:nvSpPr>
          <p:cNvPr id="6" name="Rettangolo con angoli arrotondati 5">
            <a:extLst>
              <a:ext uri="{FF2B5EF4-FFF2-40B4-BE49-F238E27FC236}">
                <a16:creationId xmlns:a16="http://schemas.microsoft.com/office/drawing/2014/main" id="{E18CAC0C-7599-D5E4-4151-D29D387B2BDD}"/>
              </a:ext>
            </a:extLst>
          </p:cNvPr>
          <p:cNvSpPr/>
          <p:nvPr/>
        </p:nvSpPr>
        <p:spPr>
          <a:xfrm>
            <a:off x="6409439" y="2604645"/>
            <a:ext cx="5497961" cy="2062122"/>
          </a:xfrm>
          <a:prstGeom prst="roundRect">
            <a:avLst/>
          </a:prstGeom>
          <a:solidFill>
            <a:srgbClr val="667C6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pic>
        <p:nvPicPr>
          <p:cNvPr id="14" name="Immagine 13" descr="Immagine che contiene nero, oscurità&#10;&#10;Il contenuto generato dall'IA potrebbe non essere corretto.">
            <a:extLst>
              <a:ext uri="{FF2B5EF4-FFF2-40B4-BE49-F238E27FC236}">
                <a16:creationId xmlns:a16="http://schemas.microsoft.com/office/drawing/2014/main" id="{D5F49417-83BE-6717-1CD8-6BE70E720D8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36202" y="458979"/>
            <a:ext cx="871198" cy="871198"/>
          </a:xfrm>
          <a:prstGeom prst="rect">
            <a:avLst/>
          </a:prstGeom>
        </p:spPr>
      </p:pic>
      <p:sp>
        <p:nvSpPr>
          <p:cNvPr id="10" name="Sottotitolo 2">
            <a:extLst>
              <a:ext uri="{FF2B5EF4-FFF2-40B4-BE49-F238E27FC236}">
                <a16:creationId xmlns:a16="http://schemas.microsoft.com/office/drawing/2014/main" id="{9CE78548-AC21-27CF-D994-963FCA574763}"/>
              </a:ext>
            </a:extLst>
          </p:cNvPr>
          <p:cNvSpPr txBox="1">
            <a:spLocks/>
          </p:cNvSpPr>
          <p:nvPr/>
        </p:nvSpPr>
        <p:spPr>
          <a:xfrm>
            <a:off x="6691086" y="2778762"/>
            <a:ext cx="4976733" cy="171377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rgbClr val="FCFCFC"/>
                </a:solidFill>
                <a:latin typeface="Questrial" pitchFamily="2" charset="0"/>
                <a:ea typeface="Questrial" pitchFamily="2" charset="0"/>
                <a:cs typeface="Questrial" pitchFamily="2" charset="0"/>
              </a:rPr>
              <a:t>N</a:t>
            </a:r>
            <a:r>
              <a:rPr lang="it-IT" dirty="0">
                <a:solidFill>
                  <a:srgbClr val="FCFCFC"/>
                </a:solidFill>
                <a:latin typeface="Questrial" pitchFamily="2" charset="0"/>
                <a:ea typeface="Questrial" pitchFamily="2" charset="0"/>
                <a:cs typeface="Questrial" pitchFamily="2" charset="0"/>
              </a:rPr>
              <a:t>odo Master</a:t>
            </a:r>
          </a:p>
          <a:p>
            <a:pPr algn="l"/>
            <a:r>
              <a:rPr lang="it-IT" dirty="0">
                <a:solidFill>
                  <a:srgbClr val="FCFCFC"/>
                </a:solidFill>
                <a:latin typeface="Questrial" pitchFamily="2" charset="0"/>
                <a:ea typeface="Questrial" pitchFamily="2" charset="0"/>
                <a:cs typeface="Questrial" pitchFamily="2" charset="0"/>
              </a:rPr>
              <a:t>Aggrega i dati dei worker e aggiorna il modello globale</a:t>
            </a:r>
          </a:p>
        </p:txBody>
      </p:sp>
      <p:sp>
        <p:nvSpPr>
          <p:cNvPr id="23" name="Sottotitolo 2">
            <a:extLst>
              <a:ext uri="{FF2B5EF4-FFF2-40B4-BE49-F238E27FC236}">
                <a16:creationId xmlns:a16="http://schemas.microsoft.com/office/drawing/2014/main" id="{BCFEE11C-4870-CEAB-92DF-FD33089C1971}"/>
              </a:ext>
            </a:extLst>
          </p:cNvPr>
          <p:cNvSpPr txBox="1">
            <a:spLocks/>
          </p:cNvSpPr>
          <p:nvPr/>
        </p:nvSpPr>
        <p:spPr>
          <a:xfrm>
            <a:off x="313438" y="1825044"/>
            <a:ext cx="11622800" cy="54929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it-IT" sz="3200" dirty="0">
                <a:latin typeface="Questrial" pitchFamily="2" charset="0"/>
                <a:ea typeface="Questrial" pitchFamily="2" charset="0"/>
                <a:cs typeface="Questrial" pitchFamily="2" charset="0"/>
              </a:rPr>
              <a:t>Usato nei sistemi distribuiti a larga scala</a:t>
            </a:r>
          </a:p>
        </p:txBody>
      </p:sp>
      <p:sp>
        <p:nvSpPr>
          <p:cNvPr id="24" name="Sottotitolo 2">
            <a:extLst>
              <a:ext uri="{FF2B5EF4-FFF2-40B4-BE49-F238E27FC236}">
                <a16:creationId xmlns:a16="http://schemas.microsoft.com/office/drawing/2014/main" id="{51C7A630-23AD-7057-E1A6-C2CDCAC44331}"/>
              </a:ext>
            </a:extLst>
          </p:cNvPr>
          <p:cNvSpPr txBox="1">
            <a:spLocks/>
          </p:cNvSpPr>
          <p:nvPr/>
        </p:nvSpPr>
        <p:spPr>
          <a:xfrm>
            <a:off x="284600" y="4897077"/>
            <a:ext cx="11791286" cy="156934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it-IT" sz="2800" dirty="0">
                <a:latin typeface="Questrial" pitchFamily="2" charset="0"/>
                <a:ea typeface="Questrial" pitchFamily="2" charset="0"/>
                <a:cs typeface="Questrial" pitchFamily="2" charset="0"/>
              </a:rPr>
              <a:t>Elimina le sincronizzazioni e consente una scalabilità molto alta. </a:t>
            </a:r>
          </a:p>
          <a:p>
            <a:pPr algn="l"/>
            <a:r>
              <a:rPr lang="it-IT" sz="2800" dirty="0">
                <a:latin typeface="Questrial" pitchFamily="2" charset="0"/>
                <a:ea typeface="Questrial" pitchFamily="2" charset="0"/>
                <a:cs typeface="Questrial" pitchFamily="2" charset="0"/>
              </a:rPr>
              <a:t>Mantiene una buona stabilità e converge efficacemente in molti problemi di ottimizzazione nonostante la presenza di ritardi negli aggiornamenti.</a:t>
            </a:r>
          </a:p>
        </p:txBody>
      </p:sp>
    </p:spTree>
    <p:extLst>
      <p:ext uri="{BB962C8B-B14F-4D97-AF65-F5344CB8AC3E}">
        <p14:creationId xmlns:p14="http://schemas.microsoft.com/office/powerpoint/2010/main" val="77666507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EFDEFA-9129-FF40-4B3F-DF047C68D3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ttangolo 6">
            <a:extLst>
              <a:ext uri="{FF2B5EF4-FFF2-40B4-BE49-F238E27FC236}">
                <a16:creationId xmlns:a16="http://schemas.microsoft.com/office/drawing/2014/main" id="{C99B24CE-4332-FC39-DA99-A5C5C0A0DD5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CFCF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14" name="Rettangolo con angoli arrotondati 13">
            <a:extLst>
              <a:ext uri="{FF2B5EF4-FFF2-40B4-BE49-F238E27FC236}">
                <a16:creationId xmlns:a16="http://schemas.microsoft.com/office/drawing/2014/main" id="{7C32B2A9-2D81-9697-9E5B-74A00BD664D0}"/>
              </a:ext>
            </a:extLst>
          </p:cNvPr>
          <p:cNvSpPr/>
          <p:nvPr/>
        </p:nvSpPr>
        <p:spPr>
          <a:xfrm>
            <a:off x="5509714" y="448581"/>
            <a:ext cx="2503837" cy="2258359"/>
          </a:xfrm>
          <a:prstGeom prst="roundRect">
            <a:avLst/>
          </a:prstGeom>
          <a:solidFill>
            <a:srgbClr val="FC993E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3" name="Rettangolo con angoli arrotondati 2">
            <a:extLst>
              <a:ext uri="{FF2B5EF4-FFF2-40B4-BE49-F238E27FC236}">
                <a16:creationId xmlns:a16="http://schemas.microsoft.com/office/drawing/2014/main" id="{91CC4A29-0CA7-D24B-4B7E-06E2D4180455}"/>
              </a:ext>
            </a:extLst>
          </p:cNvPr>
          <p:cNvSpPr/>
          <p:nvPr/>
        </p:nvSpPr>
        <p:spPr>
          <a:xfrm>
            <a:off x="8273142" y="448581"/>
            <a:ext cx="3659267" cy="5960837"/>
          </a:xfrm>
          <a:prstGeom prst="roundRect">
            <a:avLst/>
          </a:prstGeom>
          <a:solidFill>
            <a:srgbClr val="667C6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4" name="Rettangolo con angoli arrotondati 3">
            <a:extLst>
              <a:ext uri="{FF2B5EF4-FFF2-40B4-BE49-F238E27FC236}">
                <a16:creationId xmlns:a16="http://schemas.microsoft.com/office/drawing/2014/main" id="{389F2F01-00DB-09F2-D50F-3B40648A4F23}"/>
              </a:ext>
            </a:extLst>
          </p:cNvPr>
          <p:cNvSpPr/>
          <p:nvPr/>
        </p:nvSpPr>
        <p:spPr>
          <a:xfrm>
            <a:off x="5509713" y="3155521"/>
            <a:ext cx="2503837" cy="3253897"/>
          </a:xfrm>
          <a:prstGeom prst="roundRect">
            <a:avLst/>
          </a:prstGeom>
          <a:solidFill>
            <a:srgbClr val="667C6F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9" name="Rettangolo con angoli arrotondati 8">
            <a:extLst>
              <a:ext uri="{FF2B5EF4-FFF2-40B4-BE49-F238E27FC236}">
                <a16:creationId xmlns:a16="http://schemas.microsoft.com/office/drawing/2014/main" id="{48F39868-2DB9-F062-0ED6-2C8A8185CCFC}"/>
              </a:ext>
            </a:extLst>
          </p:cNvPr>
          <p:cNvSpPr/>
          <p:nvPr/>
        </p:nvSpPr>
        <p:spPr>
          <a:xfrm>
            <a:off x="1318894" y="3788229"/>
            <a:ext cx="1359467" cy="769950"/>
          </a:xfrm>
          <a:prstGeom prst="roundRect">
            <a:avLst/>
          </a:prstGeom>
          <a:solidFill>
            <a:srgbClr val="667C6F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BB53503C-6735-77C9-9AD4-F12ECF48005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59591" y="2299819"/>
            <a:ext cx="5204915" cy="2258359"/>
          </a:xfrm>
        </p:spPr>
        <p:txBody>
          <a:bodyPr>
            <a:noAutofit/>
          </a:bodyPr>
          <a:lstStyle/>
          <a:p>
            <a:pPr algn="l"/>
            <a:r>
              <a:rPr lang="en-US" sz="4800" b="1" dirty="0" err="1">
                <a:latin typeface="Questrial" panose="020F0502020204030204" pitchFamily="2" charset="0"/>
                <a:ea typeface="Questrial" panose="020F0502020204030204" pitchFamily="2" charset="0"/>
                <a:cs typeface="Questrial" panose="020F0502020204030204" pitchFamily="2" charset="0"/>
              </a:rPr>
              <a:t>Tecniche</a:t>
            </a:r>
            <a:r>
              <a:rPr lang="en-US" sz="4800" b="1" dirty="0">
                <a:latin typeface="Questrial" panose="020F0502020204030204" pitchFamily="2" charset="0"/>
                <a:ea typeface="Questrial" panose="020F0502020204030204" pitchFamily="2" charset="0"/>
                <a:cs typeface="Questrial" panose="020F0502020204030204" pitchFamily="2" charset="0"/>
              </a:rPr>
              <a:t> di </a:t>
            </a:r>
            <a:r>
              <a:rPr lang="en-US" sz="4800" b="1" dirty="0" err="1">
                <a:latin typeface="Questrial" panose="020F0502020204030204" pitchFamily="2" charset="0"/>
                <a:ea typeface="Questrial" panose="020F0502020204030204" pitchFamily="2" charset="0"/>
                <a:cs typeface="Questrial" panose="020F0502020204030204" pitchFamily="2" charset="0"/>
              </a:rPr>
              <a:t>Parallelizzazione</a:t>
            </a:r>
            <a:r>
              <a:rPr lang="en-US" sz="4800" b="1" dirty="0">
                <a:latin typeface="Questrial" panose="020F0502020204030204" pitchFamily="2" charset="0"/>
                <a:ea typeface="Questrial" panose="020F0502020204030204" pitchFamily="2" charset="0"/>
                <a:cs typeface="Questrial" panose="020F0502020204030204" pitchFamily="2" charset="0"/>
              </a:rPr>
              <a:t> per </a:t>
            </a:r>
            <a:r>
              <a:rPr lang="en-US" sz="4800" b="1" dirty="0">
                <a:solidFill>
                  <a:schemeClr val="bg1"/>
                </a:solidFill>
                <a:latin typeface="Questrial" panose="020F0502020204030204" pitchFamily="2" charset="0"/>
                <a:ea typeface="Questrial" panose="020F0502020204030204" pitchFamily="2" charset="0"/>
                <a:cs typeface="Questrial" panose="020F0502020204030204" pitchFamily="2" charset="0"/>
              </a:rPr>
              <a:t>GPU</a:t>
            </a:r>
            <a:endParaRPr lang="it-IT" sz="4800" b="1" dirty="0">
              <a:solidFill>
                <a:schemeClr val="bg1"/>
              </a:solidFill>
              <a:latin typeface="Questrial" panose="020F0502020204030204" pitchFamily="2" charset="0"/>
              <a:ea typeface="Questrial" panose="020F0502020204030204" pitchFamily="2" charset="0"/>
              <a:cs typeface="Questrial" panose="020F0502020204030204" pitchFamily="2" charset="0"/>
            </a:endParaRPr>
          </a:p>
        </p:txBody>
      </p:sp>
      <p:pic>
        <p:nvPicPr>
          <p:cNvPr id="8" name="Immagine 7" descr="Immagine che contiene tifosi, Elettrodomestico, argento&#10;&#10;Il contenuto generato dall'IA potrebbe non essere corretto.">
            <a:extLst>
              <a:ext uri="{FF2B5EF4-FFF2-40B4-BE49-F238E27FC236}">
                <a16:creationId xmlns:a16="http://schemas.microsoft.com/office/drawing/2014/main" id="{095B1DA8-8071-241A-1C58-8F75B779920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24097" y="953188"/>
            <a:ext cx="6065331" cy="4691559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392103785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0C1548-1A8C-E717-76BC-E0503F2B9D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ttangolo 6">
            <a:extLst>
              <a:ext uri="{FF2B5EF4-FFF2-40B4-BE49-F238E27FC236}">
                <a16:creationId xmlns:a16="http://schemas.microsoft.com/office/drawing/2014/main" id="{AAE44A2B-BED4-F51A-5BEB-4D329AB054D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CFCF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it-IT" dirty="0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3CBF33F4-9B61-5754-D493-2A7288D7A1B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84600" y="894578"/>
            <a:ext cx="6926400" cy="861428"/>
          </a:xfrm>
        </p:spPr>
        <p:txBody>
          <a:bodyPr>
            <a:noAutofit/>
          </a:bodyPr>
          <a:lstStyle/>
          <a:p>
            <a:pPr algn="l"/>
            <a:r>
              <a:rPr lang="en-US" sz="5400" b="1" dirty="0" err="1">
                <a:latin typeface="Questrial" panose="020F0502020204030204" pitchFamily="2" charset="0"/>
                <a:ea typeface="Questrial" panose="020F0502020204030204" pitchFamily="2" charset="0"/>
                <a:cs typeface="Questrial" panose="020F0502020204030204" pitchFamily="2" charset="0"/>
              </a:rPr>
              <a:t>Problemi</a:t>
            </a:r>
            <a:endParaRPr lang="it-IT" sz="5400" b="1" dirty="0">
              <a:latin typeface="Questrial" panose="020F0502020204030204" pitchFamily="2" charset="0"/>
              <a:ea typeface="Questrial" panose="020F0502020204030204" pitchFamily="2" charset="0"/>
              <a:cs typeface="Questrial" panose="020F0502020204030204" pitchFamily="2" charset="0"/>
            </a:endParaRPr>
          </a:p>
        </p:txBody>
      </p:sp>
      <p:pic>
        <p:nvPicPr>
          <p:cNvPr id="13" name="Immagine 12" descr="Immagine che contiene nero, oscurità&#10;&#10;Il contenuto generato dall'IA potrebbe non essere corretto.">
            <a:extLst>
              <a:ext uri="{FF2B5EF4-FFF2-40B4-BE49-F238E27FC236}">
                <a16:creationId xmlns:a16="http://schemas.microsoft.com/office/drawing/2014/main" id="{A3564979-594A-61E7-67F5-840EFFD91C5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27503" y="454094"/>
            <a:ext cx="871198" cy="8711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039122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205</TotalTime>
  <Words>1289</Words>
  <Application>Microsoft Office PowerPoint</Application>
  <PresentationFormat>Widescreen</PresentationFormat>
  <Paragraphs>77</Paragraphs>
  <Slides>13</Slides>
  <Notes>13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5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13</vt:i4>
      </vt:variant>
    </vt:vector>
  </HeadingPairs>
  <TitlesOfParts>
    <vt:vector size="19" baseType="lpstr">
      <vt:lpstr>Aptos</vt:lpstr>
      <vt:lpstr>Aptos Display</vt:lpstr>
      <vt:lpstr>Arial</vt:lpstr>
      <vt:lpstr>Cambria Math</vt:lpstr>
      <vt:lpstr>Questrial</vt:lpstr>
      <vt:lpstr>Tema di Office</vt:lpstr>
      <vt:lpstr>SGD Parallelo per la Fattorizzazione della Matrice dei Rating nei Sistemi di Raccomandazione</vt:lpstr>
      <vt:lpstr>Introduzione</vt:lpstr>
      <vt:lpstr>Introduzione</vt:lpstr>
      <vt:lpstr>Introduzione</vt:lpstr>
      <vt:lpstr>Modello</vt:lpstr>
      <vt:lpstr>Stochastic Gradient Descent</vt:lpstr>
      <vt:lpstr>Difficoltà nella parallelizzazione dello SGD</vt:lpstr>
      <vt:lpstr>Tecniche di Parallelizzazione per CPU</vt:lpstr>
      <vt:lpstr>Distributed SGD</vt:lpstr>
      <vt:lpstr>Hogwild!</vt:lpstr>
      <vt:lpstr>Asynchronous SGD</vt:lpstr>
      <vt:lpstr>Tecniche di Parallelizzazione per GPU</vt:lpstr>
      <vt:lpstr>Problemi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SIMONE D'ASSISI</dc:creator>
  <cp:lastModifiedBy>SIMONE D'ASSISI</cp:lastModifiedBy>
  <cp:revision>7</cp:revision>
  <dcterms:created xsi:type="dcterms:W3CDTF">2025-12-08T15:02:09Z</dcterms:created>
  <dcterms:modified xsi:type="dcterms:W3CDTF">2025-12-08T18:27:32Z</dcterms:modified>
</cp:coreProperties>
</file>