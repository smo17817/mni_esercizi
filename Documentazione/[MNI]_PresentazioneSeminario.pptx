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9" r:id="rId3"/>
    <p:sldId id="258" r:id="rId4"/>
    <p:sldId id="260" r:id="rId5"/>
    <p:sldId id="261" r:id="rId6"/>
    <p:sldId id="278" r:id="rId7"/>
    <p:sldId id="263" r:id="rId8"/>
    <p:sldId id="279" r:id="rId9"/>
    <p:sldId id="257" r:id="rId10"/>
    <p:sldId id="280" r:id="rId11"/>
    <p:sldId id="265" r:id="rId12"/>
    <p:sldId id="266" r:id="rId13"/>
    <p:sldId id="281" r:id="rId14"/>
    <p:sldId id="282" r:id="rId15"/>
    <p:sldId id="283" r:id="rId16"/>
    <p:sldId id="267" r:id="rId17"/>
    <p:sldId id="284" r:id="rId18"/>
    <p:sldId id="285" r:id="rId19"/>
    <p:sldId id="268" r:id="rId20"/>
    <p:sldId id="286" r:id="rId21"/>
    <p:sldId id="287" r:id="rId22"/>
    <p:sldId id="269" r:id="rId23"/>
    <p:sldId id="270" r:id="rId24"/>
    <p:sldId id="288" r:id="rId25"/>
    <p:sldId id="289" r:id="rId26"/>
    <p:sldId id="271" r:id="rId27"/>
    <p:sldId id="290" r:id="rId28"/>
    <p:sldId id="291" r:id="rId29"/>
    <p:sldId id="272" r:id="rId30"/>
    <p:sldId id="292" r:id="rId31"/>
    <p:sldId id="293" r:id="rId32"/>
    <p:sldId id="273" r:id="rId33"/>
    <p:sldId id="294" r:id="rId34"/>
    <p:sldId id="274" r:id="rId35"/>
    <p:sldId id="295" r:id="rId36"/>
    <p:sldId id="275" r:id="rId37"/>
    <p:sldId id="276" r:id="rId38"/>
    <p:sldId id="277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senza titolo" id="{9FC889FD-0FDC-4CFA-99F4-2095199144C1}">
          <p14:sldIdLst>
            <p14:sldId id="256"/>
            <p14:sldId id="259"/>
            <p14:sldId id="258"/>
            <p14:sldId id="260"/>
            <p14:sldId id="261"/>
            <p14:sldId id="278"/>
            <p14:sldId id="263"/>
            <p14:sldId id="279"/>
            <p14:sldId id="257"/>
            <p14:sldId id="280"/>
            <p14:sldId id="265"/>
            <p14:sldId id="266"/>
            <p14:sldId id="281"/>
            <p14:sldId id="282"/>
            <p14:sldId id="283"/>
            <p14:sldId id="267"/>
            <p14:sldId id="284"/>
            <p14:sldId id="285"/>
            <p14:sldId id="268"/>
            <p14:sldId id="286"/>
            <p14:sldId id="287"/>
            <p14:sldId id="269"/>
            <p14:sldId id="270"/>
            <p14:sldId id="288"/>
            <p14:sldId id="289"/>
            <p14:sldId id="271"/>
            <p14:sldId id="290"/>
            <p14:sldId id="291"/>
            <p14:sldId id="272"/>
            <p14:sldId id="292"/>
            <p14:sldId id="293"/>
            <p14:sldId id="273"/>
            <p14:sldId id="294"/>
            <p14:sldId id="274"/>
            <p14:sldId id="295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993E"/>
    <a:srgbClr val="667C6F"/>
    <a:srgbClr val="FCFCFC"/>
    <a:srgbClr val="7E4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268" autoAdjust="0"/>
  </p:normalViewPr>
  <p:slideViewPr>
    <p:cSldViewPr snapToGrid="0">
      <p:cViewPr varScale="1">
        <p:scale>
          <a:sx n="68" d="100"/>
          <a:sy n="68" d="100"/>
        </p:scale>
        <p:origin x="123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B39080-8F44-46B6-B27F-2DEAA9A68D0D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66C08-5A08-4C69-AAAE-C19DB0A9B5E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660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164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F95A5-D189-2514-06BB-799A6879A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FFBC5E-617D-C589-EBFC-7D0EE7BDF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C07BCC2-6C06-CE18-1367-E61566478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98FEF71-A529-8BBE-A7A0-3E581C7C0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13586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5E96-018E-0209-C1F8-13DD56D4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DC890B-982F-73A1-9F6F-8E1FB556D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11BE03-78D3-C850-353B-E09C97135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Vantaggio: passare da una matrice enorme (utenti × item) a due matrici molto più piccole (utenti × fattori) e (item × fattori).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89A80D-3187-6AC7-8991-B7D803062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364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19394-FA10-5BC5-DF31-CAAD3483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6C1F02C-C9F1-F700-6DE6-D3237172B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720ED-9AA7-CE07-0886-2316189C4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0F49D-8A09-743A-BFF7-C9488E8B6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5442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122DD-89AE-5E11-1DA5-9770D3990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C7713D2-FFE9-EBB3-E391-13B4B5526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C77E52-8400-3B03-C3C1-EE353A06B1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 sistemi di raccomandazione model-</a:t>
            </a:r>
            <a:r>
              <a:rPr lang="it-IT" dirty="0" err="1"/>
              <a:t>based</a:t>
            </a:r>
            <a:r>
              <a:rPr lang="it-IT" dirty="0"/>
              <a:t> costruiscono un modello statistico in grado di</a:t>
            </a:r>
          </a:p>
          <a:p>
            <a:r>
              <a:rPr lang="it-IT" dirty="0"/>
              <a:t>apprendere schemi complessi a partire da un set di dati di training.. Si approssima R in Rˆ = U · V.</a:t>
            </a:r>
            <a:br>
              <a:rPr lang="it-IT" dirty="0"/>
            </a:br>
            <a:r>
              <a:rPr lang="it-IT" dirty="0"/>
              <a:t>La singole valutazioni sono date da </a:t>
            </a:r>
            <a:r>
              <a:rPr lang="it-IT" dirty="0" err="1"/>
              <a:t>rki</a:t>
            </a:r>
            <a:r>
              <a:rPr lang="it-IT" dirty="0"/>
              <a:t> = </a:t>
            </a:r>
            <a:r>
              <a:rPr lang="it-IT" dirty="0" err="1"/>
              <a:t>uk</a:t>
            </a:r>
            <a:r>
              <a:rPr lang="it-IT" dirty="0"/>
              <a:t> vi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173D47-3150-AF50-073A-153507852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8367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E119E-4E50-FA07-3FD4-14BEAEF8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AC6B9BC-BD16-77D2-E362-5A69720D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AC2837-FFB1-C1E3-4AB0-F0FEC8E4A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2C98087-EC3B-42E7-3A8D-E1C00F507B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528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0D96-7AEE-6AC6-D1EF-C8D08DDE9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D812B9D-5312-8E8F-C447-052BCCD44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34F7C88-2F82-AF83-59AB-680C13A78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9E62E9-249B-814F-89D7-8D84F9B0A7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4291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5642-4960-CE90-4F14-3C5C72749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7780C60-7EB3-7B55-6161-9B52C202E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D7C1517-90BC-23D7-7665-F12AA2E4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97E1B0-0F23-B1FB-1770-1E2C43B76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4475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7E558-F9A4-27C1-AC78-C867592BA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BB809E-BD10-448F-FAA8-F3F4FBA99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5EF4CA4-57DD-D64B-7080-5076FE574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3BD58D-5BF9-FFAA-F112-CFFC3F6EC5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49493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7007D-B464-60F2-45E9-94CD54E69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C0C766-272F-3F24-CB19-1B68C6176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0EB7EBC-EE0F-4184-C4AD-8B2EF65A9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387B7B-B983-6BF1-532F-C728BA793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1572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B0B68-8FD7-3DB1-1040-10F58825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49294B-A24E-B761-F92A-8D82ECA50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FE689B9-2E90-A7A4-88AC-B1BC2E1D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Passiamo ora alle principali strategie sviluppate per parallelizzare lo SGD, cominciando con le tecniche di parallelizzazione su CPU.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106A09D-FC81-FAF7-6456-A01A8FF0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0110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4215E-3389-46E9-ABD7-3E89A61A5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D0F0E0-898F-B4AA-9166-DAFA6AD8D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9F6182-8249-DFB3-11C6-7A4DEFC8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A9FE85-4F56-9D0F-271E-47F52F7FE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5565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2B69-1461-0AC8-8729-75B2C5AB8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6AE177-EACE-7FAA-E9B4-B77693469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C57F01A-98A7-CA05-200D-DB153CF9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3C02A7-B575-F356-E968-7C7A470EC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6855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57D8-EED0-8A82-D928-D4C104C30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578D7E1-AA6E-D5C5-2D44-9E432120C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64EE0B0-73E1-FB31-38C8-3FAECD365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06A9A2-B2CC-70D7-AC3A-16053499C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334237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19EE-F927-CD8D-8B18-995AA472F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4BC02D-74B8-11DD-5E78-A1BD97230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D55E277-B5C1-7143-60D4-65C30C662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93AF35-50F3-8318-5E4E-0CBA9ADB8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79108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5EA6-0542-CB7C-7A57-D02CFDEA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F34A0B0-8619-1B2D-B2AE-912BED5A7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D75AB50-14E3-5A34-CDB3-980DF5554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secondo metodo è uno dei più noti per la parallelizzazione di SGD: </a:t>
            </a:r>
            <a:r>
              <a:rPr lang="it-IT" dirty="0" err="1"/>
              <a:t>Hogwild</a:t>
            </a:r>
            <a:r>
              <a:rPr lang="it-IT" dirty="0"/>
              <a:t>!. L’idea è radicale ma estremamente efficace in presenza di dataset molto sparsi.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E3903C-456E-07B2-F331-C8879DFDB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850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F16B-34D9-C79C-EA9F-CBBA9459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AD900E-A7F2-821F-15BA-A964E5888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05A0339-2F6E-AE9E-9677-76AE891F1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Se la matrice dei rating contiene pochi valori rispetto alle dimensioni totali, allora la probabilità che due </a:t>
            </a:r>
            <a:r>
              <a:rPr lang="it-IT" dirty="0" err="1"/>
              <a:t>thread</a:t>
            </a:r>
            <a:r>
              <a:rPr lang="it-IT" dirty="0"/>
              <a:t> accedano simultaneamente allo stesso parametro (una riga di U o una riga di V ) è estremamente bassa. In questo scenario è possibile eliminare completamente i meccanismi di sincronizzazione, permettendo ai </a:t>
            </a:r>
            <a:r>
              <a:rPr lang="it-IT" dirty="0" err="1"/>
              <a:t>thread</a:t>
            </a:r>
            <a:r>
              <a:rPr lang="it-IT" dirty="0"/>
              <a:t> di aggiornare i parametri in maniera asincrona e non protetta. L’assenza di lock riduce drasticamente l’overhead di sincronizzazione, consentendo un notevole aumento delle prestazioni rispetto a DSGD e ad altri metodi più strutturati.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FA15416-094D-060E-C352-EB846931C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48279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0E424-CCDE-4616-E415-FCE855046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A13A8CB-A512-43B0-D9F8-563703CD8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8639321-DBE6-0EEE-213A-06B029B04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Tuttavia, </a:t>
            </a:r>
            <a:r>
              <a:rPr lang="it-IT" dirty="0" err="1"/>
              <a:t>Hogwild</a:t>
            </a:r>
            <a:r>
              <a:rPr lang="it-IT" dirty="0"/>
              <a:t>! non è adatto a tutti i contesti: se il dataset non è abbastanza sparso, oppure se alcuni item o utenti sono molto popolari, il rischio di conflitti e </a:t>
            </a:r>
            <a:r>
              <a:rPr lang="it-IT" dirty="0" err="1"/>
              <a:t>overwriting</a:t>
            </a:r>
            <a:r>
              <a:rPr lang="it-IT" dirty="0"/>
              <a:t> aumenta, degradando la qualità della soluzione o rallentando la convergenza. Nonostante questi limiti, </a:t>
            </a:r>
            <a:r>
              <a:rPr lang="it-IT" dirty="0" err="1"/>
              <a:t>Hogwild</a:t>
            </a:r>
            <a:r>
              <a:rPr lang="it-IT" dirty="0"/>
              <a:t>! rimane una delle tecniche più utilizzate per implementazioni parallele su CPU multicore, grazie alla sua semplicità e alla sorprendente robustezza empirica in molti scenari reali.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288B56-B857-7D9D-C50B-F0E112E00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79419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423F7-39FF-1482-719E-43D0A6879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50E97E-1FA8-FFD5-3C39-2E78202E9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165BDD-81F4-81F9-BD4A-B0E047B68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Un terzo approccio alla parallelizzazione di SGD è l’</a:t>
            </a:r>
            <a:r>
              <a:rPr lang="it-IT" dirty="0" err="1"/>
              <a:t>Asynchronous</a:t>
            </a:r>
            <a:r>
              <a:rPr lang="it-IT" dirty="0"/>
              <a:t> SGD (ASGD), molto usato nei sistemi distribuiti su larga scala. In questo modello, il training è suddiviso tra diversi nodi (o worker), ciascuno dei quali mantiene una copia locale dei parametri e calcola autonomamente gli aggiornamenti su una porzione dei dati.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0589EB7-4FE2-1824-D1FB-63898260F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96724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0EFE4-4BFD-2614-2D08-62F062656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ADD0D25-8A02-0F97-70C2-851C2DF8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7ADD3B8-B4AD-FF16-E403-685BF3CF5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Gli aggiornamenti sono poi inviati, in modo asincrono, a un nodo centrale (</a:t>
            </a:r>
            <a:r>
              <a:rPr lang="it-IT" dirty="0" err="1"/>
              <a:t>parameter</a:t>
            </a:r>
            <a:r>
              <a:rPr lang="it-IT" dirty="0"/>
              <a:t> server ), che li aggrega e aggiorna il modello globale. 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B9E4F4-0E91-0C1E-DCC7-E6EBFC7F2A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03301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07DC8-BFD6-7780-5282-FE5B1A02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7ABCCE-3FAC-DB88-65B2-FC4547370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1E98EC0-105C-F669-E9C0-09E0EDE2E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D3AA8C-5BC5-EF90-7D21-3E47B9EFBD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9029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C9EF-8B00-5FDA-AF2E-DC640A26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08BE50C-C17E-0FFD-877B-1FDF2DD13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B69BCB8-52B6-4BE6-7720-F9A45C8DF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Proseguiamo con le tecniche di parallelizzazione su GPU.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AFAEBE-96B2-D1D6-836B-D538E44B0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3768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688C-4077-FDD3-EF0A-A78E11D8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54BCAC-791E-617C-781A-A11E8198B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894B6D4-F574-B191-7720-5B914EE34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In teoria la GPU è perfetta per questo problema: migliaia di </a:t>
            </a:r>
            <a:r>
              <a:rPr lang="it-IT" dirty="0" err="1"/>
              <a:t>thread</a:t>
            </a:r>
            <a:r>
              <a:rPr lang="it-IT" dirty="0"/>
              <a:t> che eseguono la stessa formula su dati indipendenti. Tuttavia, nella pratica, l’accesso irregolare alla memoria e il gran numero di conflitti generano difficoltà molto più profonde rispetto a ciò che accade su CPU. I problemi principali sono tre: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it-IT" dirty="0"/>
              <a:t>Accessi non coalescenti: i vettori </a:t>
            </a:r>
            <a:r>
              <a:rPr lang="it-IT" dirty="0" err="1"/>
              <a:t>uk</a:t>
            </a:r>
            <a:r>
              <a:rPr lang="it-IT" dirty="0"/>
              <a:t> e vi risiedono in memoria in posizioni lontane e imprevedibili. I </a:t>
            </a:r>
            <a:r>
              <a:rPr lang="it-IT" dirty="0" err="1"/>
              <a:t>thread</a:t>
            </a:r>
            <a:r>
              <a:rPr lang="it-IT" dirty="0"/>
              <a:t> di uno stesso </a:t>
            </a:r>
            <a:r>
              <a:rPr lang="it-IT" dirty="0" err="1"/>
              <a:t>warp</a:t>
            </a:r>
            <a:r>
              <a:rPr lang="it-IT" dirty="0"/>
              <a:t> accedono quindi a indirizzi distanti, costringendo la GPU a effettuare molteplici transazioni di memoria indipendenti e riducendo drasticamente l’efficienza del kernel;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51CCCA-06EF-3562-8D92-FBC48BCCC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39446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E2CD2-B29F-69E0-E008-94696DE3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F1D1A9-E67D-80EB-B94F-68E892F6A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9F391A-74BF-980D-8DA4-BDE797BD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Race </a:t>
            </a:r>
            <a:r>
              <a:rPr lang="it-IT" dirty="0" err="1"/>
              <a:t>condition</a:t>
            </a:r>
            <a:r>
              <a:rPr lang="it-IT" dirty="0"/>
              <a:t> massivi: centinaia di </a:t>
            </a:r>
            <a:r>
              <a:rPr lang="it-IT" dirty="0" err="1"/>
              <a:t>thread</a:t>
            </a:r>
            <a:r>
              <a:rPr lang="it-IT" dirty="0"/>
              <a:t> possono tentare di aggiornare simultaneamente lo stesso item (specialmente se l’item è molto popolare), causando conflitti di scrittura e comportamenti non deterministici;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DE9831-EE7F-BD3E-94C2-23CB9CB31F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79090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6935-1516-2774-A3C2-18B04F5D1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14C05F1-0475-43B4-490C-6499F488F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97D672C-0F99-87A9-9D47-52D1A372F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Alto costo delle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: per garantire la correttezza degli aggiornamenti concorrenti, è necessario ricorrere a operazioni atomiche (come </a:t>
            </a:r>
            <a:r>
              <a:rPr lang="it-IT" dirty="0" err="1"/>
              <a:t>atomicAdd</a:t>
            </a:r>
            <a:r>
              <a:rPr lang="it-IT" dirty="0"/>
              <a:t>). Queste impongono che un solo </a:t>
            </a:r>
            <a:r>
              <a:rPr lang="it-IT" dirty="0" err="1"/>
              <a:t>thread</a:t>
            </a:r>
            <a:r>
              <a:rPr lang="it-IT" dirty="0"/>
              <a:t> alla volta possa modificare un dato indirizzo di memoria. Quando molti </a:t>
            </a:r>
            <a:r>
              <a:rPr lang="it-IT" dirty="0" err="1"/>
              <a:t>thread</a:t>
            </a:r>
            <a:r>
              <a:rPr lang="it-IT" dirty="0"/>
              <a:t> competono per lo stesso parametro, le </a:t>
            </a:r>
            <a:r>
              <a:rPr lang="it-IT" dirty="0" err="1"/>
              <a:t>atomic</a:t>
            </a:r>
            <a:r>
              <a:rPr lang="it-IT" dirty="0"/>
              <a:t> serializzano gli accessi: i </a:t>
            </a:r>
            <a:r>
              <a:rPr lang="it-IT" dirty="0" err="1"/>
              <a:t>thread</a:t>
            </a:r>
            <a:r>
              <a:rPr lang="it-IT" dirty="0"/>
              <a:t> vengono messi in attesa e l’intero </a:t>
            </a:r>
            <a:r>
              <a:rPr lang="it-IT" dirty="0" err="1"/>
              <a:t>warp</a:t>
            </a:r>
            <a:r>
              <a:rPr lang="it-IT" dirty="0"/>
              <a:t> rimane in stallo finché l’operazione non è completata, compromettendo gran parte del parallelismo disponibile.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352570-2E5D-5883-0B92-75A0D1ABE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71028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448E1-E28C-87BB-182A-DCF9EC5C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FF786B-F203-DAF7-221C-3AC15D23B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97BE5E-E14D-AE43-C299-23AEC27C6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85DD0E9-ED67-21D4-A7AE-9678A4A95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08070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71780-872C-8B63-98CD-C8ED1E6DF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E4BF4EE-AF5C-7BD0-F84A-DF1EDE32C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2F87D8E-734E-726A-6A02-2F2C0C6FD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8308D9A-0149-1C21-5963-622482527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49594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FBC4A-D20F-F9A1-889D-C3D05E9F3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016D729-3185-5018-9302-21CDD4810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B62627B-1252-1BBC-BB4B-E340E5C7E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51E15A-3A74-B5D2-346B-5460816CF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65726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F361-A86D-5F4E-1AF7-41F0798C9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70AC84-7205-CFD0-B28E-2E28574A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03E5E33-0843-7301-B9BD-CD11E4295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837DA8-1D2E-B4D7-97D8-B453E3223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3712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AEF8-2A0D-EAD4-26C8-8D5B1DA19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E83CA8A-4BFC-A381-1349-70DA24C91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BF62EC5-3B5F-80FF-5257-6A5713E9B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A5233D-24C6-CE9C-6976-50995AC292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80923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BD090-1B61-7CCA-BD47-E82C621EC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A8E47-BC02-E502-B402-F8FFD8006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F393F8F-A70A-D760-4886-B0C7A301F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25F8A6B-E37D-B8D3-2D53-BE14821E6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40719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E0AA-1AE4-B18D-2344-64067956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431B16-55F6-7FCE-CA2E-F6AF7E3E7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0D9C9DD-21EC-CB00-CCDA-7685D71EB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E67AC2-EAB4-D507-7196-DE66A7731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32168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8CFAE-E9F9-91D5-4540-073E75FB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B68DEC-E106-AFA8-270E-EE333807C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F264AC-2316-F9EA-C9D6-E9D54FC4E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6B005F0-DE5D-676D-0A6B-6081B1F5A6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17612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618-CDF4-2ABE-16D8-83E64219F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1E960-948D-E6C8-CE0F-6D410121A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A7E6F1-892B-3E48-64BB-DB9D27540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5C74AF6-F849-FA73-0D73-035955D09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16173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EA340-A6C8-F7C1-8CED-9ADE3D9DE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56764F-5CDC-274D-9385-4B00CD669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9C79DDA-13F8-48A7-97E2-1F719FEB7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58C1CC-9C96-2681-4F0A-BCE45C6AC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17565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F0A57-5806-B7F9-B976-D6E0260BE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F48A9-8FD7-4BEE-8E77-9EA9EB811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773B4E-7CD1-7739-BEA3-C47765F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Lo </a:t>
            </a:r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Descent</a:t>
            </a:r>
            <a:r>
              <a:rPr lang="it-IT" dirty="0"/>
              <a:t> rimane uno degli algoritmi più efficaci per la fattorizzazione delle matrici di rating, grazie alla sua semplicità, scalabilità teorica e capacità di gestire dataset di dimensioni enormi. Tuttavia, la sua parallelizzazione introduce sfide non banali: i conflitti sugli aggiornamenti, gli accessi irregolari alla memoria e i vincoli imposti dall’hardware rendono necessario ripensare profondamente l’implementazione rispetto alla versione sequenziale. Le tecniche parallele su CPU, come Distributed SGD e </a:t>
            </a:r>
            <a:r>
              <a:rPr lang="it-IT" dirty="0" err="1"/>
              <a:t>Hogwild</a:t>
            </a:r>
            <a:r>
              <a:rPr lang="it-IT" dirty="0"/>
              <a:t>!, mostrano che è possibile ottenere accelerazioni significative aggirando o ignorando i conflitti, purché siano soddisfatte determinate condizioni di indipendenza dei dati o di sufficiente </a:t>
            </a:r>
            <a:r>
              <a:rPr lang="it-IT" dirty="0" err="1"/>
              <a:t>sparsità</a:t>
            </a:r>
            <a:r>
              <a:rPr lang="it-IT" dirty="0"/>
              <a:t>. Nei sistemi distribuiti, l’adozione di modelli asincroni come l’ASGD conferma che la convergenza può essere mantenuta anche in presenza di ritardi e parametri non aggiornati in modo sincrono. Sul fronte GPU, il quadro è più complesso: nonostante il parallelismo massivo offerto dall’hardware, la natura irregolare dell’accesso ai fattori utente e prodotto rende difficile ottenere i guadagni teorici. I metodi più moderni adottano una combinazione di tecniche — partizionamento, caching, batch, ottimizzazioni della memoria — per mitigare i colli di bottiglia legati alla coalescenza degli accessi, ai conflitti e alle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In conclusione, la parallelizzazione dello SGD nei sistemi di raccomandazione non è un problema risolto in modo definitivo: ogni piattaforma (CPU multicore, cluster distribuiti, GPU) richiede strategie differenti, e nessuna soluzione risulta universalmente ottimale.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4DC752B-8B1D-727D-F187-E540CF86A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5368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957-9F35-C7FD-FDB8-BAAC8EB1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C998C9E-541B-3440-5FB5-6BF43F89C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6A1F088-3AF1-EC6F-BB89-F2265AC84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824EEE9-2BDA-BF4E-443B-275FAA12C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6653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0577C-F6EB-0ED7-69C5-17CF93F8A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E13A92-3B48-68B6-3473-82857EBA9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BE294-B9B8-5D16-6A03-8BD6402E7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A9B1040-3CA1-1512-C6B6-1B83DCB5ED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8267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4C572-9CD0-7CF3-95B4-FBDE634B9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3DC6950-B1A3-B2AA-3B5A-9F93CAD68A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F9E243-F12C-4E73-002C-46A57260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CB3B3-47EC-DD4A-DA1A-F49B9E47F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CF13E22-B252-5EF6-0BD1-C278EAF4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1935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D4A34F-3D1E-2F38-0565-21AE9C1E5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AB1DC-A607-71E6-E978-AE730B473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DA4995-16D8-457F-67DD-3C59EE33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5E57E6F-BCD9-BB61-76FC-A42369A45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249D6A-966F-21EB-1257-FB72357B9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1686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A234BC-DCF8-DCBB-721B-0E49BD733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0CD0B9A-06C4-B212-CDB6-6BC2413D6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0023F9-714E-A0FF-B455-DCB95EA9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0476D5-EA1D-5530-E660-764E3A111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BB3A69-94F5-0589-8CC4-4D9B2F0C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9832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0F14DC-C606-9F4E-F3A4-0A4F920CA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E1816B-637B-287F-6A71-0F08A7E48E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F7E7233-8D2B-7E07-598F-F647BF3714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7BE6EDA-27B5-B5F4-FFFE-6A4913337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E6A5A6-062E-1DCE-081B-F5904E18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407356-4431-D486-B7DF-9C1373F5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7112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ACED0C-7B02-65AC-6DCA-A7BB25BAB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50CC26-610A-B94A-0F29-4824A4CBB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132184-FB82-C457-41A0-B9AF003C16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771BD15-627E-F4A8-0313-24AD6406A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3E58D40-E00D-7A39-7882-9A0B136F47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7CA0AB4-DDAE-8B54-CEAE-24607F30E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5F82F49-4683-9CC4-E6C0-B3AABB0A6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C6664D6-FFDB-FDCD-6D1A-AD51ADFA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7256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2C2643-D9E7-DFFB-26A8-461FD529D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89C9D6B-B9CA-79D6-96AF-192F23BD8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D7F4169-9803-902B-E2E0-62087718E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76FD580-BE0B-14D8-E86A-7D6E5EA7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872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853F6DC-F4FC-1B60-248D-B0869A773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F54486E-3461-B79D-A2AF-FE1CFC3A2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43A48B-F4B3-619A-9964-20CE74436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7799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3A7764-7976-C108-731B-F6FC5360F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4471B-CDA3-7294-64DD-B1CF50144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093DE9-54B8-9609-ED1B-9D832FD61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08B89EE-82B6-F61D-3F57-0558FF40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FEB17AD-BD75-2373-36D3-F52CADDB8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72E404B-AE55-4FDD-08D5-146414F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727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A8CE5-AFFC-A655-72F3-DDB8E2262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47EE69C-5E36-4F04-0B7B-25C30B93FB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2DA8DF9-76E2-C3B2-870C-8508D74D5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B86AA19-C20B-57B4-744C-95F36557E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721E9B8-46B6-FC64-76B2-EB4A11FF1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80E540-D1A1-20EC-1A49-AE6788AB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551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6AAA05-B752-41EA-84BC-0581F8FF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057B3E1-6BBE-EEFE-DAB7-9C39084B6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DD247C-A63A-DAF4-DF3B-EC1D4C95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FF4747-5894-4B1C-E016-DD894588F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387186-0F31-E7AD-F129-91F655D7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8716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6A93CB3-E305-A2C7-A515-222854DAE9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15A7901-9946-297A-0994-D7242E3AD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1FDEEB-EA2E-BA6F-5941-CCFDFEF3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83F194C-3685-EDFD-16B0-32CAB124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736BA1-2A59-DA7B-03F2-D7BE0C74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093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10746C0-1CC1-EB8B-0F22-E353EF973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61C8E6-7B88-46D3-FECF-840AD1EE1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40EB66-115E-8E20-7395-5589313C2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9A42AA-A69A-737E-887B-225FB306C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FD878D-A127-1606-9C6D-0CE8682C9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44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46C7DE72-04D8-1453-0130-14A141A022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2002BB-75B7-0AB8-857C-D3495BCEC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1000" y="1930400"/>
            <a:ext cx="6926400" cy="2298700"/>
          </a:xfrm>
        </p:spPr>
        <p:txBody>
          <a:bodyPr>
            <a:noAutofit/>
          </a:bodyPr>
          <a:lstStyle/>
          <a:p>
            <a:pPr algn="l"/>
            <a:r>
              <a:rPr lang="it-IT" sz="4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SGD Parallelo per la Fattorizzazione della Matrice dei Rating nei Sistemi di Raccomandazione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B039D4A-BCDA-3FBF-9CC6-875AC7822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1000" y="1495425"/>
            <a:ext cx="6821048" cy="4349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C955DB95-DED4-C588-8F9B-672055689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pic>
        <p:nvPicPr>
          <p:cNvPr id="6" name="Immagine 5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835B0F0C-337E-B302-D138-9440FCF8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461010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56C4583E-AE97-4A3E-1F75-536463A054D9}"/>
              </a:ext>
            </a:extLst>
          </p:cNvPr>
          <p:cNvCxnSpPr>
            <a:cxnSpLocks/>
          </p:cNvCxnSpPr>
          <p:nvPr/>
        </p:nvCxnSpPr>
        <p:spPr>
          <a:xfrm>
            <a:off x="5086352" y="1930399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60834F9B-4183-C80B-0C0D-2CFD0D427154}"/>
              </a:ext>
            </a:extLst>
          </p:cNvPr>
          <p:cNvSpPr txBox="1">
            <a:spLocks/>
          </p:cNvSpPr>
          <p:nvPr/>
        </p:nvSpPr>
        <p:spPr>
          <a:xfrm>
            <a:off x="4981000" y="4682122"/>
            <a:ext cx="4315400" cy="861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Autore:</a:t>
            </a:r>
            <a:b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</a:b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 (0522502038)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682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7B5C-7293-798A-0521-27A7834A9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19786BA-3167-EFB4-138F-67A4056DDA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C53BA12-FB62-16A2-E515-C2BCC33C87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CBFBE54F-6E3C-EDDB-1702-6BBA7D542886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</p:spTree>
    <p:extLst>
      <p:ext uri="{BB962C8B-B14F-4D97-AF65-F5344CB8AC3E}">
        <p14:creationId xmlns:p14="http://schemas.microsoft.com/office/powerpoint/2010/main" val="2561011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9F3E-0B48-A9B8-2916-ABFE0398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C439B01-8F98-A959-EE47-BE71554E36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57FF5A3-ECA2-A511-2709-E8C05A0B7159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A2EF7D4-9006-E178-E036-4EDC956D2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7770272-ECC2-14ED-3119-2FECB823E874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BEA38A4-B975-9AE1-14E0-ECBCD2FCBE10}"/>
              </a:ext>
            </a:extLst>
          </p:cNvPr>
          <p:cNvSpPr txBox="1">
            <a:spLocks/>
          </p:cNvSpPr>
          <p:nvPr/>
        </p:nvSpPr>
        <p:spPr>
          <a:xfrm>
            <a:off x="6131800" y="2181466"/>
            <a:ext cx="5775600" cy="9850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</p:spTree>
    <p:extLst>
      <p:ext uri="{BB962C8B-B14F-4D97-AF65-F5344CB8AC3E}">
        <p14:creationId xmlns:p14="http://schemas.microsoft.com/office/powerpoint/2010/main" val="21610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2C9F8-B8C7-03B8-4E65-0ABF38AC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4B6AF44-A6A5-66D0-317F-253CD02C38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11372827-8FBD-0FE7-21CE-370A380877F0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BCBF52-8B10-5E45-3047-80E6AEF2E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F28B6492-41B9-58A1-EB9F-B975A9E2D393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40161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DD25FA1-3177-6DBD-EC7C-32D10423EA55}"/>
              </a:ext>
            </a:extLst>
          </p:cNvPr>
          <p:cNvSpPr txBox="1">
            <a:spLocks/>
          </p:cNvSpPr>
          <p:nvPr/>
        </p:nvSpPr>
        <p:spPr>
          <a:xfrm>
            <a:off x="6131800" y="2181465"/>
            <a:ext cx="5775600" cy="9536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E7D4D374-A34B-427E-C503-431F61C14171}"/>
              </a:ext>
            </a:extLst>
          </p:cNvPr>
          <p:cNvSpPr/>
          <p:nvPr/>
        </p:nvSpPr>
        <p:spPr>
          <a:xfrm>
            <a:off x="5847200" y="4260614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A242EAA-0D7E-D189-B81C-770063C8B824}"/>
              </a:ext>
            </a:extLst>
          </p:cNvPr>
          <p:cNvSpPr txBox="1">
            <a:spLocks/>
          </p:cNvSpPr>
          <p:nvPr/>
        </p:nvSpPr>
        <p:spPr>
          <a:xfrm>
            <a:off x="6131800" y="4448877"/>
            <a:ext cx="5775600" cy="1748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Predizione dei rating mancanti tramite i fattori latenti, che rappresentano caratteristiche non osservate direttamente.</a:t>
            </a:r>
          </a:p>
        </p:txBody>
      </p:sp>
    </p:spTree>
    <p:extLst>
      <p:ext uri="{BB962C8B-B14F-4D97-AF65-F5344CB8AC3E}">
        <p14:creationId xmlns:p14="http://schemas.microsoft.com/office/powerpoint/2010/main" val="189170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D6B9-008C-7178-B322-B96CC663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98FD0F2-5BB0-2B0D-B7FF-6E629EDFBB2A}"/>
              </a:ext>
            </a:extLst>
          </p:cNvPr>
          <p:cNvSpPr/>
          <p:nvPr/>
        </p:nvSpPr>
        <p:spPr>
          <a:xfrm>
            <a:off x="-14478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3D63DEE-3205-DFBE-1D25-E6235834F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32F9ABA-FCF0-82B9-5368-E216C23A1CC0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000" b="0" i="1" smtClean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6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AACC-9E1A-1F2C-1324-A149F6825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A4ABA6B-1BC7-DD41-EBCF-877BEADBA9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B9820F63-F5D2-1D80-7DDF-E289D9C8C7A4}"/>
              </a:ext>
            </a:extLst>
          </p:cNvPr>
          <p:cNvSpPr/>
          <p:nvPr/>
        </p:nvSpPr>
        <p:spPr>
          <a:xfrm>
            <a:off x="-14224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05E242A-B320-E393-A234-A0BC6DDB5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Modello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4EBCA083-1153-281C-BDFF-6E422873AC77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0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accPr>
                            <m:e>
                              <m:r>
                                <a:rPr lang="en-US" sz="40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i="1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64FB8F75-FEDA-8880-CF2B-48D58223AC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93A9E7FC-778C-9AD5-D8EA-1958F22BFCE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D69EA463-F6EC-258F-B03A-FFAF5E3D45C9}"/>
              </a:ext>
            </a:extLst>
          </p:cNvPr>
          <p:cNvSpPr/>
          <p:nvPr/>
        </p:nvSpPr>
        <p:spPr>
          <a:xfrm>
            <a:off x="6618514" y="1718599"/>
            <a:ext cx="5288887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BE33E6F-304A-5685-F588-2345E126CE47}"/>
              </a:ext>
            </a:extLst>
          </p:cNvPr>
          <p:cNvSpPr txBox="1">
            <a:spLocks/>
          </p:cNvSpPr>
          <p:nvPr/>
        </p:nvSpPr>
        <p:spPr>
          <a:xfrm>
            <a:off x="7059629" y="2181464"/>
            <a:ext cx="4493742" cy="9681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L’Errore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sul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rating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osservato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pari a:</a:t>
            </a:r>
            <a:endParaRPr lang="it-IT" sz="3200" dirty="0">
              <a:solidFill>
                <a:schemeClr val="bg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AF51B1A4-B3A0-202B-14DB-D6CBF2EFDFFC}"/>
              </a:ext>
            </a:extLst>
          </p:cNvPr>
          <p:cNvSpPr txBox="1">
            <a:spLocks/>
          </p:cNvSpPr>
          <p:nvPr/>
        </p:nvSpPr>
        <p:spPr>
          <a:xfrm>
            <a:off x="7059629" y="857170"/>
            <a:ext cx="3968086" cy="8614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Errore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5C43C4DB-E2D0-EFE4-3A3C-5ADD33927A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−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  <a:p>
                <a:pPr algn="l"/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D42E430A-FE23-0F84-8C2D-C5034CDF8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7ABE7BF1-5543-E703-38C0-078B1FCA95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valutazione dell’utente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sull’item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endParaRPr lang="it-IT" sz="32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D8C8868A-2DE1-55EA-19D0-A33CE4819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  <a:blipFill>
                <a:blip r:embed="rId7"/>
                <a:stretch>
                  <a:fillRect l="-3628" t="-8171" r="-493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424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4E15-0D8E-1E0C-01C0-DE830896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9B629BE-0975-92E2-01D1-DFA983931A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B406CE1-D499-A031-609E-D4F0B4631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05885F12-73EC-0D23-5532-09B2E8F58759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4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176A9-D26D-0A4A-A40C-ABC29F57E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CE4A29-D40E-DA8D-17F2-2E248953D3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A54B69E-686F-1F94-50C6-061F3DDDC365}"/>
              </a:ext>
            </a:extLst>
          </p:cNvPr>
          <p:cNvSpPr/>
          <p:nvPr/>
        </p:nvSpPr>
        <p:spPr>
          <a:xfrm>
            <a:off x="6888597" y="236928"/>
            <a:ext cx="11675173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B0B607-EA0A-F7E2-2057-5A980B757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9B5E9C0-A99A-934A-56A6-4AF7A76865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43F53D99-B986-7AF4-2903-1E94910547FD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FFDBCC5E-BE7E-9836-6BC3-27181D51E225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5775385E-219D-2B97-6CE7-FD16971C44AB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magine 17" descr="Immagine che contiene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7551810D-8C8A-528D-B350-49D02E71E2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7157" y="583238"/>
            <a:ext cx="4757364" cy="3970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C0E9C24-274C-26DB-6BDC-D6662CA1784C}"/>
                  </a:ext>
                </a:extLst>
              </p:cNvPr>
              <p:cNvSpPr txBox="1"/>
              <p:nvPr/>
            </p:nvSpPr>
            <p:spPr>
              <a:xfrm>
                <a:off x="7307157" y="4669245"/>
                <a:ext cx="4757364" cy="1184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𝑈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,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𝑉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ctrlP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𝑘</m:t>
                                  </m:r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∈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𝐾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𝑘𝑖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C0E9C24-274C-26DB-6BDC-D6662CA17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7157" y="4669245"/>
                <a:ext cx="4757364" cy="1184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9F8F-CF8D-560E-894F-63B402CC3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12D45FD-3A74-3B3E-612E-75599B730F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8E80DBE0-C752-7A43-B8CC-5DBAF793BC9D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59C15B2-E705-B391-8CEB-50933C82F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F521E1C0-7D12-99F0-90BD-21DB08BDC691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683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C9A5B-8F19-8B1C-0984-A707D11E1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512B84A-0BDF-C7FA-BB6D-F2F0785A22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034E8B31-B153-845B-DDF2-ED3DB4CBFAA1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FA15079-D144-8892-11A5-EC6AF016E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1D74EA1-947D-1FF2-C3F0-78B292F8FD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E48C723A-7BA6-25C8-A061-5C485EC6C3D5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E9DF37A6-966F-C90E-1002-42C8652E649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B22500D0-95B7-1395-77A0-3447B9153E6F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ottotitolo 2">
            <a:extLst>
              <a:ext uri="{FF2B5EF4-FFF2-40B4-BE49-F238E27FC236}">
                <a16:creationId xmlns:a16="http://schemas.microsoft.com/office/drawing/2014/main" id="{2CCD5391-E8D1-5076-5F45-1F506B012EDC}"/>
              </a:ext>
            </a:extLst>
          </p:cNvPr>
          <p:cNvSpPr txBox="1">
            <a:spLocks/>
          </p:cNvSpPr>
          <p:nvPr/>
        </p:nvSpPr>
        <p:spPr>
          <a:xfrm>
            <a:off x="462912" y="5430701"/>
            <a:ext cx="11213830" cy="1427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Nei dataset reali gli item popolari compaiono migliaia di volte, causando potenziali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conflitti continui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 </a:t>
            </a:r>
            <a:endParaRPr lang="it-IT" sz="3200" i="1" dirty="0">
              <a:solidFill>
                <a:schemeClr val="tx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2511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F6CFE-D05A-6C85-EE48-EA1D6B0E0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230460BF-50C8-8DE9-6748-47BBDFAFEB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972F4FB1-B425-D2E7-B385-4499ACDC4909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01D9EC6-8DFA-93B9-7DFC-07F44F67824C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857CC4C6-A89E-F93D-9E8F-59F9D9E67340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8EED4D9E-54C1-9FA4-D13A-9248DDC61B91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8B8113-D879-5686-6362-5528A3151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CPU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esto, etichetta, Blu elettrico, Rettangolo&#10;&#10;Il contenuto generato dall'IA potrebbe non essere corretto.">
            <a:extLst>
              <a:ext uri="{FF2B5EF4-FFF2-40B4-BE49-F238E27FC236}">
                <a16:creationId xmlns:a16="http://schemas.microsoft.com/office/drawing/2014/main" id="{2168CD33-49BB-4F1B-5F99-44E5E2E19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630" y="1120137"/>
            <a:ext cx="5887259" cy="461772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2480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2475-4ED4-8934-B478-475884C3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2A6E340-9A30-324E-1DFF-83F0D7B369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692ACCA-3B2E-EF59-0B26-A76D52BD34EF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8E6C00C-B92F-4CD9-0EBF-4E9CC53C0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29EC1AD-0AD9-A404-1518-DC0D502237C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E2F21F1-9D03-C045-9457-72BD2CC907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584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863D4-D7CB-5A4F-14F6-00B3A4D38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F9D44747-27D9-946E-7DF2-4509CB5AD4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E03C733A-C306-CB1F-6937-3AB73FF1D3CD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F0A84F5-5693-A5E8-C3EA-E28BF14CF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0541AD71-25CD-58DE-3DFB-1D6961B5A81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52683CBD-03A8-E46A-80E0-6BAB056E3C01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3D273D2-C08B-CAE3-B001-246485A3DC85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44C10B9E-D369-1ED6-47CC-84B9113E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060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1D15A-09A9-E9CC-1CE6-0AB36467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24B5675-35C3-2AF7-765A-A181CCD20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78183540-48D9-44F8-BD81-F8AFBF1C5B69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100253E-6D56-5618-A42A-CB575A528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DA341934-B914-83B2-AC15-4EEC2A9B2A1D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5E86ADA-E794-6017-AEEC-D29D06979138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37379173-285A-1B48-881D-F9A9055E4A8D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5789404-AFB5-EEFA-B042-32701F67EB7B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937AC02C-1B89-FD80-115E-605A94CEA15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54EE3E0-32FB-E48E-2A32-3AA81B677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20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1581-0199-DA90-B8A6-96973D8E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00CCBC1-2A93-C4D9-83E1-25A81C1070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D0260BF-5A2C-753A-105F-66F0891A46D6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60A7E77-19AF-9AA4-6FC7-D09F1ADD28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CF7CD69-BEF6-2A45-E4C7-FF4BEC4AEB0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86208AA-4561-1F1E-67DF-651EC2908162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B3B00B0-4A40-82ED-1C3E-DDE3584BA472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956D0F32-FE6F-5BC4-029A-F5AFD1B04F78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081EF56A-0AEF-C82A-61B0-9D15B948EF0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1" name="Immagine 10" descr="Immagine che contiene schermata, Carattere, Rettangolo&#10;&#10;Il contenuto generato dall'IA potrebbe non essere corretto.">
            <a:extLst>
              <a:ext uri="{FF2B5EF4-FFF2-40B4-BE49-F238E27FC236}">
                <a16:creationId xmlns:a16="http://schemas.microsoft.com/office/drawing/2014/main" id="{10B8A3F3-93CA-7E1D-3AF6-611A0A326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576" y="4343970"/>
            <a:ext cx="9894847" cy="2011267"/>
          </a:xfrm>
          <a:prstGeom prst="rect">
            <a:avLst/>
          </a:prstGeom>
        </p:spPr>
      </p:pic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AF5C73F-4FB2-F016-E225-74FDB3BCFC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2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75A4E-D3B5-1758-FE9A-2EE52888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9380631-C747-2485-6973-457B4257D5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7F6E57-4A51-70EC-1AE7-206B9D783B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96D4837-05A1-9D64-9E3F-F2A528EAC9FE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0F997B6-D251-332E-FF01-4CF0608EA0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821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0A90-236B-3741-2427-101343B37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C38D933-C92B-BFA9-07EF-95EF555404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62718F99-CD6E-D3B5-3221-EC016EA7FC9E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A21117-BD42-DD2E-34DC-94B50A757A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65A4C1C6-C895-505D-AE70-1424E4DD7D2C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E706A9FB-33BA-6926-F919-17CE3CDD1E0D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E15088C5-80B7-8DD6-BE74-8F32832F0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599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3651-D5C6-0061-32FF-8BF26D1F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20D4216-E0A9-1F6E-CBD9-F09CE7BAE5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F5D3F69-0268-5806-33F4-2A5D1A127E43}"/>
              </a:ext>
            </a:extLst>
          </p:cNvPr>
          <p:cNvSpPr/>
          <p:nvPr/>
        </p:nvSpPr>
        <p:spPr>
          <a:xfrm>
            <a:off x="4750357" y="3085708"/>
            <a:ext cx="7157043" cy="466687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4909D302-76E5-2050-91C2-7725D060C592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75E7AB0-B4AC-5902-56D6-59FD292CA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B7614A61-C57F-CB43-0D36-8A606B05C707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9557B3F5-6116-FC3E-DD7F-7E6CDE60892C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sp>
        <p:nvSpPr>
          <p:cNvPr id="15" name="Sottotitolo 2">
            <a:extLst>
              <a:ext uri="{FF2B5EF4-FFF2-40B4-BE49-F238E27FC236}">
                <a16:creationId xmlns:a16="http://schemas.microsoft.com/office/drawing/2014/main" id="{FDC6295D-8789-89AD-D7CE-4FED926002B0}"/>
              </a:ext>
            </a:extLst>
          </p:cNvPr>
          <p:cNvSpPr txBox="1">
            <a:spLocks/>
          </p:cNvSpPr>
          <p:nvPr/>
        </p:nvSpPr>
        <p:spPr>
          <a:xfrm>
            <a:off x="7243618" y="3429000"/>
            <a:ext cx="4706607" cy="2362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il dataset non è abbastanza sparso, oppure se alcuni item o utenti sono molto popolari, il rischio di conflitti 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overwriting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aumenta.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6781D16-8895-708B-C1D4-DA9D4FF1E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67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5A8A9-FF48-0DEA-D687-68777A8D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E504B853-9340-EBB4-1548-E2B4C05DF7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38F713A-9867-696F-BDD2-080613C6B17C}"/>
              </a:ext>
            </a:extLst>
          </p:cNvPr>
          <p:cNvSpPr/>
          <p:nvPr/>
        </p:nvSpPr>
        <p:spPr>
          <a:xfrm>
            <a:off x="284599" y="2604645"/>
            <a:ext cx="5498133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FB2126-1349-BAA5-94D4-CBD75C328E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B95FAED-02F3-74C6-5302-A8C39A46847B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F49417-83BE-6717-1CD8-6BE70E720D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BCFEE11C-4870-CEAB-92DF-FD33089C1971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776665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5DFD-801E-ACE9-0A7B-1BEEAC23D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17575E-E8D2-3069-4DCA-A7B8675985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6DAA125-12A5-C797-1942-245DCCB227B7}"/>
              </a:ext>
            </a:extLst>
          </p:cNvPr>
          <p:cNvCxnSpPr>
            <a:cxnSpLocks/>
          </p:cNvCxnSpPr>
          <p:nvPr/>
        </p:nvCxnSpPr>
        <p:spPr>
          <a:xfrm>
            <a:off x="4838700" y="3635651"/>
            <a:ext cx="1570739" cy="37373"/>
          </a:xfrm>
          <a:prstGeom prst="straightConnector1">
            <a:avLst/>
          </a:prstGeom>
          <a:ln>
            <a:solidFill>
              <a:srgbClr val="FC993E"/>
            </a:solidFill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84C7162-D03A-A1C6-33D2-2EAC6CC804AD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68BFAA-7B3C-9721-BC8B-9C4CD18D42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B10B0DC-F79E-F8A4-5823-8A2E036219B8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312726C1-1F08-A00B-57AF-59A423BF652C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36EE814-6C3E-A357-887B-2C7F7A179C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21FBE10-AF90-657A-466C-839D76530F26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95FFE278-5DD5-6C1D-83EC-6FBE03E23C6A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240125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E3C8A-778E-F4FE-F410-672D14CD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64803FB-38B9-FA69-352A-9100181794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8E0141B-556E-3F95-90DD-111E1B78B7E6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F171DDF-D9C5-045C-27ED-9C311662A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67A3AC1-4F48-4D93-F054-7055B43B3AB7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EFDF68DD-59B3-E651-9990-FCEB91E9A0C8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0DB6DCD1-B1CB-FA6B-2159-A45CD835B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4C17A32-A540-C033-6CBE-AD24A365552D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0530A424-10EF-3907-12BC-1FE477CD0D99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  <p:sp>
        <p:nvSpPr>
          <p:cNvPr id="24" name="Sottotitolo 2">
            <a:extLst>
              <a:ext uri="{FF2B5EF4-FFF2-40B4-BE49-F238E27FC236}">
                <a16:creationId xmlns:a16="http://schemas.microsoft.com/office/drawing/2014/main" id="{785BD2E6-680F-7BFF-784E-E57AD49828C6}"/>
              </a:ext>
            </a:extLst>
          </p:cNvPr>
          <p:cNvSpPr txBox="1">
            <a:spLocks/>
          </p:cNvSpPr>
          <p:nvPr/>
        </p:nvSpPr>
        <p:spPr>
          <a:xfrm>
            <a:off x="284600" y="4897077"/>
            <a:ext cx="11791286" cy="15693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le sincronizzazioni e consente una scalabilità molto alta. </a:t>
            </a:r>
          </a:p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Mantiene una buona stabilità e converge efficacemente in molti problemi di ottimizzazione nonostante la presenza di ritardi negli aggiornamenti.</a:t>
            </a:r>
          </a:p>
        </p:txBody>
      </p:sp>
    </p:spTree>
    <p:extLst>
      <p:ext uri="{BB962C8B-B14F-4D97-AF65-F5344CB8AC3E}">
        <p14:creationId xmlns:p14="http://schemas.microsoft.com/office/powerpoint/2010/main" val="2934557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FDEFA-9129-FF40-4B3F-DF047C68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99B24CE-4332-FC39-DA99-A5C5C0A0DD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7C32B2A9-2D81-9697-9E5B-74A00BD664D0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91CC4A29-0CA7-D24B-4B7E-06E2D4180455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389F2F01-00DB-09F2-D50F-3B40648A4F23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48F39868-2DB9-F062-0ED6-2C8A8185CCFC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53503C-6735-77C9-9AD4-F12ECF480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ifosi, Elettrodomestico, argento&#10;&#10;Il contenuto generato dall'IA potrebbe non essere corretto.">
            <a:extLst>
              <a:ext uri="{FF2B5EF4-FFF2-40B4-BE49-F238E27FC236}">
                <a16:creationId xmlns:a16="http://schemas.microsoft.com/office/drawing/2014/main" id="{095B1DA8-8071-241A-1C58-8F75B77992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097" y="953188"/>
            <a:ext cx="6065331" cy="469155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037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C1548-1A8C-E717-76BC-E0503F2B9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AE44A2B-BED4-F51A-5BEB-4D329AB054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BF33F4-9B61-5754-D493-2A7288D7A1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3564979-594A-61E7-67F5-840EFFD91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764E368-8707-0E55-6D48-ABB05D3EF547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FD1F069F-5EF8-D3D5-635B-293DDB290FF1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</p:spTree>
    <p:extLst>
      <p:ext uri="{BB962C8B-B14F-4D97-AF65-F5344CB8AC3E}">
        <p14:creationId xmlns:p14="http://schemas.microsoft.com/office/powerpoint/2010/main" val="373039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BDBEA-704A-D650-5248-ABB26693D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F3AA148-611E-EACB-4A66-14B362F495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850E8A1-B75F-AA74-E977-BE9C70006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F05B367-1F49-FDFE-4801-E32BAA03ED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8857893-7DF3-8424-CBEB-DD9F13F5F76E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145116FE-D0FA-7CAC-FEBB-973D35BE0148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CA1626D1-E85B-E46B-BCC6-4DE0BB44BFC6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E94EA499-052D-FD31-5644-3574FFE1BF31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</p:spTree>
    <p:extLst>
      <p:ext uri="{BB962C8B-B14F-4D97-AF65-F5344CB8AC3E}">
        <p14:creationId xmlns:p14="http://schemas.microsoft.com/office/powerpoint/2010/main" val="948362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55D0-BF82-C234-B5B5-D18FB83E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758AC45E-FCB0-D4FA-91E9-65D06A1A93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03DEEA0-C43E-1246-E9EF-F8C47ABA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2720E2C-BED6-D102-C24A-7B7AAEB41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32D5834-405F-4EB7-1359-A57E19C04E7D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79F23366-0936-9889-DF95-1F10BFA1857A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DD63D6A4-0EBD-BE3B-6AFE-AA866B9DFEB9}"/>
              </a:ext>
            </a:extLst>
          </p:cNvPr>
          <p:cNvSpPr/>
          <p:nvPr/>
        </p:nvSpPr>
        <p:spPr>
          <a:xfrm>
            <a:off x="8160820" y="1887586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505FB2C2-B0B2-4A0C-82A7-8DABB9FA2193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5D43D52F-524F-CDE7-C1E8-3AD6F649A38A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  <p:sp>
        <p:nvSpPr>
          <p:cNvPr id="10" name="Sottotitolo 2">
            <a:extLst>
              <a:ext uri="{FF2B5EF4-FFF2-40B4-BE49-F238E27FC236}">
                <a16:creationId xmlns:a16="http://schemas.microsoft.com/office/drawing/2014/main" id="{9B52A814-D831-E4D7-CB9D-26FE2F576245}"/>
              </a:ext>
            </a:extLst>
          </p:cNvPr>
          <p:cNvSpPr txBox="1">
            <a:spLocks/>
          </p:cNvSpPr>
          <p:nvPr/>
        </p:nvSpPr>
        <p:spPr>
          <a:xfrm>
            <a:off x="8550781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Alto costo delle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243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EDB8D-BB62-F903-F486-F9818FE6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0154AE-6955-5416-F5F9-2590665EDD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589F0-CF1E-2936-1A0E-16473E0FD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A53F3D5-2D2F-7A1F-63E1-FA5156CEDF18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EDB8292-0DD1-87EB-64A8-CFB9C371EC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86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2C3C-8424-AB64-B1AB-0CBFCDB9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A578CDC-D619-5BF2-06D8-72885CC0ED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283C0F2-616D-5435-BD22-57BF6A508941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A1E60F2-E97E-4256-6380-65ACF1F37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E2E2261-3CC3-F634-6AC3-E19DB2FCAED4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espliciti.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FE671875-46C6-76E3-3975-8A8306011D7D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8227AE4-5FCE-A94B-11D4-8CAEE3982F33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7F429FD-44B9-286E-7D67-0C43E1ED56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5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944E-A63A-E811-07B7-A1A9AA243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A5F7AD-D1EC-267A-B609-6E4AE87725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CE0683C-A4F5-F9E2-969D-F5B2D144BF37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6DB56EA-1F0F-2A3D-7259-78503834BD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4DEB606-6D92-D1B1-1AFB-95DDB1AD0A91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espliciti.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35FDFC1-EFA0-ED9C-515D-4BA27D789E20}"/>
              </a:ext>
            </a:extLst>
          </p:cNvPr>
          <p:cNvSpPr/>
          <p:nvPr/>
        </p:nvSpPr>
        <p:spPr>
          <a:xfrm>
            <a:off x="6409439" y="3411188"/>
            <a:ext cx="5497961" cy="434139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2B1399AA-8DB5-9C21-9626-F05E963F6B6E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2560B27-96C2-84C1-6786-5FBC65C7C15E}"/>
              </a:ext>
            </a:extLst>
          </p:cNvPr>
          <p:cNvSpPr txBox="1">
            <a:spLocks/>
          </p:cNvSpPr>
          <p:nvPr/>
        </p:nvSpPr>
        <p:spPr>
          <a:xfrm>
            <a:off x="6689558" y="2861897"/>
            <a:ext cx="2453509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Limiti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74786E6F-AD94-C1C7-22E0-9185A65E227D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CC4FBFF-266E-C9BC-6B4C-20E3BC048F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930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3543-D5A0-D8FE-0D67-BCE14833E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FA7A9FF-9251-D573-EEBF-F4016ED76E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7B9BCF-F34A-BC02-8B90-3F6DA1A1E5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B976E9C0-46FF-269B-1450-102486FB0413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187E3A6F-1009-C222-FB4D-D09D3B560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7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DEBFA-992B-5B5A-9004-5DE87167C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8102D1E-1AB7-A9A3-BA9D-FD1983A1C9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8DA7B24-E2EF-1564-32D9-58A4F44177FC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5389E3-CCA3-9A2C-E0A1-28EECC40D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29553F7-893D-F77B-4079-873CC8342E8F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A47C5FEB-F16C-FF30-8448-6DA647DB450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761092F2-B9C4-4D12-2EBA-C4B68BAEA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56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BF5E-9096-6FE5-3184-3671BC6F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3EE37C-2664-5A27-5E91-25A47AD400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C69478A-6769-EB75-CB45-7E30293CBD09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C51C40-892A-BE04-30C0-28F7A8AD1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1C92DE6-480D-EEC0-ABCD-3290BB16A5D0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9512267-BC7F-E5E4-1433-254173971D5C}"/>
              </a:ext>
            </a:extLst>
          </p:cNvPr>
          <p:cNvSpPr/>
          <p:nvPr/>
        </p:nvSpPr>
        <p:spPr>
          <a:xfrm>
            <a:off x="6538436" y="2869203"/>
            <a:ext cx="6516341" cy="3257895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67C9D220-EB83-CA9D-3FAC-591A081A879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392400E-C7EB-BA95-CA38-87CCA43247C9}"/>
              </a:ext>
            </a:extLst>
          </p:cNvPr>
          <p:cNvSpPr txBox="1">
            <a:spLocks/>
          </p:cNvSpPr>
          <p:nvPr/>
        </p:nvSpPr>
        <p:spPr>
          <a:xfrm>
            <a:off x="7107585" y="3586586"/>
            <a:ext cx="4907018" cy="1823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Migliora la coalescenza degli accessi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5931468-1D59-BEC3-37D1-17109E1E9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352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68DC2-4747-659D-9D20-587D9469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0A5491A-29A4-1798-94E5-AAE7E8B548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1DD914-1770-9676-65A9-E4A9DFC55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B718851-4A31-5778-0A47-3930BFD7E071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0C0536C-55B9-A51F-FAB1-CCCA025F9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70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545A7-8C73-2CD6-8B3C-53C52FA2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7F99CB-EC15-477F-07D0-A3FD9FFD4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3C5308-E675-E393-DD74-7E4E34B5A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273E00CA-A5F6-9D00-3548-C57290D921E0}"/>
              </a:ext>
            </a:extLst>
          </p:cNvPr>
          <p:cNvSpPr/>
          <p:nvPr/>
        </p:nvSpPr>
        <p:spPr>
          <a:xfrm>
            <a:off x="6538435" y="2069432"/>
            <a:ext cx="7049227" cy="587141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71AFF162-144F-CDB8-9F2D-830705AEC499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233C1D7C-0F75-38F4-A4AB-45A6137BE814}"/>
              </a:ext>
            </a:extLst>
          </p:cNvPr>
          <p:cNvSpPr txBox="1">
            <a:spLocks/>
          </p:cNvSpPr>
          <p:nvPr/>
        </p:nvSpPr>
        <p:spPr>
          <a:xfrm>
            <a:off x="7107585" y="2414338"/>
            <a:ext cx="4907018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Elimina i conflitti all’interno dello stesso blocco. 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drasticamente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l’uso di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B0196E98-2EF7-AEBF-BA4E-FDD148191B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57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2410-5BE3-5194-E36B-8F20EF06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1EF1F7A-5AD1-1E2D-EB5D-51C5F4FFE3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12DB835-E8E7-6D2A-BEE4-0174C8002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643C9554-9452-FCE3-0D9D-1B73D024FD14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305D718F-6930-781D-0299-8616B8CB85B6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73E46F3-5996-470B-76A1-1CCB88C24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443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1D62B-03C5-2C14-6A21-0A5FB785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F39161D-4EE6-A831-51D2-052BF0A940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6A575B-1422-C1D3-B403-54582D222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D7C5D215-7EE6-3FC2-63A5-9F6E09F3816F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408A0BB2-C690-9397-E25A-872CC0809163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D9F734EC-9BF9-31C0-4116-6F4741AB8FFD}"/>
              </a:ext>
            </a:extLst>
          </p:cNvPr>
          <p:cNvSpPr txBox="1">
            <a:spLocks/>
          </p:cNvSpPr>
          <p:nvPr/>
        </p:nvSpPr>
        <p:spPr>
          <a:xfrm>
            <a:off x="6432884" y="2824017"/>
            <a:ext cx="5629845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Riduzione degli accessi alla memoria globale.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Miglioramento della coalescenza.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683E9B-F028-E6CB-C604-449B4F6FF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94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9A71-5EA3-00B7-E11E-24DBB9A0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B123A2E-BEAF-5536-48B7-E0E8336682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pic>
        <p:nvPicPr>
          <p:cNvPr id="3" name="Immagine 2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EE62D464-9707-4099-7545-356E2AD62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503629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81CD1D09-0D3B-816A-ABAC-489DDC38EDFF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it-IT" sz="44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095BCCE-BBDC-BAF5-1007-0FF131B15A27}"/>
              </a:ext>
            </a:extLst>
          </p:cNvPr>
          <p:cNvSpPr txBox="1">
            <a:spLocks/>
          </p:cNvSpPr>
          <p:nvPr/>
        </p:nvSpPr>
        <p:spPr>
          <a:xfrm>
            <a:off x="5213684" y="807720"/>
            <a:ext cx="6578195" cy="57053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DSGD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e </a:t>
            </a:r>
            <a:r>
              <a:rPr lang="it-IT" sz="2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!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possono ottenere prestazioni significative, nel caso siano soddisfatte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alcune condizioni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l’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conferma che la convergenza può essere mantenuta anche in presenza di ritardi e parametri non aggiornati in modo sincrono.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GPU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è possibile adottare una combinazione di tecniche 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mitigare i colli di bottiglia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legati alla coalescenza degli accessi, ai conflitti e alle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D7F2A78-B14B-2C09-AB49-BF0A58E1342A}"/>
              </a:ext>
            </a:extLst>
          </p:cNvPr>
          <p:cNvSpPr/>
          <p:nvPr/>
        </p:nvSpPr>
        <p:spPr>
          <a:xfrm>
            <a:off x="-1426966" y="807720"/>
            <a:ext cx="6075165" cy="120396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1BC6EE-827D-EA55-DE6A-544918784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122" y="980992"/>
            <a:ext cx="4248077" cy="861428"/>
          </a:xfrm>
        </p:spPr>
        <p:txBody>
          <a:bodyPr>
            <a:noAutofit/>
          </a:bodyPr>
          <a:lstStyle/>
          <a:p>
            <a:pPr algn="l"/>
            <a:r>
              <a:rPr lang="it-IT" sz="5400" dirty="0">
                <a:solidFill>
                  <a:schemeClr val="bg1"/>
                </a:solidFill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119326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F9842-1181-34C0-84E5-B6A3058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CD6E05B-8FB2-C925-472A-5D6AE1DC43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25EDB22-8DAB-1556-59DD-48F737EDCB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Bibliografia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B71070C7-6C89-BCD9-8D94-9AE4E5826A12}"/>
              </a:ext>
            </a:extLst>
          </p:cNvPr>
          <p:cNvSpPr txBox="1">
            <a:spLocks/>
          </p:cNvSpPr>
          <p:nvPr/>
        </p:nvSpPr>
        <p:spPr>
          <a:xfrm>
            <a:off x="284600" y="2040753"/>
            <a:ext cx="11602600" cy="45324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Christopher 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Aberger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. «Recommender: An analysis of collaborative filtering techniques». In: Personal and Ubiquitous Computing Journal 5 (2014).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David C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Anastasiu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«Big data and recommender systems». In: (2016).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Rainer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Gemulla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«Large-scale matrix factorization with distributed stochastic gradient descent». In: Proceedings of the 17th ACM SIGKDD international conference on Knowledge discovery and data mining. 2011.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Benjamin Recht et al. «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!: A lock-free approach to parallelizing stochastic gradient descent». In: Advances in neural information processing systems 24 (2011).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Peng Xie, Wang Tan et al. «Parallelized Stochastic Gradient Descent for Matrix Factorization on GPUs». In: Proceedings of the 2017 IEEE International Conference on Big Data. 2017. </a:t>
            </a:r>
            <a:endParaRPr lang="it-IT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F5F6B44-72AD-F1E5-9755-459B3BBC5318}"/>
              </a:ext>
            </a:extLst>
          </p:cNvPr>
          <p:cNvSpPr/>
          <p:nvPr/>
        </p:nvSpPr>
        <p:spPr>
          <a:xfrm>
            <a:off x="10331116" y="-1097461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08C2711-892A-E388-2C0E-E12CD2E01339}"/>
              </a:ext>
            </a:extLst>
          </p:cNvPr>
          <p:cNvSpPr/>
          <p:nvPr/>
        </p:nvSpPr>
        <p:spPr>
          <a:xfrm>
            <a:off x="9481759" y="117017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2E18B940-12A0-E940-BDB4-57DBFCDCCF2E}"/>
              </a:ext>
            </a:extLst>
          </p:cNvPr>
          <p:cNvSpPr/>
          <p:nvPr/>
        </p:nvSpPr>
        <p:spPr>
          <a:xfrm>
            <a:off x="8632401" y="-304800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5902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A3A7-7B8C-4ABF-2063-36D2835DD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97D053-FA62-83AE-694C-AF47EEA315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88443-6AD8-D1DA-5804-C321A021B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2800" y="2218322"/>
            <a:ext cx="6926400" cy="2298700"/>
          </a:xfrm>
        </p:spPr>
        <p:txBody>
          <a:bodyPr>
            <a:noAutofit/>
          </a:bodyPr>
          <a:lstStyle/>
          <a:p>
            <a:r>
              <a:rPr lang="it-IT" sz="8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Grazie per l’attenzione!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27189D-998A-E902-796D-67B2D4333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23531" y="1821611"/>
            <a:ext cx="6821048" cy="434974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36DE5F8C-E6F7-EC0B-070F-68AB7EA11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947EA1E6-2BF9-0879-11F4-F8E7CE0F43CD}"/>
              </a:ext>
            </a:extLst>
          </p:cNvPr>
          <p:cNvCxnSpPr>
            <a:cxnSpLocks/>
          </p:cNvCxnSpPr>
          <p:nvPr/>
        </p:nvCxnSpPr>
        <p:spPr>
          <a:xfrm>
            <a:off x="4654386" y="2176375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AA25AA48-D5D8-E947-5A17-606FE3AD3B16}"/>
              </a:ext>
            </a:extLst>
          </p:cNvPr>
          <p:cNvSpPr txBox="1">
            <a:spLocks/>
          </p:cNvSpPr>
          <p:nvPr/>
        </p:nvSpPr>
        <p:spPr>
          <a:xfrm>
            <a:off x="4800480" y="4581943"/>
            <a:ext cx="3267150" cy="43531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</a:t>
            </a:r>
            <a:endParaRPr lang="it-IT" sz="2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F0CB2C29-819E-B060-35FF-7B914E331CC1}"/>
              </a:ext>
            </a:extLst>
          </p:cNvPr>
          <p:cNvSpPr/>
          <p:nvPr/>
        </p:nvSpPr>
        <p:spPr>
          <a:xfrm>
            <a:off x="2231371" y="5815894"/>
            <a:ext cx="934083" cy="89139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1AB671AD-883C-2D86-98EE-BA8BF381A208}"/>
              </a:ext>
            </a:extLst>
          </p:cNvPr>
          <p:cNvSpPr/>
          <p:nvPr/>
        </p:nvSpPr>
        <p:spPr>
          <a:xfrm>
            <a:off x="1101851" y="4859796"/>
            <a:ext cx="934083" cy="1349459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C69946FD-B026-0BE0-A44A-577E80D4E04B}"/>
              </a:ext>
            </a:extLst>
          </p:cNvPr>
          <p:cNvSpPr/>
          <p:nvPr/>
        </p:nvSpPr>
        <p:spPr>
          <a:xfrm>
            <a:off x="-818147" y="5087269"/>
            <a:ext cx="1752232" cy="224397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7B93D2EC-04C3-68BF-90B4-CFDDC95F159C}"/>
              </a:ext>
            </a:extLst>
          </p:cNvPr>
          <p:cNvSpPr/>
          <p:nvPr/>
        </p:nvSpPr>
        <p:spPr>
          <a:xfrm>
            <a:off x="11221117" y="4601416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4945C656-7479-8B07-2348-3178D5F003E1}"/>
              </a:ext>
            </a:extLst>
          </p:cNvPr>
          <p:cNvSpPr/>
          <p:nvPr/>
        </p:nvSpPr>
        <p:spPr>
          <a:xfrm>
            <a:off x="10371760" y="5815894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DAC4D041-C919-69D8-5E3A-0C22A6070C0C}"/>
              </a:ext>
            </a:extLst>
          </p:cNvPr>
          <p:cNvSpPr/>
          <p:nvPr/>
        </p:nvSpPr>
        <p:spPr>
          <a:xfrm>
            <a:off x="9522402" y="5394077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26927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3646</Words>
  <Application>Microsoft Office PowerPoint</Application>
  <PresentationFormat>Widescreen</PresentationFormat>
  <Paragraphs>225</Paragraphs>
  <Slides>38</Slides>
  <Notes>38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Posterama</vt:lpstr>
      <vt:lpstr>Questrial</vt:lpstr>
      <vt:lpstr>Tema di Office</vt:lpstr>
      <vt:lpstr>SGD Parallelo per la Fattorizzazione della Matrice dei Rating nei Sistemi di Raccomandazione</vt:lpstr>
      <vt:lpstr>Introduzione</vt:lpstr>
      <vt:lpstr>Introduzione</vt:lpstr>
      <vt:lpstr>Introduzione</vt:lpstr>
      <vt:lpstr>Modello</vt:lpstr>
      <vt:lpstr>Modello</vt:lpstr>
      <vt:lpstr>Stochastic Gradient Descent</vt:lpstr>
      <vt:lpstr>Stochastic Gradient Descent</vt:lpstr>
      <vt:lpstr>Difficoltà nella parallelizzazione dello SGD</vt:lpstr>
      <vt:lpstr>Difficoltà nella parallelizzazione dello SGD</vt:lpstr>
      <vt:lpstr>Tecniche di Parallelizzazione per CPU</vt:lpstr>
      <vt:lpstr>Distributed SGD</vt:lpstr>
      <vt:lpstr>Distributed SGD</vt:lpstr>
      <vt:lpstr>Distributed SGD</vt:lpstr>
      <vt:lpstr>Distributed SGD</vt:lpstr>
      <vt:lpstr>Hogwild!</vt:lpstr>
      <vt:lpstr>Hogwild!</vt:lpstr>
      <vt:lpstr>Hogwild!</vt:lpstr>
      <vt:lpstr>Asynchronous SGD</vt:lpstr>
      <vt:lpstr>Asynchronous SGD</vt:lpstr>
      <vt:lpstr>Asynchronous SGD</vt:lpstr>
      <vt:lpstr>Tecniche di Parallelizzazione per GPU</vt:lpstr>
      <vt:lpstr>Problemi</vt:lpstr>
      <vt:lpstr>Problemi</vt:lpstr>
      <vt:lpstr>Problemi</vt:lpstr>
      <vt:lpstr>S1: Utilizzare Atomic Add</vt:lpstr>
      <vt:lpstr>S1: Utilizzare Atomic Add</vt:lpstr>
      <vt:lpstr>S1: Utilizzare Atomic Add</vt:lpstr>
      <vt:lpstr>S2: Mini-batch SGD</vt:lpstr>
      <vt:lpstr>S2: Mini-batch SGD</vt:lpstr>
      <vt:lpstr>S2: Mini-batch SGD</vt:lpstr>
      <vt:lpstr>S3: Partitioning di user e item</vt:lpstr>
      <vt:lpstr>S3: Partitioning di user e item</vt:lpstr>
      <vt:lpstr>S4: Caching in Shared Memory</vt:lpstr>
      <vt:lpstr>S4: Caching in Shared Memory</vt:lpstr>
      <vt:lpstr>Conclusioni</vt:lpstr>
      <vt:lpstr>Bibliografia</vt:lpstr>
      <vt:lpstr>Grazie per l’attenzione!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D'ASSISI</dc:creator>
  <cp:lastModifiedBy>Simone D'Assisi</cp:lastModifiedBy>
  <cp:revision>17</cp:revision>
  <dcterms:created xsi:type="dcterms:W3CDTF">2025-12-08T15:02:09Z</dcterms:created>
  <dcterms:modified xsi:type="dcterms:W3CDTF">2025-12-12T10:08:30Z</dcterms:modified>
</cp:coreProperties>
</file>